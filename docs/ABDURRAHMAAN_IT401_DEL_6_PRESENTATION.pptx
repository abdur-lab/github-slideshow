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2" r:id="rId23"/>
    <p:sldId id="273" r:id="rId24"/>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  <Relationship Id="rId23" Type="http://schemas.openxmlformats.org/officeDocument/2006/relationships/slide" Target="slides/slide17.xml"/>
  <Relationship Id="rId24" Type="http://schemas.openxmlformats.org/officeDocument/2006/relationships/slide" Target="slides/slide1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Sheet1!$A$2:$A$9</c:f>
              <c:multiLvlStrCache>
                <c:ptCount val="8"/>
                <c:lvl>
                  <c:pt idx="0">
                    <c:v>Models</c:v>
                  </c:pt>
                  <c:pt idx="1">
                    <c:v>Auth</c:v>
                  </c:pt>
                  <c:pt idx="2">
                    <c:v>Routes</c:v>
                  </c:pt>
                  <c:pt idx="3">
                    <c:v>Scheduler</c:v>
                  </c:pt>
                  <c:pt idx="4">
                    <c:v>Validation</c:v>
                  </c:pt>
                  <c:pt idx="5">
                    <c:v>Deliv. 5</c:v>
                  </c:pt>
                  <c:pt idx="6">
                    <c:v>Billing</c:v>
                  </c:pt>
                  <c:pt idx="7">
                    <c:v>Map &amp; i18n</c:v>
                  </c:pt>
                </c:lvl>
              </c:multiLvlStrCache>
            </c:multiLvlStrRef>
          </c:cat>
          <c:val>
            <c:numRef>
              <c:f>Sheet1!$B$2:$B$9</c:f>
              <c:numCache>
                <c:formatCode>General</c:formatCode>
                <c:ptCount val="8"/>
                <c:pt idx="0">
                  <c:v>18</c:v>
                </c:pt>
                <c:pt idx="1">
                  <c:v>19</c:v>
                </c:pt>
                <c:pt idx="2">
                  <c:v>17</c:v>
                </c:pt>
                <c:pt idx="3">
                  <c:v>9</c:v>
                </c:pt>
                <c:pt idx="4">
                  <c:v>36</c:v>
                </c:pt>
                <c:pt idx="5">
                  <c:v>31</c:v>
                </c:pt>
                <c:pt idx="6">
                  <c:v>79</c:v>
                </c:pt>
                <c:pt idx="7">
                  <c:v>17</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and made it more usable for Harare landlords and tenants, including an English and Shona language switch — I'll cover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38 Jinja2 templates behind a role-aware top navigation bar, with an English and Shona switch. The application layer is 10 Flask Blueprints — one each for auth, properties, tenants, rent, maintenance, admin, reports, the tenant portal, and the REST API. Below that, the domain and service layer holds security.py for RBAC and IDOR protection, the five scheduler jobs, a small translation module for English and Shona,, and a services package for PDF generation, Excel export, notifications, and payments. Data is 18 SQLAlchemy models — the 13 from the design plus 5 for the billing engine —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Seventy-nine new tests back all of it, and they're included in the testing numbers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226 automated tests, zero failures, 82 percent statement coverage across the backend, and all 25 use cases from the SRS covered by at least one test. The chart breaks that down by module — 36 validation tests, 31 for Deliverable 5's feature gaps, 79 for the billing engine alone, the single largest block in the project, and 17 for the property map and the English and Shona switch.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 and to finish, the Harare portfolio on the map and the whole interface switching to Shona and back.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100% feature completion, an extended billing engine, and now a localised interface for Harare — and every number on this slide was produced by actually running the code, not estimated. 25 of 25 use cases, each with a route and a covering test. The 13-table design implemented exactly as specified. 226 tests, zero failures, 82 percent coverage. Eight feature gaps closed in Deliverable 5, eight more billing capabilities added since, and an English and Shona interface.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 And last, finishing the Shona translation for the remaining screens and messages, and having a native speaker review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round of work was about the people who would actually use RentalPro — landlords, managers and tenants in Harare. Every property can now carry map coordinates, set by clicking a map, and there's a portfolio map showing all of them. The interface moved from a sidebar to a horizontal top bar, and the login page and each section of the app now show photographs of Harare. The biggest change is a language switch: EN or SN, English or Shona, from the top bar or the login page, and the choice sticks when you log in and out. My SRS originally described Arabic and English; because the users are in Harare, Shona was the right second language, and the mechanism works for any language. Only interface text is translated — names and places stay exactly as entered, and a test fails if that ever changes. Tenants now see their unit as 'Avondale Heights, Unit 101' rather than an internal code, a blank-page bug for signed-in users is fixed, and the demo data is now a realistic Harare portfolio: five properties, sixteen units and nine tenants. Twenty-two new tests cover this 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On the left is the login page: a full-screen photograph of the Harare skyline, a translucent sign-in card, and the EN, SN switch in the corner. On the right is a tenant's dashboard after switching to Shona — 'Mauya', welcome, her unit shown as Avondale Heights, Yuniti 101, her balance, and the button to pay rent. The property name stays in English, because it's a name, not interface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0" Type="http://schemas.openxmlformats.org/officeDocument/2006/relationships/notesSlide" Target="../notesSlides/notesSlide18.xml"/><Relationship Id="rId91" Type="http://schemas.openxmlformats.org/officeDocument/2006/relationships/image" Target="../media/newlook_login.png"/><Relationship Id="rId92" Type="http://schemas.openxmlformats.org/officeDocument/2006/relationships/image" Target="../media/newlook_shona.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 + English/Shona</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38 Jinja2 templates, role-aware top navigation, English/Shona switch</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i18n.py (English/Shona),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18 SQLAlchemy models (13 designed + 5 billing),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79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226</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82%</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then the Harare map and the EN | SN switch</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100% feature completion, and a localised Harare interface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226 automated tests, 0 failures, 82%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feature gaps closed in Deliverable 5, a billing engine, and an English/Shona interface</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16 / 18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00200"/>
            <a:ext cx="11064240" cy="850392"/>
          </a:xfrm>
          <a:prstGeom prst="roundRect">
            <a:avLst>
              <a:gd name="adj" fmla="val 7619"/>
            </a:avLst>
          </a:prstGeom>
          <a:solidFill>
            <a:srgbClr val="F1F5F9"/>
          </a:solidFill>
          <a:ln/>
        </p:spPr>
      </p:sp>
      <p:sp>
        <p:nvSpPr>
          <p:cNvPr id="5" name="Shape 3"/>
          <p:cNvSpPr/>
          <p:nvPr/>
        </p:nvSpPr>
        <p:spPr>
          <a:xfrm>
            <a:off x="777240" y="1773936"/>
            <a:ext cx="502920" cy="502920"/>
          </a:xfrm>
          <a:prstGeom prst="ellipse">
            <a:avLst/>
          </a:prstGeom>
          <a:solidFill>
            <a:srgbClr val="2563EB"/>
          </a:solidFill>
          <a:ln/>
        </p:spPr>
      </p:sp>
      <p:sp>
        <p:nvSpPr>
          <p:cNvPr id="6" name="Text 4"/>
          <p:cNvSpPr txBox="1"/>
          <p:nvPr/>
        </p:nvSpPr>
        <p:spPr>
          <a:xfrm>
            <a:off x="777240" y="177393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69164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69164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560320"/>
            <a:ext cx="11064240" cy="850392"/>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2734056"/>
            <a:ext cx="502920" cy="502920"/>
          </a:xfrm>
          <a:prstGeom prst="ellipse">
            <a:avLst/>
          </a:prstGeom>
          <a:solidFill>
            <a:srgbClr val="2563EB"/>
          </a:solidFill>
          <a:ln/>
        </p:spPr>
      </p:sp>
      <p:sp>
        <p:nvSpPr>
          <p:cNvPr id="11" name="Text 9"/>
          <p:cNvSpPr txBox="1"/>
          <p:nvPr/>
        </p:nvSpPr>
        <p:spPr>
          <a:xfrm>
            <a:off x="777240" y="273405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65176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65176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520440"/>
            <a:ext cx="11064240" cy="850392"/>
          </a:xfrm>
          <a:prstGeom prst="roundRect">
            <a:avLst>
              <a:gd name="adj" fmla="val 7619"/>
            </a:avLst>
          </a:prstGeom>
          <a:solidFill>
            <a:srgbClr val="F1F5F9"/>
          </a:solidFill>
          <a:ln/>
        </p:spPr>
      </p:sp>
      <p:sp>
        <p:nvSpPr>
          <p:cNvPr id="15" name="Shape 13"/>
          <p:cNvSpPr/>
          <p:nvPr/>
        </p:nvSpPr>
        <p:spPr>
          <a:xfrm>
            <a:off x="777240" y="3694176"/>
            <a:ext cx="502920" cy="502920"/>
          </a:xfrm>
          <a:prstGeom prst="ellipse">
            <a:avLst/>
          </a:prstGeom>
          <a:solidFill>
            <a:srgbClr val="2563EB"/>
          </a:solidFill>
          <a:ln/>
        </p:spPr>
      </p:sp>
      <p:sp>
        <p:nvSpPr>
          <p:cNvPr id="16" name="Text 14"/>
          <p:cNvSpPr txBox="1"/>
          <p:nvPr/>
        </p:nvSpPr>
        <p:spPr>
          <a:xfrm>
            <a:off x="777240" y="369417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361188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361188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480560"/>
            <a:ext cx="11064240" cy="850392"/>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4654296"/>
            <a:ext cx="502920" cy="502920"/>
          </a:xfrm>
          <a:prstGeom prst="ellipse">
            <a:avLst/>
          </a:prstGeom>
          <a:solidFill>
            <a:srgbClr val="2563EB"/>
          </a:solidFill>
          <a:ln/>
        </p:spPr>
      </p:sp>
      <p:sp>
        <p:nvSpPr>
          <p:cNvPr id="21" name="Text 19"/>
          <p:cNvSpPr txBox="1"/>
          <p:nvPr/>
        </p:nvSpPr>
        <p:spPr>
          <a:xfrm>
            <a:off x="777240" y="465429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457200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457200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6" name="Shape 17 (5)"/>
          <p:cNvSpPr/>
          <p:nvPr/>
        </p:nvSpPr>
        <p:spPr>
          <a:xfrm>
            <a:off x="548640" y="5440680"/>
            <a:ext cx="11064240" cy="850392"/>
          </a:xfrm>
          <a:prstGeom prst="roundRect">
            <a:avLst>
              <a:gd name="adj" fmla="val 7619"/>
            </a:avLst>
          </a:prstGeom>
          <a:solidFill>
            <a:srgbClr val="F1F5F9"/>
          </a:solidFill>
          <a:ln/>
        </p:spPr>
      </p:sp>
      <p:sp>
        <p:nvSpPr>
          <p:cNvPr id="27" name="Shape 18 (5)"/>
          <p:cNvSpPr/>
          <p:nvPr/>
        </p:nvSpPr>
        <p:spPr>
          <a:xfrm>
            <a:off x="777240" y="5614416"/>
            <a:ext cx="502920" cy="502920"/>
          </a:xfrm>
          <a:prstGeom prst="ellipse">
            <a:avLst/>
          </a:prstGeom>
          <a:solidFill>
            <a:srgbClr val="2563EB"/>
          </a:solidFill>
          <a:ln/>
        </p:spPr>
      </p:sp>
      <p:sp>
        <p:nvSpPr>
          <p:cNvPr id="28" name="Text 19 (5)"/>
          <p:cNvSpPr txBox="1"/>
          <p:nvPr/>
        </p:nvSpPr>
        <p:spPr>
          <a:xfrm>
            <a:off x="777240" y="5614416"/>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5</a:t>
            </a:r>
            <a:endParaRPr lang="en-US" sz="1900" dirty="0"/>
          </a:p>
        </p:txBody>
      </p:sp>
      <p:sp>
        <p:nvSpPr>
          <p:cNvPr id="29" name="Text 20 (5)"/>
          <p:cNvSpPr txBox="1"/>
          <p:nvPr/>
        </p:nvSpPr>
        <p:spPr>
          <a:xfrm>
            <a:off x="1554480" y="5532120"/>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Complete the Shona translation</a:t>
            </a:r>
            <a:endParaRPr lang="en-US" sz="1450" dirty="0"/>
          </a:p>
        </p:txBody>
      </p:sp>
      <p:sp>
        <p:nvSpPr>
          <p:cNvPr id="30" name="Text 21 (5)"/>
          <p:cNvSpPr txBox="1"/>
          <p:nvPr/>
        </p:nvSpPr>
        <p:spPr>
          <a:xfrm>
            <a:off x="5577840" y="5532120"/>
            <a:ext cx="5852160" cy="667512"/>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Translate the remaining forms and messages, and have a native Shona speaker check the wording</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17 / 18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Usability &amp; Localisation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Built for Harare: a clearer interface, a second language and realistic local data — 22 more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map</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Click-to-pin coordinates on every property, plus a portfolio map of all of them</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Top-bar redesign</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sidebar became a horizontal top bar with a soft blue-to-burgundy gradient</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photography</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full-screen Harare skyline login, and a Harare photo behind each section of the app</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English / Shona switch</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An EN | SN toggle in the top bar and on login; the choice survives logging in and out</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Place names stay as entered</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Only interface text is translated — a test fails if a Harare place name is ever altered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Tenant-friendly unit labels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Tenants see “Avondale Heights · Unit 101”, not an internal unit code</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Logged-in redirect fix</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the login page while signed in now goes to your dashboard, not a blank page</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Harare demo portfolio</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5 properties in Avondale, the CBD, Eastlea and Vainona — 16 units and 9 tenants</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Usability &amp; Localisation</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3" name="Text 1"/>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New Look — Harare &amp; Shona</a:t>
            </a:r>
            <a:endParaRPr lang="en-US" sz="4800" dirty="0"/>
          </a:p>
        </p:txBody>
      </p:sp>
      <p:sp>
        <p:nvSpPr>
          <p:cNvPr id="4" name="Text 2"/>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The Harare login page, and the tenant portal switched to Shona</a:t>
            </a:r>
            <a:endParaRPr lang="en-US" sz="160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The New Look</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18</a:t>
            </a:r>
            <a:endParaRPr lang="en-US" sz="1000" dirty="0"/>
          </a:p>
        </p:txBody>
      </p:sp>
      <p:pic>
        <p:nvPicPr>
          <p:cNvPr id="60" name="Login screenshot" descr="RentalPro login page over a photo of the Harare skyline, with an EN | SN switch"/>
          <p:cNvPicPr>
            <a:picLocks noChangeAspect="1"/>
          </p:cNvPicPr>
          <p:nvPr/>
        </p:nvPicPr>
        <p:blipFill>
          <a:blip r:embed="rId91"/>
          <a:stretch>
            <a:fillRect/>
          </a:stretch>
        </p:blipFill>
        <p:spPr>
          <a:xfrm>
            <a:off x="548640" y="1737360"/>
            <a:ext cx="5394960" cy="3371850"/>
          </a:xfrm>
          <a:prstGeom prst="rect">
            <a:avLst/>
          </a:prstGeom>
          <a:ln w="12700">
            <a:solidFill>
              <a:srgbClr val="334155"/>
            </a:solidFill>
          </a:ln>
        </p:spPr>
      </p:pic>
      <p:pic>
        <p:nvPicPr>
          <p:cNvPr id="61" name="Shona tenant portal screenshot" descr="Tenant dashboard in Shona for Chipo Mutasa"/>
          <p:cNvPicPr>
            <a:picLocks noChangeAspect="1"/>
          </p:cNvPicPr>
          <p:nvPr/>
        </p:nvPicPr>
        <p:blipFill>
          <a:blip r:embed="rId92"/>
          <a:stretch>
            <a:fillRect/>
          </a:stretch>
        </p:blipFill>
        <p:spPr>
          <a:xfrm>
            <a:off x="6217920" y="1737360"/>
            <a:ext cx="5394960" cy="3371850"/>
          </a:xfrm>
          <a:prstGeom prst="rect">
            <a:avLst/>
          </a:prstGeom>
          <a:ln w="12700">
            <a:solidFill>
              <a:srgbClr val="334155"/>
            </a:solidFill>
          </a:ln>
        </p:spPr>
      </p:pic>
      <p:sp>
        <p:nvSpPr>
          <p:cNvPr id="62" name="Login caption"/>
          <p:cNvSpPr txBox="1"/>
          <p:nvPr/>
        </p:nvSpPr>
        <p:spPr>
          <a:xfrm>
            <a:off x="548640" y="5273802"/>
            <a:ext cx="5394960" cy="640080"/>
          </a:xfrm>
          <a:prstGeom prst="rect">
            <a:avLst/>
          </a:prstGeom>
          <a:noFill/>
        </p:spPr>
        <p:txBody>
          <a:bodyPr wrap="square" lIns="0" tIns="0" rIns="0" bIns="0" rtlCol="0" anchor="t"/>
          <a:lstStyle/>
          <a:p>
            <a:r>
              <a:rPr lang="en-US" sz="1500" b="1" dirty="0">
                <a:solidFill>
                  <a:srgbClr val="FFFFFF"/>
                </a:solidFill>
                <a:latin typeface="Calibri"/>
              </a:rPr>
              <a:t>Login</a:t>
            </a:r>
          </a:p>
          <a:p>
            <a:r>
              <a:rPr lang="en-US" sz="1250" dirty="0">
                <a:solidFill>
                  <a:srgbClr val="CADCFC"/>
                </a:solidFill>
                <a:latin typeface="Calibri"/>
              </a:rPr>
              <a:t>A full-screen Harare skyline, a translucent card, and the EN | SN switch top-right</a:t>
            </a:r>
          </a:p>
        </p:txBody>
      </p:sp>
      <p:sp>
        <p:nvSpPr>
          <p:cNvPr id="63" name="Shona caption"/>
          <p:cNvSpPr txBox="1"/>
          <p:nvPr/>
        </p:nvSpPr>
        <p:spPr>
          <a:xfrm>
            <a:off x="6217920" y="5273802"/>
            <a:ext cx="5394960" cy="640080"/>
          </a:xfrm>
          <a:prstGeom prst="rect">
            <a:avLst/>
          </a:prstGeom>
          <a:noFill/>
        </p:spPr>
        <p:txBody>
          <a:bodyPr wrap="square" lIns="0" tIns="0" rIns="0" bIns="0" rtlCol="0" anchor="t"/>
          <a:lstStyle/>
          <a:p>
            <a:r>
              <a:rPr lang="en-US" sz="1500" b="1" dirty="0">
                <a:solidFill>
                  <a:srgbClr val="FFFFFF"/>
                </a:solidFill>
                <a:latin typeface="Calibri"/>
              </a:rPr>
              <a:t>Tenant portal in Shona</a:t>
            </a:r>
          </a:p>
          <a:p>
            <a:r>
              <a:rPr lang="en-US" sz="1250" dirty="0">
                <a:solidFill>
                  <a:srgbClr val="CADCFC"/>
                </a:solidFill>
                <a:latin typeface="Calibri"/>
              </a:rPr>
              <a:t>“Mauya” (welcome), the unit as “Avondale Heights · Yuniti 101”, and the pay-rent action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