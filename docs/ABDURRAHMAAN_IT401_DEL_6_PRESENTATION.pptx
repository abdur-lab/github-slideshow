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2" r:id="rId23"/>
    <p:sldId id="274" r:id="rId25"/>
    <p:sldId id="273" r:id="rId24"/>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strRef>
              <c:f>Sheet1!$A$2:$A$11</c:f>
              <c:strCache>
                <c:ptCount val="10"/>
                <c:pt idx="0">
                  <c:v>Models</c:v>
                </c:pt>
                <c:pt idx="1">
                  <c:v>Auth</c:v>
                </c:pt>
                <c:pt idx="2">
                  <c:v>Routes</c:v>
                </c:pt>
                <c:pt idx="3">
                  <c:v>Scheduler</c:v>
                </c:pt>
                <c:pt idx="4">
                  <c:v>Validation</c:v>
                </c:pt>
                <c:pt idx="5">
                  <c:v>Deliv. 5</c:v>
                </c:pt>
                <c:pt idx="6">
                  <c:v>Billing</c:v>
                </c:pt>
                <c:pt idx="7">
                  <c:v>Map &amp; i18n</c:v>
                </c:pt>
                <c:pt idx="8">
                  <c:v>History &amp; summary</c:v>
                </c:pt>
                <c:pt idx="9">
                  <c:v>Hardening &amp; Arabic</c:v>
                </c:pt>
              </c:strCache>
            </c:strRef>
          </c:cat>
          <c:val>
            <c:numRef>
              <c:f>Sheet1!$B$2:$B$11</c:f>
              <c:numCache>
                <c:formatCode>General</c:formatCode>
                <c:ptCount val="10"/>
                <c:pt idx="0">
                  <c:v>18</c:v>
                </c:pt>
                <c:pt idx="1">
                  <c:v>19</c:v>
                </c:pt>
                <c:pt idx="2">
                  <c:v>17</c:v>
                </c:pt>
                <c:pt idx="3">
                  <c:v>9</c:v>
                </c:pt>
                <c:pt idx="4">
                  <c:v>36</c:v>
                </c:pt>
                <c:pt idx="5">
                  <c:v>31</c:v>
                </c:pt>
                <c:pt idx="6">
                  <c:v>79</c:v>
                </c:pt>
                <c:pt idx="7">
                  <c:v>22</c:v>
                </c:pt>
                <c:pt idx="8">
                  <c:v>13</c:v>
                </c:pt>
                <c:pt idx="9">
                  <c:v>54</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Hello. My name is Abdurrahmaan Ali,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and made it more usable for Harare landlords and tenants, including a choice of English, Shona and Arabic. Most recently, I translated every screen, message and document into Arabic and hardened the system for production — I'll cover all three.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application is a layered Flask monolith — deliberately simplified from Deliverable 2's more ambitious microservice sketch, because a single developer needed to build and verify it in the time available. Presentation is 40 Jinja2 templates behind a role-aware top navigation bar, with a language menu for English, Shona and Arabic. The application layer is 10 Flask Blueprints — one each for auth, properties, tenants, rent, maintenance, admin, reports, the tenant portal, and the REST API. Below that, the domain and service layer holds security.py for RBAC and IDOR protection, web_security.py for the security headers and the secret-key check, the five scheduler jobs, a small translation module for Shona and Arabic, which also turns Arabic pages right to left, and a services package for PDF generation, Excel export, notifications, and payments. Data is 18 SQLAlchemy models — the 13 from the design plus 5 for the billing engine — with UUID keys, and the schema is managed by Alembic migrations. And infrastructure is Docker Compose running PostgreSQL and Redis, with uploads kept on local disk or in an S3-compatible bucket, with a dev-mode fallback for every paid external service — which is what let me build and test this entire system without a single paid account.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Deliverable 5 is where the project went from working to 100% complete against the original requirements. An audit found eleven gaps, grouped on this slide into eight areas: photo uploads for properties, units, and maintenance tickets, all validated by their actual file content, not just the extension; editing a unit after it's created; configurable late fees, fixed or percentage, applied automatically once rent is overdue; tenant blacklisting, which blocks a future lease without touching an existing one; tenant ID documents and lease document downloads; the admin user console, with a safety guard that won't let you remove the last active Owner; self-service staff account creation; and one-click CSV and Excel exports. All eleven are covered by a dedicated 31-test module, which I'll show numbers for next. When I later traced all 44 functional requirements one by one, two were only partly met — the full tenant history of each unit, and a maintenance summary by period — so I built both, and all 44 requirements are now met.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five deliverables,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Seventy-nine new tests back all of it, and they're included in the testing numbers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backs up every claim in this presentation. 298 automated tests, zero failures, 85 percent statement coverage across the backend, and all 25 use cases from the SRS covered by at least one test. The chart breaks that down by module — 36 validation tests, 31 for Deliverable 5's feature gaps, 79 for the billing engine alone, the single largest block in the project, 22 for the property map and the three languages, 13 for the tenant history and maintenance summary screens that completed the last two requirements, and 54 for the final round — full Arabic, security headers, migrations, currency and cloud storage.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 and to finish, the Harare portfolio on the map and the whole interface switching to Shona, then to Arabic, laid out right to left, and back to English.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Security wasn't bolted on — these controls run through every request. Passwords are hashed with 600,000 rounds of PBKDF2, and the app refuses to start without a real secret key, since a published one would let anyone forge a login.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The session cookie can't be read by scripts or sent on cross-site posts. Every response carries a strict content security policy — no inline code at all — blocks framing, and enables HSTS over HTTPS. Five failed logins locks an account for 15 minutes. Every file upload is validated by its actual magic bytes, not its claimed extension. And every state-changing action writes to an immutable audit 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wrap up: RentalPro went from a requirements document, through design, to a working prototype, a full seven-chapter project report, 100% feature completion, an extended billing engine, a localised interface for Harare, and finally full Arabic and production hardening — and every number on this slide was produced by actually running the code, not estimated. 25 of 25 use cases, each with a route and a covering test. The 13-table design implemented exactly as specified. 298 tests, zero failures, 85 percent coverage. Eleven feature gaps closed in Deliverable 5, eight more billing capabilities added since, and an interface in English, Shona and Arabic — with Arabic reaching every screen, message, email and PDF. And the whole thing runs fully offline, with zero paid external accounts required to build or test it. That discipline — that a claim in the report is a fact about the system, not a target for it — is, I'd argue, as much a deliverable of this capstone as the application itself.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Looking ahead to Part 2 of the capstone. First, native-speaker review: the Arabic now covers everything, and Shona covers the main screens, so the next step is for Arabic and Shona speakers to check the wording and for Shona to reach the rest of the app. Second, a mobile-optimized tenant portal, since tenants are the role most likely to use this from a phone. Third, a live production deployment: HTTPS with secure cookies, PostgreSQL with the new migrations, and uploads in an S3 bucket — every piece is supported and tested offline, but hasn't yet run live. Fourth, end-to-end verification against live Stripe, SendGrid, and Twilio sandbox accounts, on top of the offline test suite that's carried the project so far. And last, two-factor sign-in for Owners, Managers and Administrators, the roles that can see the most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round of work was about the people who would actually use RentalPro — landlords, managers and tenants in Harare. Every property can now carry map coordinates, set by clicking a map, and there's a portfolio map showing all of them. The interface moved from a sidebar to a horizontal top bar, and the login page and each section of the app now show photographs of Harare. The biggest change is language: a menu in the top bar and on the login page offers English, Shona and Arabic, and the choice sticks when you log in and out. My SRS originally described Arabic and English; both are now in, and because the users are in Harare, I added Shona as well. Arabic is written right to left, so an Arabic page mirrors the whole layout. Only interface text is translated — names and places stay exactly as entered, and a test fails if that ever changes. Tenants now see their unit as 'Avondale Heights, Unit 101' rather than an internal code, a blank-page bug for signed-in users is fixed, and the demo data is now a realistic Harare portfolio: five properties, sixteen units and nine tenants. Twenty-seven new tests cover this 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On the left is the login page: a full-screen photograph of the Harare skyline, a translucent sign-in card, and the language menu open in the corner, offering English, ChiShona and Arabic. On the right is a tenant's dashboard in Arabic. The whole layout reads right to left — the navigation starts on the right, and the cards and tables are mirrored — with a welcome, her unit, her balance, and the button to pay rent. Her name and 'Avondale Heights' stay exactly as entered, because they're data, not interface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round of work finished two things: the language support, and readiness for production. Before it, Arabic covered the main screens only. Now every page, form option and message is in Arabic — over six hundred phrases — and a test fails if any new text is added without a translation. Emails and SMS are written in each user's saved language, even when a nightly job sends them. PDFs are fully Arabic too: the letters are joined and read right to left, and tables are mirrored, while names, dates and amounts keep their own order. Every amount in the system now shows its currency. On the production side, every response carries strict security headers — a content policy with no inline code at all — the session cookie is locked down, and the app simply refuses to start with a missing or published secret key. Alembic migrations replace create_all, and existing databases are adopted with their data intact. And uploads can be kept in an S3-compatible bucket, so they survive a redeploy. Fifty-four new tests cover this round.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8.xml"/><Relationship Id="rId91" Type="http://schemas.openxmlformats.org/officeDocument/2006/relationships/image" Target="../media/newlook_login.png"/><Relationship Id="rId92" Type="http://schemas.openxmlformats.org/officeDocument/2006/relationships/image" Target="../media/newlook_arabic.png"/></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txBody>
          <a:bodyPr/>
          <a:p/>
        </p:txBody>
      </p:sp>
      <p:sp>
        <p:nvSpPr>
          <p:cNvPr id="3" name="Shape 1"/>
          <p:cNvSpPr/>
          <p:nvPr/>
        </p:nvSpPr>
        <p:spPr>
          <a:xfrm>
            <a:off x="-1645920" y="4754880"/>
            <a:ext cx="3657600" cy="3657600"/>
          </a:xfrm>
          <a:prstGeom prst="ellipse">
            <a:avLst/>
          </a:prstGeom>
          <a:solidFill>
            <a:srgbClr val="1E293B"/>
          </a:solidFill>
          <a:ln/>
        </p:spPr>
        <p:txBody>
          <a:bodyPr/>
          <a:p/>
        </p:txBody>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1–6 Complete + Billing Engine + Full Arabic + Production Hardening</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txBody>
          <a:bodyPr/>
          <a:p/>
        </p:txBody>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txBody>
          <a:bodyPr/>
          <a:p/>
        </p:txBody>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txBody>
          <a:bodyPr/>
          <a:p/>
        </p:txBody>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txBody>
          <a:bodyPr/>
          <a:p/>
        </p:txBody>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txBody>
          <a:bodyPr/>
          <a:p/>
        </p:txBody>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txBody>
          <a:bodyPr/>
          <a:p/>
        </p:txBody>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txBody>
          <a:bodyPr/>
          <a:p/>
        </p:txBody>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txBody>
          <a:bodyPr/>
          <a:p/>
        </p:txBody>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txBody>
          <a:bodyPr/>
          <a:p/>
        </p:txBody>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txBody>
          <a:bodyPr/>
          <a:p/>
        </p:txBody>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txBody>
          <a:bodyPr/>
          <a:p/>
        </p:txBody>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txBody>
          <a:bodyPr/>
          <a:p/>
        </p:txBody>
      </p:sp>
      <p:sp>
        <p:nvSpPr>
          <p:cNvPr id="4" name="Shape 2"/>
          <p:cNvSpPr/>
          <p:nvPr/>
        </p:nvSpPr>
        <p:spPr>
          <a:xfrm>
            <a:off x="777240" y="1572768"/>
            <a:ext cx="457200" cy="457200"/>
          </a:xfrm>
          <a:prstGeom prst="ellipse">
            <a:avLst/>
          </a:prstGeom>
          <a:solidFill>
            <a:srgbClr val="2563EB"/>
          </a:solidFill>
          <a:ln/>
        </p:spPr>
        <p:txBody>
          <a:bodyPr/>
          <a:p/>
        </p:txBody>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txBody>
          <a:bodyPr/>
          <a:p/>
        </p:txBody>
      </p:sp>
      <p:sp>
        <p:nvSpPr>
          <p:cNvPr id="9" name="Shape 7"/>
          <p:cNvSpPr/>
          <p:nvPr/>
        </p:nvSpPr>
        <p:spPr>
          <a:xfrm>
            <a:off x="777240" y="2532888"/>
            <a:ext cx="457200" cy="457200"/>
          </a:xfrm>
          <a:prstGeom prst="ellipse">
            <a:avLst/>
          </a:prstGeom>
          <a:solidFill>
            <a:srgbClr val="2563EB"/>
          </a:solidFill>
          <a:ln/>
        </p:spPr>
        <p:txBody>
          <a:bodyPr/>
          <a:p/>
        </p:txBody>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txBody>
          <a:bodyPr/>
          <a:p/>
        </p:txBody>
      </p:sp>
      <p:sp>
        <p:nvSpPr>
          <p:cNvPr id="14" name="Shape 12"/>
          <p:cNvSpPr/>
          <p:nvPr/>
        </p:nvSpPr>
        <p:spPr>
          <a:xfrm>
            <a:off x="777240" y="3493008"/>
            <a:ext cx="457200" cy="457200"/>
          </a:xfrm>
          <a:prstGeom prst="ellipse">
            <a:avLst/>
          </a:prstGeom>
          <a:solidFill>
            <a:srgbClr val="2563EB"/>
          </a:solidFill>
          <a:ln/>
        </p:spPr>
        <p:txBody>
          <a:bodyPr/>
          <a:p/>
        </p:txBody>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txBody>
          <a:bodyPr/>
          <a:p/>
        </p:txBody>
      </p:sp>
      <p:sp>
        <p:nvSpPr>
          <p:cNvPr id="19" name="Shape 17"/>
          <p:cNvSpPr/>
          <p:nvPr/>
        </p:nvSpPr>
        <p:spPr>
          <a:xfrm>
            <a:off x="777240" y="4453128"/>
            <a:ext cx="457200" cy="457200"/>
          </a:xfrm>
          <a:prstGeom prst="ellipse">
            <a:avLst/>
          </a:prstGeom>
          <a:solidFill>
            <a:srgbClr val="2563EB"/>
          </a:solidFill>
          <a:ln/>
        </p:spPr>
        <p:txBody>
          <a:bodyPr/>
          <a:p/>
        </p:txBody>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txBody>
          <a:bodyPr/>
          <a:p/>
        </p:txBody>
      </p:sp>
      <p:sp>
        <p:nvSpPr>
          <p:cNvPr id="24" name="Shape 22"/>
          <p:cNvSpPr/>
          <p:nvPr/>
        </p:nvSpPr>
        <p:spPr>
          <a:xfrm>
            <a:off x="777240" y="5413248"/>
            <a:ext cx="457200" cy="457200"/>
          </a:xfrm>
          <a:prstGeom prst="ellipse">
            <a:avLst/>
          </a:prstGeom>
          <a:solidFill>
            <a:srgbClr val="16A34A"/>
          </a:solidFill>
          <a:ln/>
        </p:spPr>
        <p:txBody>
          <a:bodyPr/>
          <a:p/>
        </p:txBody>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txBody>
          <a:bodyPr/>
          <a:p/>
        </p:txBody>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txBody>
          <a:bodyPr/>
          <a:p/>
        </p:txBody>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40 Jinja2 templates, role-aware top navigation, English/Shona/Arabic menu</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txBody>
          <a:bodyPr/>
          <a:p/>
        </p:txBody>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txBody>
          <a:bodyPr/>
          <a:p/>
        </p:txBody>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web_security.py (headers, secret key), i18n.py (English/Shona/Arabic),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txBody>
          <a:bodyPr/>
          <a:p/>
        </p:txBody>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18 SQLAlchemy models (13 designed + 5 billing), UUID keys, schema managed by Alembic migrations</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txBody>
          <a:bodyPr/>
          <a:p/>
        </p:txBody>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local or S3-compatible file storage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txBody>
          <a:bodyPr/>
          <a:p/>
        </p:txBody>
      </p:sp>
      <p:sp>
        <p:nvSpPr>
          <p:cNvPr id="4" name="Shape 2"/>
          <p:cNvSpPr/>
          <p:nvPr/>
        </p:nvSpPr>
        <p:spPr>
          <a:xfrm>
            <a:off x="548640" y="1371600"/>
            <a:ext cx="2121408" cy="777240"/>
          </a:xfrm>
          <a:prstGeom prst="roundRect">
            <a:avLst>
              <a:gd name="adj" fmla="val 11765"/>
            </a:avLst>
          </a:prstGeom>
          <a:solidFill>
            <a:srgbClr val="2563EB"/>
          </a:solidFill>
          <a:ln/>
        </p:spPr>
        <p:txBody>
          <a:bodyPr/>
          <a:p/>
        </p:txBody>
      </p:sp>
      <p:sp>
        <p:nvSpPr>
          <p:cNvPr id="5" name="Shape 3"/>
          <p:cNvSpPr/>
          <p:nvPr/>
        </p:nvSpPr>
        <p:spPr>
          <a:xfrm>
            <a:off x="548640" y="1755648"/>
            <a:ext cx="2121408" cy="393192"/>
          </a:xfrm>
          <a:prstGeom prst="rect">
            <a:avLst/>
          </a:prstGeom>
          <a:solidFill>
            <a:srgbClr val="2563EB"/>
          </a:solidFill>
          <a:ln/>
        </p:spPr>
        <p:txBody>
          <a:bodyPr/>
          <a:p/>
        </p:txBody>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txBody>
          <a:bodyPr/>
          <a:p/>
        </p:txBody>
      </p:sp>
      <p:sp>
        <p:nvSpPr>
          <p:cNvPr id="11" name="Shape 9"/>
          <p:cNvSpPr/>
          <p:nvPr/>
        </p:nvSpPr>
        <p:spPr>
          <a:xfrm>
            <a:off x="2807208" y="1371600"/>
            <a:ext cx="2121408" cy="777240"/>
          </a:xfrm>
          <a:prstGeom prst="roundRect">
            <a:avLst>
              <a:gd name="adj" fmla="val 11765"/>
            </a:avLst>
          </a:prstGeom>
          <a:solidFill>
            <a:srgbClr val="16A34A"/>
          </a:solidFill>
          <a:ln/>
        </p:spPr>
        <p:txBody>
          <a:bodyPr/>
          <a:p/>
        </p:txBody>
      </p:sp>
      <p:sp>
        <p:nvSpPr>
          <p:cNvPr id="12" name="Shape 10"/>
          <p:cNvSpPr/>
          <p:nvPr/>
        </p:nvSpPr>
        <p:spPr>
          <a:xfrm>
            <a:off x="2807208" y="1755648"/>
            <a:ext cx="2121408" cy="393192"/>
          </a:xfrm>
          <a:prstGeom prst="rect">
            <a:avLst/>
          </a:prstGeom>
          <a:solidFill>
            <a:srgbClr val="16A34A"/>
          </a:solidFill>
          <a:ln/>
        </p:spPr>
        <p:txBody>
          <a:bodyPr/>
          <a:p/>
        </p:txBody>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txBody>
          <a:bodyPr/>
          <a:p/>
        </p:txBody>
      </p:sp>
      <p:sp>
        <p:nvSpPr>
          <p:cNvPr id="18" name="Shape 16"/>
          <p:cNvSpPr/>
          <p:nvPr/>
        </p:nvSpPr>
        <p:spPr>
          <a:xfrm>
            <a:off x="5065776" y="1371600"/>
            <a:ext cx="2121408" cy="777240"/>
          </a:xfrm>
          <a:prstGeom prst="roundRect">
            <a:avLst>
              <a:gd name="adj" fmla="val 11765"/>
            </a:avLst>
          </a:prstGeom>
          <a:solidFill>
            <a:srgbClr val="7C3AED"/>
          </a:solidFill>
          <a:ln/>
        </p:spPr>
        <p:txBody>
          <a:bodyPr/>
          <a:p/>
        </p:txBody>
      </p:sp>
      <p:sp>
        <p:nvSpPr>
          <p:cNvPr id="19" name="Shape 17"/>
          <p:cNvSpPr/>
          <p:nvPr/>
        </p:nvSpPr>
        <p:spPr>
          <a:xfrm>
            <a:off x="5065776" y="1755648"/>
            <a:ext cx="2121408" cy="393192"/>
          </a:xfrm>
          <a:prstGeom prst="rect">
            <a:avLst/>
          </a:prstGeom>
          <a:solidFill>
            <a:srgbClr val="7C3AED"/>
          </a:solidFill>
          <a:ln/>
        </p:spPr>
        <p:txBody>
          <a:bodyPr/>
          <a:p/>
        </p:txBody>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txBody>
          <a:bodyPr/>
          <a:p/>
        </p:txBody>
      </p:sp>
      <p:sp>
        <p:nvSpPr>
          <p:cNvPr id="25" name="Shape 23"/>
          <p:cNvSpPr/>
          <p:nvPr/>
        </p:nvSpPr>
        <p:spPr>
          <a:xfrm>
            <a:off x="7324344" y="1371600"/>
            <a:ext cx="2121408" cy="777240"/>
          </a:xfrm>
          <a:prstGeom prst="roundRect">
            <a:avLst>
              <a:gd name="adj" fmla="val 11765"/>
            </a:avLst>
          </a:prstGeom>
          <a:solidFill>
            <a:srgbClr val="D97706"/>
          </a:solidFill>
          <a:ln/>
        </p:spPr>
        <p:txBody>
          <a:bodyPr/>
          <a:p/>
        </p:txBody>
      </p:sp>
      <p:sp>
        <p:nvSpPr>
          <p:cNvPr id="26" name="Shape 24"/>
          <p:cNvSpPr/>
          <p:nvPr/>
        </p:nvSpPr>
        <p:spPr>
          <a:xfrm>
            <a:off x="7324344" y="1755648"/>
            <a:ext cx="2121408" cy="393192"/>
          </a:xfrm>
          <a:prstGeom prst="rect">
            <a:avLst/>
          </a:prstGeom>
          <a:solidFill>
            <a:srgbClr val="D97706"/>
          </a:solidFill>
          <a:ln/>
        </p:spPr>
        <p:txBody>
          <a:bodyPr/>
          <a:p/>
        </p:txBody>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txBody>
          <a:bodyPr/>
          <a:p/>
        </p:txBody>
      </p:sp>
      <p:sp>
        <p:nvSpPr>
          <p:cNvPr id="32" name="Shape 30"/>
          <p:cNvSpPr/>
          <p:nvPr/>
        </p:nvSpPr>
        <p:spPr>
          <a:xfrm>
            <a:off x="9582912" y="1371600"/>
            <a:ext cx="2121408" cy="777240"/>
          </a:xfrm>
          <a:prstGeom prst="roundRect">
            <a:avLst>
              <a:gd name="adj" fmla="val 11765"/>
            </a:avLst>
          </a:prstGeom>
          <a:solidFill>
            <a:srgbClr val="DC2626"/>
          </a:solidFill>
          <a:ln/>
        </p:spPr>
        <p:txBody>
          <a:bodyPr/>
          <a:p/>
        </p:txBody>
      </p:sp>
      <p:sp>
        <p:nvSpPr>
          <p:cNvPr id="33" name="Shape 31"/>
          <p:cNvSpPr/>
          <p:nvPr/>
        </p:nvSpPr>
        <p:spPr>
          <a:xfrm>
            <a:off x="9582912" y="1755648"/>
            <a:ext cx="2121408" cy="393192"/>
          </a:xfrm>
          <a:prstGeom prst="rect">
            <a:avLst/>
          </a:prstGeom>
          <a:solidFill>
            <a:srgbClr val="DC2626"/>
          </a:solidFill>
          <a:ln/>
        </p:spPr>
        <p:txBody>
          <a:bodyPr/>
          <a:p/>
        </p:txBody>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Eleven gaps closed against the SRS after the Deliverable 3 prototype, grouped here into eight areas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Unit editing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Edit a unit’s details and status after it is created — previously units could only be added</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&amp; lease documents</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 tenant’s ID; download a lease PDF as management or as the tenant</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&amp; Excel exports</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lease’s payment history as CSV; a two-sheet .xlsx portfolio workbook</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Deliverable 6, going beyond the original SRS — 79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Usability &amp; Localisation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Built for Harare: a clearer interface, two more languages and realistic local data — 27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map</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Click-to-pin coordinates on every property, plus a portfolio map of all of them</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Top-bar redesign</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sidebar became a horizontal top bar with a soft blue-to-burgundy gradient</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photography</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full-screen Harare skyline login, and a Harare photo behind each section of the app</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English, Shona &amp; Arabic</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language menu in the top bar and on login; Arabic reads right to left; the choice is remembered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Place names stay as entered</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Only interface text is translated — a test fails if a Harare place name is ever altered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Tenant-friendly unit labels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Tenants see “Avondale Heights · Unit 101”, not an internal unit code</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Logged-in redirect fix</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the login page while signed in now goes to your dashboard, not a blank page</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demo portfolio</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5 properties in Avondale, the CBD, Eastlea and Vainona — 16 units and 9 tenants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Usability &amp; Localisation</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19</a:t>
            </a:r>
            <a:endParaRPr lang="en-US" sz="10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p:bgPr>
    </p:bg>
    <p:spTree>
      <p:nvGrpSpPr>
        <p:cNvPr id="1" name=""/>
        <p:cNvGrpSpPr/>
        <p:nvPr/>
      </p:nvGrpSpPr>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Full Arabic &amp; Production Hardening</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The final round: every word in Arabic, a stricter security posture and production-ready data handling — 54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on every screen</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page, form option and message — over 600 phrases; a test fails if one is missing</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Emails &amp; SMS in each user’s language</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Sent in the language the user last chose, including by the nightly jobs</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PDFs &amp; spreadsheets</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PDF letters joined and right to left, tables mirrored; Excel sheets open right to left</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Currency everywhere</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amount shown as “USD 1,250.00” — screens, messages, emails and PDFs</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Security headers &amp; cookies</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Strict Content-Security-Policy with no inline code, no framing, HSTS, HttpOnly cookies</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default secret key</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app refuses to start with a missing or published SECRET_KEY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Database migrations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Alembic replaces create_all(); older databases are adopted with their data</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Cloud file storage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Uploads can live in an S3-compatible bucket and survive redeploys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Full Arabic &amp; Hardening</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3" name="Text 1"/>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New Look — Harare, Shona &amp; Arabic</a:t>
            </a:r>
            <a:endParaRPr lang="en-US" sz="4800" dirty="0"/>
          </a:p>
        </p:txBody>
      </p:sp>
      <p:sp>
        <p:nvSpPr>
          <p:cNvPr id="4" name="Text 2"/>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The Harare login page with its language menu, and the tenant portal in Arabic</a:t>
            </a:r>
            <a:endParaRPr lang="en-US" sz="160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The New Look</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19</a:t>
            </a:r>
            <a:endParaRPr lang="en-US" sz="1000" dirty="0"/>
          </a:p>
        </p:txBody>
      </p:sp>
      <p:pic>
        <p:nvPicPr>
          <p:cNvPr id="60" name="Login screenshot" descr="RentalPro login page over a photo of the Harare skyline, with the language menu open"/>
          <p:cNvPicPr>
            <a:picLocks noChangeAspect="1"/>
          </p:cNvPicPr>
          <p:nvPr/>
        </p:nvPicPr>
        <p:blipFill>
          <a:blip r:embed="rId91"/>
          <a:stretch>
            <a:fillRect/>
          </a:stretch>
        </p:blipFill>
        <p:spPr>
          <a:xfrm>
            <a:off x="548640" y="1737360"/>
            <a:ext cx="5394960" cy="3371850"/>
          </a:xfrm>
          <a:prstGeom prst="rect">
            <a:avLst/>
          </a:prstGeom>
          <a:ln w="12700">
            <a:solidFill>
              <a:srgbClr val="334155"/>
            </a:solidFill>
          </a:ln>
        </p:spPr>
      </p:pic>
      <p:pic>
        <p:nvPicPr>
          <p:cNvPr id="61" name="Arabic tenant portal screenshot" descr="Tenant dashboard in Arabic, right to left, for Chipo Mutasa"/>
          <p:cNvPicPr>
            <a:picLocks noChangeAspect="1"/>
          </p:cNvPicPr>
          <p:nvPr/>
        </p:nvPicPr>
        <p:blipFill>
          <a:blip r:embed="rId92"/>
          <a:stretch>
            <a:fillRect/>
          </a:stretch>
        </p:blipFill>
        <p:spPr>
          <a:xfrm>
            <a:off x="6217920" y="1737360"/>
            <a:ext cx="5394960" cy="3371850"/>
          </a:xfrm>
          <a:prstGeom prst="rect">
            <a:avLst/>
          </a:prstGeom>
          <a:ln w="12700">
            <a:solidFill>
              <a:srgbClr val="334155"/>
            </a:solidFill>
          </a:ln>
        </p:spPr>
      </p:pic>
      <p:sp>
        <p:nvSpPr>
          <p:cNvPr id="62" name="Login caption"/>
          <p:cNvSpPr txBox="1"/>
          <p:nvPr/>
        </p:nvSpPr>
        <p:spPr>
          <a:xfrm>
            <a:off x="548640" y="5273802"/>
            <a:ext cx="5394960" cy="640080"/>
          </a:xfrm>
          <a:prstGeom prst="rect">
            <a:avLst/>
          </a:prstGeom>
          <a:noFill/>
        </p:spPr>
        <p:txBody>
          <a:bodyPr wrap="square" lIns="0" tIns="0" rIns="0" bIns="0" rtlCol="0" anchor="t"/>
          <a:lstStyle/>
          <a:p>
            <a:r>
              <a:rPr lang="en-US" sz="1500" b="1" dirty="0">
                <a:solidFill>
                  <a:srgbClr val="FFFFFF"/>
                </a:solidFill>
                <a:latin typeface="Calibri"/>
              </a:rPr>
              <a:t>Login</a:t>
            </a:r>
          </a:p>
          <a:p>
            <a:r>
              <a:rPr lang="en-US" sz="1250" dirty="0">
                <a:solidFill>
                  <a:srgbClr val="CADCFC"/>
                </a:solidFill>
                <a:latin typeface="Calibri"/>
              </a:rPr>
              <a:t>A full-screen Harare skyline, a translucent card, and the language menu open top-right</a:t>
            </a:r>
          </a:p>
        </p:txBody>
      </p:sp>
      <p:sp>
        <p:nvSpPr>
          <p:cNvPr id="63" name="Arabic caption"/>
          <p:cNvSpPr txBox="1"/>
          <p:nvPr/>
        </p:nvSpPr>
        <p:spPr>
          <a:xfrm>
            <a:off x="6217920" y="5273802"/>
            <a:ext cx="5394960" cy="640080"/>
          </a:xfrm>
          <a:prstGeom prst="rect">
            <a:avLst/>
          </a:prstGeom>
          <a:noFill/>
        </p:spPr>
        <p:txBody>
          <a:bodyPr wrap="square" lIns="0" tIns="0" rIns="0" bIns="0" rtlCol="0" anchor="t"/>
          <a:lstStyle/>
          <a:p>
            <a:r>
              <a:rPr lang="en-US" sz="1500" b="1" dirty="0">
                <a:solidFill>
                  <a:srgbClr val="FFFFFF"/>
                </a:solidFill>
                <a:latin typeface="Calibri"/>
              </a:rPr>
              <a:t>Tenant portal in Arabic</a:t>
            </a:r>
          </a:p>
          <a:p>
            <a:r>
              <a:rPr lang="en-US" sz="1250" dirty="0">
                <a:solidFill>
                  <a:srgbClr val="CADCFC"/>
                </a:solidFill>
                <a:latin typeface="Calibri"/>
              </a:rPr>
              <a:t>Laid out right to left — her name and “Avondale Heights” stay exactly as entered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txBody>
          <a:bodyPr/>
          <a:p/>
        </p:txBody>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298</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txBody>
          <a:bodyPr/>
          <a:p/>
        </p:txBody>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txBody>
          <a:bodyPr/>
          <a:p/>
        </p:txBody>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85%</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txBody>
          <a:bodyPr/>
          <a:p/>
        </p:txBody>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txBody>
          <a:bodyPr/>
          <a:p/>
        </p:txBody>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txBody>
          <a:bodyPr/>
          <a:p/>
        </p:txBody>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txBody>
          <a:bodyPr/>
          <a:p/>
        </p:txBody>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txBody>
          <a:bodyPr/>
          <a:p/>
        </p:txBody>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txBody>
          <a:bodyPr/>
          <a:p/>
        </p:txBody>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txBody>
          <a:bodyPr/>
          <a:p/>
        </p:txBody>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txBody>
          <a:bodyPr/>
          <a:p/>
        </p:txBody>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txBody>
          <a:bodyPr/>
          <a:p/>
        </p:txBody>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txBody>
          <a:bodyPr/>
          <a:p/>
        </p:txBody>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txBody>
          <a:bodyPr/>
          <a:p/>
        </p:txBody>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txBody>
          <a:bodyPr/>
          <a:p/>
        </p:txBody>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txBody>
          <a:bodyPr/>
          <a:p/>
        </p:txBody>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txBody>
          <a:bodyPr/>
          <a:p/>
        </p:txBody>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then the Harare map and the language menu</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txBody>
          <a:bodyPr/>
          <a:p/>
        </p:txBody>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txBody>
          <a:bodyPr/>
          <a:p/>
        </p:txBody>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txBody>
          <a:bodyPr/>
          <a:p/>
        </p:txBody>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txBody>
          <a:bodyPr/>
          <a:p/>
        </p:txBody>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txBody>
          <a:bodyPr/>
          <a:p/>
        </p:txBody>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txBody>
          <a:bodyPr/>
          <a:p/>
        </p:txBody>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txBody>
          <a:bodyPr/>
          <a:p/>
        </p:txBody>
      </p:sp>
      <p:sp>
        <p:nvSpPr>
          <p:cNvPr id="4" name="Shape 2"/>
          <p:cNvSpPr/>
          <p:nvPr/>
        </p:nvSpPr>
        <p:spPr>
          <a:xfrm>
            <a:off x="713232" y="1764792"/>
            <a:ext cx="384048" cy="384048"/>
          </a:xfrm>
          <a:prstGeom prst="ellipse">
            <a:avLst/>
          </a:prstGeom>
          <a:solidFill>
            <a:srgbClr val="0F172A"/>
          </a:solidFill>
          <a:ln/>
        </p:spPr>
        <p:txBody>
          <a:bodyPr/>
          <a:p/>
        </p:txBody>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Passwords &amp; secret key</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 no start without a real SECRET_KEY</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txBody>
          <a:bodyPr/>
          <a:p/>
        </p:txBody>
      </p:sp>
      <p:sp>
        <p:nvSpPr>
          <p:cNvPr id="9" name="Shape 7"/>
          <p:cNvSpPr/>
          <p:nvPr/>
        </p:nvSpPr>
        <p:spPr>
          <a:xfrm>
            <a:off x="6382512" y="1764792"/>
            <a:ext cx="384048" cy="384048"/>
          </a:xfrm>
          <a:prstGeom prst="ellipse">
            <a:avLst/>
          </a:prstGeom>
          <a:solidFill>
            <a:srgbClr val="0F172A"/>
          </a:solidFill>
          <a:ln/>
        </p:spPr>
        <p:txBody>
          <a:bodyPr/>
          <a:p/>
        </p:txBody>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txBody>
          <a:bodyPr/>
          <a:p/>
        </p:txBody>
      </p:sp>
      <p:sp>
        <p:nvSpPr>
          <p:cNvPr id="14" name="Shape 12"/>
          <p:cNvSpPr/>
          <p:nvPr/>
        </p:nvSpPr>
        <p:spPr>
          <a:xfrm>
            <a:off x="713232" y="3072384"/>
            <a:ext cx="384048" cy="384048"/>
          </a:xfrm>
          <a:prstGeom prst="ellipse">
            <a:avLst/>
          </a:prstGeom>
          <a:solidFill>
            <a:srgbClr val="0F172A"/>
          </a:solidFill>
          <a:ln/>
        </p:spPr>
        <p:txBody>
          <a:bodyPr/>
          <a:p/>
        </p:txBody>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txBody>
          <a:bodyPr/>
          <a:p/>
        </p:txBody>
      </p:sp>
      <p:sp>
        <p:nvSpPr>
          <p:cNvPr id="19" name="Shape 17"/>
          <p:cNvSpPr/>
          <p:nvPr/>
        </p:nvSpPr>
        <p:spPr>
          <a:xfrm>
            <a:off x="6382512" y="3072384"/>
            <a:ext cx="384048" cy="384048"/>
          </a:xfrm>
          <a:prstGeom prst="ellipse">
            <a:avLst/>
          </a:prstGeom>
          <a:solidFill>
            <a:srgbClr val="0F172A"/>
          </a:solidFill>
          <a:ln/>
        </p:spPr>
        <p:txBody>
          <a:bodyPr/>
          <a:p/>
        </p:txBody>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&amp; cookies</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(signed Stripe webhook exempt); HttpOnly, SameSite session cookie</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txBody>
          <a:bodyPr/>
          <a:p/>
        </p:txBody>
      </p:sp>
      <p:sp>
        <p:nvSpPr>
          <p:cNvPr id="24" name="Shape 22"/>
          <p:cNvSpPr/>
          <p:nvPr/>
        </p:nvSpPr>
        <p:spPr>
          <a:xfrm>
            <a:off x="713232" y="4379976"/>
            <a:ext cx="384048" cy="384048"/>
          </a:xfrm>
          <a:prstGeom prst="ellipse">
            <a:avLst/>
          </a:prstGeom>
          <a:solidFill>
            <a:srgbClr val="0F172A"/>
          </a:solidFill>
          <a:ln/>
        </p:spPr>
        <p:txBody>
          <a:bodyPr/>
          <a:p/>
        </p:txBody>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Headers &amp;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Strict Content-Security-Policy, no framing, HSTS; 5 failed logins lock an account</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txBody>
          <a:bodyPr/>
          <a:p/>
        </p:txBody>
      </p:sp>
      <p:sp>
        <p:nvSpPr>
          <p:cNvPr id="29" name="Shape 27"/>
          <p:cNvSpPr/>
          <p:nvPr/>
        </p:nvSpPr>
        <p:spPr>
          <a:xfrm>
            <a:off x="6382512" y="4379976"/>
            <a:ext cx="384048" cy="384048"/>
          </a:xfrm>
          <a:prstGeom prst="ellipse">
            <a:avLst/>
          </a:prstGeom>
          <a:solidFill>
            <a:srgbClr val="0F172A"/>
          </a:solidFill>
          <a:ln/>
        </p:spPr>
        <p:txBody>
          <a:bodyPr/>
          <a:p/>
        </p:txBody>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txBody>
          <a:bodyPr/>
          <a:p/>
        </p:txBody>
      </p:sp>
      <p:sp>
        <p:nvSpPr>
          <p:cNvPr id="34" name="Shape 32"/>
          <p:cNvSpPr/>
          <p:nvPr/>
        </p:nvSpPr>
        <p:spPr>
          <a:xfrm>
            <a:off x="713232" y="5687568"/>
            <a:ext cx="384048" cy="384048"/>
          </a:xfrm>
          <a:prstGeom prst="ellipse">
            <a:avLst/>
          </a:prstGeom>
          <a:solidFill>
            <a:srgbClr val="0F172A"/>
          </a:solidFill>
          <a:ln/>
        </p:spPr>
        <p:txBody>
          <a:bodyPr/>
          <a:p/>
        </p:txBody>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txBody>
          <a:bodyPr/>
          <a:p/>
        </p:txBody>
      </p:sp>
      <p:sp>
        <p:nvSpPr>
          <p:cNvPr id="39" name="Shape 37"/>
          <p:cNvSpPr/>
          <p:nvPr/>
        </p:nvSpPr>
        <p:spPr>
          <a:xfrm>
            <a:off x="6382512" y="5687568"/>
            <a:ext cx="384048" cy="384048"/>
          </a:xfrm>
          <a:prstGeom prst="ellipse">
            <a:avLst/>
          </a:prstGeom>
          <a:solidFill>
            <a:srgbClr val="0F172A"/>
          </a:solidFill>
          <a:ln/>
        </p:spPr>
        <p:txBody>
          <a:bodyPr/>
          <a:p/>
        </p:txBody>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16 / 19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100% feature completion, a billing engine, and a fully Arabic, production-hardened Harare interface — every claim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txBody>
          <a:bodyPr/>
          <a:p/>
        </p:txBody>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txBody>
          <a:bodyPr/>
          <a:p/>
        </p:txBody>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txBody>
          <a:bodyPr/>
          <a:p/>
        </p:txBody>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298 automated tests, 0 failures, 85%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txBody>
          <a:bodyPr/>
          <a:p/>
        </p:txBody>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11 feature gaps closed in Deliverable 5, a billing engine, and English/Shona/Arabic across every screen and document</a:t>
            </a:r>
            <a:endParaRPr lang="en-US" sz="1400" dirty="0"/>
          </a:p>
        </p:txBody>
      </p:sp>
      <p:sp>
        <p:nvSpPr>
          <p:cNvPr id="16" name="Shape 14"/>
          <p:cNvSpPr/>
          <p:nvPr/>
        </p:nvSpPr>
        <p:spPr>
          <a:xfrm>
            <a:off x="548640" y="4434840"/>
            <a:ext cx="329184" cy="329184"/>
          </a:xfrm>
          <a:prstGeom prst="ellipse">
            <a:avLst/>
          </a:prstGeom>
          <a:solidFill>
            <a:srgbClr val="16A34A"/>
          </a:solidFill>
          <a:ln/>
        </p:spPr>
        <p:txBody>
          <a:bodyPr/>
          <a:p/>
        </p:txBody>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txBody>
          <a:bodyPr/>
          <a:p/>
        </p:txBody>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17 / 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00200"/>
            <a:ext cx="11064240" cy="850392"/>
          </a:xfrm>
          <a:prstGeom prst="roundRect">
            <a:avLst>
              <a:gd name="adj" fmla="val 7619"/>
            </a:avLst>
          </a:prstGeom>
          <a:solidFill>
            <a:srgbClr val="F1F5F9"/>
          </a:solidFill>
          <a:ln/>
        </p:spPr>
        <p:txBody>
          <a:bodyPr/>
          <a:p/>
        </p:txBody>
      </p:sp>
      <p:sp>
        <p:nvSpPr>
          <p:cNvPr id="5" name="Shape 3"/>
          <p:cNvSpPr/>
          <p:nvPr/>
        </p:nvSpPr>
        <p:spPr>
          <a:xfrm>
            <a:off x="777240" y="1773936"/>
            <a:ext cx="502920" cy="502920"/>
          </a:xfrm>
          <a:prstGeom prst="ellipse">
            <a:avLst/>
          </a:prstGeom>
          <a:solidFill>
            <a:srgbClr val="2563EB"/>
          </a:solidFill>
          <a:ln/>
        </p:spPr>
        <p:txBody>
          <a:bodyPr/>
          <a:p/>
        </p:txBody>
      </p:sp>
      <p:sp>
        <p:nvSpPr>
          <p:cNvPr id="6" name="Text 4"/>
          <p:cNvSpPr txBox="1"/>
          <p:nvPr/>
        </p:nvSpPr>
        <p:spPr>
          <a:xfrm>
            <a:off x="777240" y="17739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69164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Native-speaker review</a:t>
            </a:r>
            <a:endParaRPr lang="en-US" sz="1450" dirty="0"/>
          </a:p>
        </p:txBody>
      </p:sp>
      <p:sp>
        <p:nvSpPr>
          <p:cNvPr id="8" name="Text 6"/>
          <p:cNvSpPr txBox="1"/>
          <p:nvPr/>
        </p:nvSpPr>
        <p:spPr>
          <a:xfrm>
            <a:off x="5577840" y="169164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Have Arabic and Shona speakers check the wording, and extend Shona beyond the main screens</a:t>
            </a:r>
            <a:endParaRPr lang="en-US" sz="1200" dirty="0"/>
          </a:p>
        </p:txBody>
      </p:sp>
      <p:sp>
        <p:nvSpPr>
          <p:cNvPr id="9" name="Shape 7"/>
          <p:cNvSpPr/>
          <p:nvPr/>
        </p:nvSpPr>
        <p:spPr>
          <a:xfrm>
            <a:off x="548640" y="256032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10" name="Shape 8"/>
          <p:cNvSpPr/>
          <p:nvPr/>
        </p:nvSpPr>
        <p:spPr>
          <a:xfrm>
            <a:off x="777240" y="2734056"/>
            <a:ext cx="502920" cy="502920"/>
          </a:xfrm>
          <a:prstGeom prst="ellipse">
            <a:avLst/>
          </a:prstGeom>
          <a:solidFill>
            <a:srgbClr val="2563EB"/>
          </a:solidFill>
          <a:ln/>
        </p:spPr>
        <p:txBody>
          <a:bodyPr/>
          <a:p/>
        </p:txBody>
      </p:sp>
      <p:sp>
        <p:nvSpPr>
          <p:cNvPr id="11" name="Text 9"/>
          <p:cNvSpPr txBox="1"/>
          <p:nvPr/>
        </p:nvSpPr>
        <p:spPr>
          <a:xfrm>
            <a:off x="777240" y="273405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65176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65176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520440"/>
            <a:ext cx="11064240" cy="850392"/>
          </a:xfrm>
          <a:prstGeom prst="roundRect">
            <a:avLst>
              <a:gd name="adj" fmla="val 7619"/>
            </a:avLst>
          </a:prstGeom>
          <a:solidFill>
            <a:srgbClr val="F1F5F9"/>
          </a:solidFill>
          <a:ln/>
        </p:spPr>
        <p:txBody>
          <a:bodyPr/>
          <a:p/>
        </p:txBody>
      </p:sp>
      <p:sp>
        <p:nvSpPr>
          <p:cNvPr id="15" name="Shape 13"/>
          <p:cNvSpPr/>
          <p:nvPr/>
        </p:nvSpPr>
        <p:spPr>
          <a:xfrm>
            <a:off x="777240" y="3694176"/>
            <a:ext cx="502920" cy="502920"/>
          </a:xfrm>
          <a:prstGeom prst="ellipse">
            <a:avLst/>
          </a:prstGeom>
          <a:solidFill>
            <a:srgbClr val="2563EB"/>
          </a:solidFill>
          <a:ln/>
        </p:spPr>
        <p:txBody>
          <a:bodyPr/>
          <a:p/>
        </p:txBody>
      </p:sp>
      <p:sp>
        <p:nvSpPr>
          <p:cNvPr id="16" name="Text 14"/>
          <p:cNvSpPr txBox="1"/>
          <p:nvPr/>
        </p:nvSpPr>
        <p:spPr>
          <a:xfrm>
            <a:off x="777240" y="36941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361188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production deployment</a:t>
            </a:r>
            <a:endParaRPr lang="en-US" sz="1450" dirty="0"/>
          </a:p>
        </p:txBody>
      </p:sp>
      <p:sp>
        <p:nvSpPr>
          <p:cNvPr id="18" name="Text 16"/>
          <p:cNvSpPr txBox="1"/>
          <p:nvPr/>
        </p:nvSpPr>
        <p:spPr>
          <a:xfrm>
            <a:off x="5577840" y="361188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HTTPS, secure cookies, PostgreSQL migrations and an S3 bucket — all supported, not yet run live</a:t>
            </a:r>
            <a:endParaRPr lang="en-US" sz="1200" dirty="0"/>
          </a:p>
        </p:txBody>
      </p:sp>
      <p:sp>
        <p:nvSpPr>
          <p:cNvPr id="19" name="Shape 17"/>
          <p:cNvSpPr/>
          <p:nvPr/>
        </p:nvSpPr>
        <p:spPr>
          <a:xfrm>
            <a:off x="548640" y="448056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20" name="Shape 18"/>
          <p:cNvSpPr/>
          <p:nvPr/>
        </p:nvSpPr>
        <p:spPr>
          <a:xfrm>
            <a:off x="777240" y="4654296"/>
            <a:ext cx="502920" cy="502920"/>
          </a:xfrm>
          <a:prstGeom prst="ellipse">
            <a:avLst/>
          </a:prstGeom>
          <a:solidFill>
            <a:srgbClr val="2563EB"/>
          </a:solidFill>
          <a:ln/>
        </p:spPr>
        <p:txBody>
          <a:bodyPr/>
          <a:p/>
        </p:txBody>
      </p:sp>
      <p:sp>
        <p:nvSpPr>
          <p:cNvPr id="21" name="Text 19"/>
          <p:cNvSpPr txBox="1"/>
          <p:nvPr/>
        </p:nvSpPr>
        <p:spPr>
          <a:xfrm>
            <a:off x="777240" y="46542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457200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457200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6" name="Shape 17 (5)"/>
          <p:cNvSpPr/>
          <p:nvPr/>
        </p:nvSpPr>
        <p:spPr>
          <a:xfrm>
            <a:off x="548640" y="5440680"/>
            <a:ext cx="11064240" cy="850392"/>
          </a:xfrm>
          <a:prstGeom prst="roundRect">
            <a:avLst>
              <a:gd name="adj" fmla="val 7619"/>
            </a:avLst>
          </a:prstGeom>
          <a:solidFill>
            <a:srgbClr val="F1F5F9"/>
          </a:solidFill>
          <a:ln/>
        </p:spPr>
        <p:txBody>
          <a:bodyPr/>
          <a:p/>
        </p:txBody>
      </p:sp>
      <p:sp>
        <p:nvSpPr>
          <p:cNvPr id="27" name="Shape 18 (5)"/>
          <p:cNvSpPr/>
          <p:nvPr/>
        </p:nvSpPr>
        <p:spPr>
          <a:xfrm>
            <a:off x="777240" y="5614416"/>
            <a:ext cx="502920" cy="502920"/>
          </a:xfrm>
          <a:prstGeom prst="ellipse">
            <a:avLst/>
          </a:prstGeom>
          <a:solidFill>
            <a:srgbClr val="2563EB"/>
          </a:solidFill>
          <a:ln/>
        </p:spPr>
        <p:txBody>
          <a:bodyPr/>
          <a:p/>
        </p:txBody>
      </p:sp>
      <p:sp>
        <p:nvSpPr>
          <p:cNvPr id="28" name="Text 19 (5)"/>
          <p:cNvSpPr txBox="1"/>
          <p:nvPr/>
        </p:nvSpPr>
        <p:spPr>
          <a:xfrm>
            <a:off x="777240" y="561441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5</a:t>
            </a:r>
            <a:endParaRPr lang="en-US" sz="1900" dirty="0"/>
          </a:p>
        </p:txBody>
      </p:sp>
      <p:sp>
        <p:nvSpPr>
          <p:cNvPr id="29" name="Text 20 (5)"/>
          <p:cNvSpPr txBox="1"/>
          <p:nvPr/>
        </p:nvSpPr>
        <p:spPr>
          <a:xfrm>
            <a:off x="1554480" y="553212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Two-factor sign-in</a:t>
            </a:r>
            <a:endParaRPr lang="en-US" sz="1450" dirty="0"/>
          </a:p>
        </p:txBody>
      </p:sp>
      <p:sp>
        <p:nvSpPr>
          <p:cNvPr id="30" name="Text 21 (5)"/>
          <p:cNvSpPr txBox="1"/>
          <p:nvPr/>
        </p:nvSpPr>
        <p:spPr>
          <a:xfrm>
            <a:off x="5577840" y="553212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 second factor for Owner, Manager and Admin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18 / 19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txBody>
          <a:bodyPr/>
          <a:p/>
        </p:txBody>
      </p:sp>
      <p:sp>
        <p:nvSpPr>
          <p:cNvPr id="3" name="Shape 1"/>
          <p:cNvSpPr/>
          <p:nvPr/>
        </p:nvSpPr>
        <p:spPr>
          <a:xfrm>
            <a:off x="10058400" y="5029200"/>
            <a:ext cx="4114800" cy="4114800"/>
          </a:xfrm>
          <a:prstGeom prst="ellipse">
            <a:avLst/>
          </a:prstGeom>
          <a:solidFill>
            <a:srgbClr val="1E293B"/>
          </a:solidFill>
          <a:ln/>
        </p:spPr>
        <p:txBody>
          <a:bodyPr/>
          <a:p/>
        </p:txBody>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2026-09-22T20:22:33Z</dcterms:created>
  <dcterms:modified xsi:type="dcterms:W3CDTF">2026-09-22T20:22:33Z</dcterms:modified>
</cp:coreProperties>
</file>