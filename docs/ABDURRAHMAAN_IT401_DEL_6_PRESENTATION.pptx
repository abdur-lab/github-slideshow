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Sheet1!$A$2:$A$8</c:f>
              <c:multiLvlStrCache>
                <c:ptCount val="7"/>
                <c:lvl>
                  <c:pt idx="0">
                    <c:v>Models</c:v>
                  </c:pt>
                  <c:pt idx="1">
                    <c:v>Auth</c:v>
                  </c:pt>
                  <c:pt idx="2">
                    <c:v>Routes</c:v>
                  </c:pt>
                  <c:pt idx="3">
                    <c:v>Scheduler</c:v>
                  </c:pt>
                  <c:pt idx="4">
                    <c:v>Validation</c:v>
                  </c:pt>
                  <c:pt idx="5">
                    <c:v>Deliv. 5</c:v>
                  </c:pt>
                  <c:pt idx="6">
                    <c:v>Billing</c:v>
                  </c:pt>
                </c:lvl>
              </c:multiLvlStrCache>
            </c:multiLvlStrRef>
          </c:cat>
          <c:val>
            <c:numRef>
              <c:f>Sheet1!$B$2:$B$8</c:f>
              <c:numCache>
                <c:formatCode>General</c:formatCode>
                <c:ptCount val="7"/>
                <c:pt idx="0">
                  <c:v>18</c:v>
                </c:pt>
                <c:pt idx="1">
                  <c:v>14</c:v>
                </c:pt>
                <c:pt idx="2">
                  <c:v>16</c:v>
                </c:pt>
                <c:pt idx="3">
                  <c:v>9</c:v>
                </c:pt>
                <c:pt idx="4">
                  <c:v>36</c:v>
                </c:pt>
                <c:pt idx="5">
                  <c:v>31</c:v>
                </c:pt>
                <c:pt idx="6">
                  <c:v>78</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My name is Abdurrahmaan Ali, and today I'm presenting RentalPro, a Digital Rental Management System built as my IT401 capstone project. Over the next few minutes I'll walk through the problem this system solves, how it was designed and built, and the results of testing it — including a live demo of the working application. All six project deliverables — requirements, design, the working prototype, the full project report, 100% feature completion, and the final demo and presentation package — are finished, tested, and documented. Since then, I've also extended the system with a full billing engine, which I'll cover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is a layered Flask monolith — deliberately simplified from Deliverable 2's more ambitious microservice sketch, because a single developer needed to build and verify it in the time available. Presentation is 35 Jinja2 templates behind role-aware navigation. The application layer is 10 Flask Blueprints — one each for auth, properties, tenants, rent, maintenance, admin, reports, the tenant portal, and the REST API. Below that, the domain and service layer holds security.py for RBAC and IDOR protection, the four scheduler jobs, and a services package for PDF generation, Excel export, notifications, and payments. Data is 13 SQLAlchemy models with UUID keys. And infrastructure is Docker Compose running PostgreSQL and Redis, with a dev-mode fallback for every paid external service — which is what let me build and test this entire system without a single paid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Deliverable 5,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Deliverable 5,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5 is where the project went from working to 100% complete against the original requirements. Eight gaps were identified and closed: photo uploads for properties, units, and maintenance tickets, all validated by their actual file content, not just the extension; configurable late fees, fixed or percentage, applied automatically once rent is overdue; tenant blacklisting, which blocks a future lease without touching an existing one; tenant ID document upload; the admin user console, with a safety guard that won't let you remove the last active Owner; self-service staff account creation; and one-click CSV and Excel export for rent history and portfolio reporting. Every one of these eight is covered by its own test module, which I'll show numbers for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original five deliverables, I extended RentalPro with a full billing engine — eight more capabilities, each additive so the existing 124 tests never had to change. Operational and sundry charges bill one-off costs straight to a lease. Electricity metering bills consumption automatically from a configured rate. Pro rata rent prorates a partial first month instead of charging it in full. Variable rent lets a lease's rate change mid-term — an annual escalation — while past periods stay billed at their own rate. A daily scheduler job now bills each period automatically and idempotently. Account statements support a real date range with an opening and closing balance, and tenants can view their own. Every payment gets a real downloadable PDF receipt. And property expenses now feed a true net income estimate, not just rent collected minus maintenance. Seventy-eight new tests back all of it, which the next slide's numbers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backs up every claim in this presentation. 202 automated tests, zero failures, 82 percent statement coverage across the backend, and all 25 use cases from the SRS covered by at least one test. The chart breaks that down by module — 36 validation tests, 31 for Deliverable 5's feature gaps, and 78 for the billing engine alone, the single largest test module in the project.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six things: first, an Owner setting up a property and unit with photos and a configured late fee. Second, onboarding a new tenant, uploading their lease, and watching the unit activate. Third, the Deliverable 5 blacklist toggle and recording a rent payment. Fourth, a full maintenance ticket lifecycle rotating through four different role logins — tenant submits, owner assigns, staff completes, tenant confirms. Fifth, the admin console for user management and creating a new staff account. And finally, the billing engine end to end — charges, metering, pro rata, a rent revision, the automated billing job's paper trail, a filtered account statement, a downloaded payment receipt, and a property expense feeding into net income.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Deliverable 2's microservice-style sketch into a layered monolith, and when I found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wasn't bolted on — eight controls run through every request. Passwords are hashed with 600,000 rounds of PBKDF2.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Five failed logins locks an account for 15 minutes. Every file upload is validated by its actual magic bytes, not its claimed extension — so a ZIP renamed to .pdf, or a non-image file renamed to .jpg, gets rejected. And every state-changing action writes to an immutable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RentalPro went from a requirements document, through design, to a working prototype, a full seven-chapter project report, 100% feature completion, and now an extended billing engine — and every number on this slide was produced by actually running the code, not estimated. 25 of 25 use cases, each with a route and a covering test. The 13-table design implemented exactly as specified. 202 tests, zero failures, 82 percent coverage. Eight feature gaps closed in Deliverable 5, and eight more billing capabilities added since. And the whole thing runs fully offline, with zero paid external accounts required to build or test it. That discipline — that a claim in the report is a fact about the system, not a target for it — is, I'd argue, as much a deliverable of this capstone as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to Part 2 of the capstone: cloud file storage is the natural next step — and because photo and document storage is already isolated behind a small storage.py interface, that swap needs no changes to routes or templates. A mobile-optimized tenant portal is next, since tenants are the role most likely to use this from a phone. Alembic-based schema migrations would replace the create_all() bootstrap I used during development, which is fine pre-launch but not for a live database holding real tenant data. And finally, end-to-end verification against live Stripe, SendGrid, and Twilio sandbox accounts, on top of the offline test suite that's carried the project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all six deliverables from requirements through the final demo and presentation package, plus an extended billing engine on top.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sp>
      <p:sp>
        <p:nvSpPr>
          <p:cNvPr id="3" name="Shape 1"/>
          <p:cNvSpPr/>
          <p:nvPr/>
        </p:nvSpPr>
        <p:spPr>
          <a:xfrm>
            <a:off x="-1645920" y="4754880"/>
            <a:ext cx="3657600" cy="3657600"/>
          </a:xfrm>
          <a:prstGeom prst="ellipse">
            <a:avLst/>
          </a:prstGeom>
          <a:solidFill>
            <a:srgbClr val="1E293B"/>
          </a:solidFill>
          <a:ln/>
        </p:spPr>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IT401 Capstone Project Defense  ·  Deliverables 1–6 Complete + Billing Engine</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IT401 — IT Capstone 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sp>
      <p:sp>
        <p:nvSpPr>
          <p:cNvPr id="4" name="Shape 2"/>
          <p:cNvSpPr/>
          <p:nvPr/>
        </p:nvSpPr>
        <p:spPr>
          <a:xfrm>
            <a:off x="777240" y="1572768"/>
            <a:ext cx="457200" cy="457200"/>
          </a:xfrm>
          <a:prstGeom prst="ellipse">
            <a:avLst/>
          </a:prstGeom>
          <a:solidFill>
            <a:srgbClr val="2563EB"/>
          </a:solidFill>
          <a:ln/>
        </p:spPr>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sp>
      <p:sp>
        <p:nvSpPr>
          <p:cNvPr id="9" name="Shape 7"/>
          <p:cNvSpPr/>
          <p:nvPr/>
        </p:nvSpPr>
        <p:spPr>
          <a:xfrm>
            <a:off x="777240" y="2532888"/>
            <a:ext cx="457200" cy="457200"/>
          </a:xfrm>
          <a:prstGeom prst="ellipse">
            <a:avLst/>
          </a:prstGeom>
          <a:solidFill>
            <a:srgbClr val="2563EB"/>
          </a:solidFill>
          <a:ln/>
        </p:spPr>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sp>
      <p:sp>
        <p:nvSpPr>
          <p:cNvPr id="14" name="Shape 12"/>
          <p:cNvSpPr/>
          <p:nvPr/>
        </p:nvSpPr>
        <p:spPr>
          <a:xfrm>
            <a:off x="777240" y="3493008"/>
            <a:ext cx="457200" cy="457200"/>
          </a:xfrm>
          <a:prstGeom prst="ellipse">
            <a:avLst/>
          </a:prstGeom>
          <a:solidFill>
            <a:srgbClr val="2563EB"/>
          </a:solidFill>
          <a:ln/>
        </p:spPr>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sp>
      <p:sp>
        <p:nvSpPr>
          <p:cNvPr id="19" name="Shape 17"/>
          <p:cNvSpPr/>
          <p:nvPr/>
        </p:nvSpPr>
        <p:spPr>
          <a:xfrm>
            <a:off x="777240" y="4453128"/>
            <a:ext cx="457200" cy="457200"/>
          </a:xfrm>
          <a:prstGeom prst="ellipse">
            <a:avLst/>
          </a:prstGeom>
          <a:solidFill>
            <a:srgbClr val="2563EB"/>
          </a:solidFill>
          <a:ln/>
        </p:spPr>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sp>
      <p:sp>
        <p:nvSpPr>
          <p:cNvPr id="24" name="Shape 22"/>
          <p:cNvSpPr/>
          <p:nvPr/>
        </p:nvSpPr>
        <p:spPr>
          <a:xfrm>
            <a:off x="777240" y="5413248"/>
            <a:ext cx="457200" cy="457200"/>
          </a:xfrm>
          <a:prstGeom prst="ellipse">
            <a:avLst/>
          </a:prstGeom>
          <a:solidFill>
            <a:srgbClr val="16A34A"/>
          </a:solidFill>
          <a:ln/>
        </p:spPr>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35 Jinja2 templates, role-aware navigation</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13 SQLAlchemy models, UUID keys, business logic on the model</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sp>
      <p:sp>
        <p:nvSpPr>
          <p:cNvPr id="4" name="Shape 2"/>
          <p:cNvSpPr/>
          <p:nvPr/>
        </p:nvSpPr>
        <p:spPr>
          <a:xfrm>
            <a:off x="548640" y="1371600"/>
            <a:ext cx="2121408" cy="777240"/>
          </a:xfrm>
          <a:prstGeom prst="roundRect">
            <a:avLst>
              <a:gd name="adj" fmla="val 11765"/>
            </a:avLst>
          </a:prstGeom>
          <a:solidFill>
            <a:srgbClr val="2563EB"/>
          </a:solidFill>
          <a:ln/>
        </p:spPr>
      </p:sp>
      <p:sp>
        <p:nvSpPr>
          <p:cNvPr id="5" name="Shape 3"/>
          <p:cNvSpPr/>
          <p:nvPr/>
        </p:nvSpPr>
        <p:spPr>
          <a:xfrm>
            <a:off x="548640" y="1755648"/>
            <a:ext cx="2121408" cy="393192"/>
          </a:xfrm>
          <a:prstGeom prst="rect">
            <a:avLst/>
          </a:prstGeom>
          <a:solidFill>
            <a:srgbClr val="2563EB"/>
          </a:solidFill>
          <a:ln/>
        </p:spPr>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sp>
      <p:sp>
        <p:nvSpPr>
          <p:cNvPr id="11" name="Shape 9"/>
          <p:cNvSpPr/>
          <p:nvPr/>
        </p:nvSpPr>
        <p:spPr>
          <a:xfrm>
            <a:off x="2807208" y="1371600"/>
            <a:ext cx="2121408" cy="777240"/>
          </a:xfrm>
          <a:prstGeom prst="roundRect">
            <a:avLst>
              <a:gd name="adj" fmla="val 11765"/>
            </a:avLst>
          </a:prstGeom>
          <a:solidFill>
            <a:srgbClr val="16A34A"/>
          </a:solidFill>
          <a:ln/>
        </p:spPr>
      </p:sp>
      <p:sp>
        <p:nvSpPr>
          <p:cNvPr id="12" name="Shape 10"/>
          <p:cNvSpPr/>
          <p:nvPr/>
        </p:nvSpPr>
        <p:spPr>
          <a:xfrm>
            <a:off x="2807208" y="1755648"/>
            <a:ext cx="2121408" cy="393192"/>
          </a:xfrm>
          <a:prstGeom prst="rect">
            <a:avLst/>
          </a:prstGeom>
          <a:solidFill>
            <a:srgbClr val="16A34A"/>
          </a:solidFill>
          <a:ln/>
        </p:spPr>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sp>
      <p:sp>
        <p:nvSpPr>
          <p:cNvPr id="18" name="Shape 16"/>
          <p:cNvSpPr/>
          <p:nvPr/>
        </p:nvSpPr>
        <p:spPr>
          <a:xfrm>
            <a:off x="5065776" y="1371600"/>
            <a:ext cx="2121408" cy="777240"/>
          </a:xfrm>
          <a:prstGeom prst="roundRect">
            <a:avLst>
              <a:gd name="adj" fmla="val 11765"/>
            </a:avLst>
          </a:prstGeom>
          <a:solidFill>
            <a:srgbClr val="7C3AED"/>
          </a:solidFill>
          <a:ln/>
        </p:spPr>
      </p:sp>
      <p:sp>
        <p:nvSpPr>
          <p:cNvPr id="19" name="Shape 17"/>
          <p:cNvSpPr/>
          <p:nvPr/>
        </p:nvSpPr>
        <p:spPr>
          <a:xfrm>
            <a:off x="5065776" y="1755648"/>
            <a:ext cx="2121408" cy="393192"/>
          </a:xfrm>
          <a:prstGeom prst="rect">
            <a:avLst/>
          </a:prstGeom>
          <a:solidFill>
            <a:srgbClr val="7C3AED"/>
          </a:solidFill>
          <a:ln/>
        </p:spPr>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sp>
      <p:sp>
        <p:nvSpPr>
          <p:cNvPr id="25" name="Shape 23"/>
          <p:cNvSpPr/>
          <p:nvPr/>
        </p:nvSpPr>
        <p:spPr>
          <a:xfrm>
            <a:off x="7324344" y="1371600"/>
            <a:ext cx="2121408" cy="777240"/>
          </a:xfrm>
          <a:prstGeom prst="roundRect">
            <a:avLst>
              <a:gd name="adj" fmla="val 11765"/>
            </a:avLst>
          </a:prstGeom>
          <a:solidFill>
            <a:srgbClr val="D97706"/>
          </a:solidFill>
          <a:ln/>
        </p:spPr>
      </p:sp>
      <p:sp>
        <p:nvSpPr>
          <p:cNvPr id="26" name="Shape 24"/>
          <p:cNvSpPr/>
          <p:nvPr/>
        </p:nvSpPr>
        <p:spPr>
          <a:xfrm>
            <a:off x="7324344" y="1755648"/>
            <a:ext cx="2121408" cy="393192"/>
          </a:xfrm>
          <a:prstGeom prst="rect">
            <a:avLst/>
          </a:prstGeom>
          <a:solidFill>
            <a:srgbClr val="D97706"/>
          </a:solidFill>
          <a:ln/>
        </p:spPr>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sp>
      <p:sp>
        <p:nvSpPr>
          <p:cNvPr id="32" name="Shape 30"/>
          <p:cNvSpPr/>
          <p:nvPr/>
        </p:nvSpPr>
        <p:spPr>
          <a:xfrm>
            <a:off x="9582912" y="1371600"/>
            <a:ext cx="2121408" cy="777240"/>
          </a:xfrm>
          <a:prstGeom prst="roundRect">
            <a:avLst>
              <a:gd name="adj" fmla="val 11765"/>
            </a:avLst>
          </a:prstGeom>
          <a:solidFill>
            <a:srgbClr val="DC2626"/>
          </a:solidFill>
          <a:ln/>
        </p:spPr>
      </p:sp>
      <p:sp>
        <p:nvSpPr>
          <p:cNvPr id="33" name="Shape 31"/>
          <p:cNvSpPr/>
          <p:nvPr/>
        </p:nvSpPr>
        <p:spPr>
          <a:xfrm>
            <a:off x="9582912" y="1755648"/>
            <a:ext cx="2121408" cy="393192"/>
          </a:xfrm>
          <a:prstGeom prst="rect">
            <a:avLst/>
          </a:prstGeom>
          <a:solidFill>
            <a:srgbClr val="DC2626"/>
          </a:solidFill>
          <a:ln/>
        </p:spPr>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Deliverable 5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gaps closed against the SRS after the Deliverable 3 prototype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ID documents</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and securely serve a tenant’s identification</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rent history export</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One-click spreadsheet export of a lease’s payment history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Excel portfolio export</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Two-sheet .xlsx workbook: portfolio summary + per-property breakdown</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Deliverable 5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Extended Scope — The Billing Engine</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further billing capabilities added after Deliverable 6, going beyond the original SRS — 78 additional tests, all passing.</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Operational &amp; sundry charges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One-off charges beyond rent — cleaning, call-outs — billed straight to the lease</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Electricity metering</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per-property rate plus manual meter readings; consumption bills itself automatically</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 rata rent</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The first month prorates to a daily rate when a tenant moves in mid-month</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Variable / escalating rent</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scheduled rent revision takes effect from a chosen date — past periods stay untouched</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Automated recurring billing</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A daily scheduler job invoices every elapsed period exactly once, with a full paper trail</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 statements by period</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Opening balance, in-period activity, closing balance — plus full tenant self-service access</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Payment receipts</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Every payment now has a real, downloadable PDF receipt, not just a receipt number</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Property expenses &amp; net income</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Owner-side operating costs feed a true net income estimate, not just rent collected</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Extended Scope — Billing Engine</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202</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82%</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sp>
      <p:sp>
        <p:nvSpPr>
          <p:cNvPr id="3" name="Text 1"/>
          <p:cNvSpPr txBox="1"/>
          <p:nvPr/>
        </p:nvSpPr>
        <p:spPr>
          <a:xfrm>
            <a:off x="822960" y="128016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24028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063240"/>
            <a:ext cx="365760" cy="365760"/>
          </a:xfrm>
          <a:prstGeom prst="ellipse">
            <a:avLst/>
          </a:prstGeom>
          <a:solidFill>
            <a:srgbClr val="2563EB"/>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04495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593592"/>
            <a:ext cx="365760" cy="365760"/>
          </a:xfrm>
          <a:prstGeom prst="ellipse">
            <a:avLst/>
          </a:prstGeom>
          <a:solidFill>
            <a:srgbClr val="2563EB"/>
          </a:solidFill>
          <a:ln/>
        </p:spPr>
      </p:sp>
      <p:sp>
        <p:nvSpPr>
          <p:cNvPr id="9" name="Text 7"/>
          <p:cNvSpPr txBox="1"/>
          <p:nvPr/>
        </p:nvSpPr>
        <p:spPr>
          <a:xfrm>
            <a:off x="868680" y="359359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575304"/>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123944"/>
            <a:ext cx="365760" cy="365760"/>
          </a:xfrm>
          <a:prstGeom prst="ellipse">
            <a:avLst/>
          </a:prstGeom>
          <a:solidFill>
            <a:srgbClr val="2563EB"/>
          </a:solidFill>
          <a:ln/>
        </p:spPr>
      </p:sp>
      <p:sp>
        <p:nvSpPr>
          <p:cNvPr id="12" name="Text 10"/>
          <p:cNvSpPr txBox="1"/>
          <p:nvPr/>
        </p:nvSpPr>
        <p:spPr>
          <a:xfrm>
            <a:off x="868680" y="4123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105656"/>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654296"/>
            <a:ext cx="365760" cy="365760"/>
          </a:xfrm>
          <a:prstGeom prst="ellipse">
            <a:avLst/>
          </a:prstGeom>
          <a:solidFill>
            <a:srgbClr val="2563EB"/>
          </a:solidFill>
          <a:ln/>
        </p:spPr>
      </p:sp>
      <p:sp>
        <p:nvSpPr>
          <p:cNvPr id="15" name="Text 13"/>
          <p:cNvSpPr txBox="1"/>
          <p:nvPr/>
        </p:nvSpPr>
        <p:spPr>
          <a:xfrm>
            <a:off x="868680" y="465429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636008"/>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184648"/>
            <a:ext cx="365760" cy="365760"/>
          </a:xfrm>
          <a:prstGeom prst="ellipse">
            <a:avLst/>
          </a:prstGeom>
          <a:solidFill>
            <a:srgbClr val="2563EB"/>
          </a:solidFill>
          <a:ln/>
        </p:spPr>
      </p:sp>
      <p:sp>
        <p:nvSpPr>
          <p:cNvPr id="18" name="Text 16"/>
          <p:cNvSpPr txBox="1"/>
          <p:nvPr/>
        </p:nvSpPr>
        <p:spPr>
          <a:xfrm>
            <a:off x="868680" y="51846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166360"/>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Shape 18"/>
          <p:cNvSpPr/>
          <p:nvPr/>
        </p:nvSpPr>
        <p:spPr>
          <a:xfrm>
            <a:off x="868680" y="5715000"/>
            <a:ext cx="365760" cy="365760"/>
          </a:xfrm>
          <a:prstGeom prst="ellipse">
            <a:avLst/>
          </a:prstGeom>
          <a:solidFill>
            <a:srgbClr val="2563EB"/>
          </a:solidFill>
          <a:ln/>
        </p:spPr>
      </p:sp>
      <p:sp>
        <p:nvSpPr>
          <p:cNvPr id="21" name="Text 19"/>
          <p:cNvSpPr txBox="1"/>
          <p:nvPr/>
        </p:nvSpPr>
        <p:spPr>
          <a:xfrm>
            <a:off x="868680" y="5715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2" name="Text 20"/>
          <p:cNvSpPr txBox="1"/>
          <p:nvPr/>
        </p:nvSpPr>
        <p:spPr>
          <a:xfrm>
            <a:off x="1417320" y="5696712"/>
            <a:ext cx="941832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Billing engine: charges, metering, pro rata, revisions, auto billing, statements, receipts, expenses</a:t>
            </a:r>
            <a:endParaRPr lang="en-US" sz="1350" dirty="0"/>
          </a:p>
        </p:txBody>
      </p:sp>
      <p:sp>
        <p:nvSpPr>
          <p:cNvPr id="23" name="Text 2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4" name="Text 2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Deliverable 2’s microservice sketch to a layered monolith; corrected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sp>
      <p:sp>
        <p:nvSpPr>
          <p:cNvPr id="4" name="Shape 2"/>
          <p:cNvSpPr/>
          <p:nvPr/>
        </p:nvSpPr>
        <p:spPr>
          <a:xfrm>
            <a:off x="713232" y="1764792"/>
            <a:ext cx="384048" cy="384048"/>
          </a:xfrm>
          <a:prstGeom prst="ellipse">
            <a:avLst/>
          </a:prstGeom>
          <a:solidFill>
            <a:srgbClr val="0F172A"/>
          </a:solidFill>
          <a:ln/>
        </p:spPr>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 hashing</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sp>
      <p:sp>
        <p:nvSpPr>
          <p:cNvPr id="9" name="Shape 7"/>
          <p:cNvSpPr/>
          <p:nvPr/>
        </p:nvSpPr>
        <p:spPr>
          <a:xfrm>
            <a:off x="6382512" y="1764792"/>
            <a:ext cx="384048" cy="384048"/>
          </a:xfrm>
          <a:prstGeom prst="ellipse">
            <a:avLst/>
          </a:prstGeom>
          <a:solidFill>
            <a:srgbClr val="0F172A"/>
          </a:solidFill>
          <a:ln/>
        </p:spPr>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sp>
      <p:sp>
        <p:nvSpPr>
          <p:cNvPr id="14" name="Shape 12"/>
          <p:cNvSpPr/>
          <p:nvPr/>
        </p:nvSpPr>
        <p:spPr>
          <a:xfrm>
            <a:off x="713232" y="3072384"/>
            <a:ext cx="384048" cy="384048"/>
          </a:xfrm>
          <a:prstGeom prst="ellipse">
            <a:avLst/>
          </a:prstGeom>
          <a:solidFill>
            <a:srgbClr val="0F172A"/>
          </a:solidFill>
          <a:ln/>
        </p:spPr>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sp>
      <p:sp>
        <p:nvSpPr>
          <p:cNvPr id="19" name="Shape 17"/>
          <p:cNvSpPr/>
          <p:nvPr/>
        </p:nvSpPr>
        <p:spPr>
          <a:xfrm>
            <a:off x="6382512" y="3072384"/>
            <a:ext cx="384048" cy="384048"/>
          </a:xfrm>
          <a:prstGeom prst="ellipse">
            <a:avLst/>
          </a:prstGeom>
          <a:solidFill>
            <a:srgbClr val="0F172A"/>
          </a:solidFill>
          <a:ln/>
        </p:spPr>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protection</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explicit exemption only for the signed Stripe webhook</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sp>
      <p:sp>
        <p:nvSpPr>
          <p:cNvPr id="24" name="Shape 22"/>
          <p:cNvSpPr/>
          <p:nvPr/>
        </p:nvSpPr>
        <p:spPr>
          <a:xfrm>
            <a:off x="713232" y="4379976"/>
            <a:ext cx="384048" cy="384048"/>
          </a:xfrm>
          <a:prstGeom prst="ellipse">
            <a:avLst/>
          </a:prstGeom>
          <a:solidFill>
            <a:srgbClr val="0F172A"/>
          </a:solidFill>
          <a:ln/>
        </p:spPr>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Account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5 failed logins locks the account for 15 minutes</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sp>
      <p:sp>
        <p:nvSpPr>
          <p:cNvPr id="29" name="Shape 27"/>
          <p:cNvSpPr/>
          <p:nvPr/>
        </p:nvSpPr>
        <p:spPr>
          <a:xfrm>
            <a:off x="6382512" y="4379976"/>
            <a:ext cx="384048" cy="384048"/>
          </a:xfrm>
          <a:prstGeom prst="ellipse">
            <a:avLst/>
          </a:prstGeom>
          <a:solidFill>
            <a:srgbClr val="0F172A"/>
          </a:solidFill>
          <a:ln/>
        </p:spPr>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sp>
      <p:sp>
        <p:nvSpPr>
          <p:cNvPr id="34" name="Shape 32"/>
          <p:cNvSpPr/>
          <p:nvPr/>
        </p:nvSpPr>
        <p:spPr>
          <a:xfrm>
            <a:off x="713232" y="5687568"/>
            <a:ext cx="384048" cy="384048"/>
          </a:xfrm>
          <a:prstGeom prst="ellipse">
            <a:avLst/>
          </a:prstGeom>
          <a:solidFill>
            <a:srgbClr val="0F172A"/>
          </a:solidFill>
          <a:ln/>
        </p:spPr>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sp>
      <p:sp>
        <p:nvSpPr>
          <p:cNvPr id="39" name="Shape 37"/>
          <p:cNvSpPr/>
          <p:nvPr/>
        </p:nvSpPr>
        <p:spPr>
          <a:xfrm>
            <a:off x="6382512" y="5687568"/>
            <a:ext cx="384048" cy="384048"/>
          </a:xfrm>
          <a:prstGeom prst="ellipse">
            <a:avLst/>
          </a:prstGeom>
          <a:solidFill>
            <a:srgbClr val="0F172A"/>
          </a:solidFill>
          <a:ln/>
        </p:spPr>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and 100% feature completion — every claim in this deck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202 automated tests, 0 failures, 82%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 feature gaps closed in Deliverable 5, plus 8 more in an extended billing engine</a:t>
            </a:r>
            <a:endParaRPr lang="en-US" sz="1400" dirty="0"/>
          </a:p>
        </p:txBody>
      </p:sp>
      <p:sp>
        <p:nvSpPr>
          <p:cNvPr id="16" name="Shape 14"/>
          <p:cNvSpPr/>
          <p:nvPr/>
        </p:nvSpPr>
        <p:spPr>
          <a:xfrm>
            <a:off x="548640" y="4434840"/>
            <a:ext cx="329184" cy="329184"/>
          </a:xfrm>
          <a:prstGeom prst="ellipse">
            <a:avLst/>
          </a:prstGeom>
          <a:solidFill>
            <a:srgbClr val="16A34A"/>
          </a:solidFill>
          <a:ln/>
        </p:spPr>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Scoped for IT Capstone Part 2 (IT402):</a:t>
            </a:r>
            <a:endParaRPr lang="en-US" sz="1400" dirty="0"/>
          </a:p>
        </p:txBody>
      </p:sp>
      <p:sp>
        <p:nvSpPr>
          <p:cNvPr id="4" name="Shape 2"/>
          <p:cNvSpPr/>
          <p:nvPr/>
        </p:nvSpPr>
        <p:spPr>
          <a:xfrm>
            <a:off x="548640" y="1691640"/>
            <a:ext cx="11064240" cy="960120"/>
          </a:xfrm>
          <a:prstGeom prst="roundRect">
            <a:avLst>
              <a:gd name="adj" fmla="val 7619"/>
            </a:avLst>
          </a:prstGeom>
          <a:solidFill>
            <a:srgbClr val="F1F5F9"/>
          </a:solidFill>
          <a:ln/>
        </p:spPr>
      </p:sp>
      <p:sp>
        <p:nvSpPr>
          <p:cNvPr id="5" name="Shape 3"/>
          <p:cNvSpPr/>
          <p:nvPr/>
        </p:nvSpPr>
        <p:spPr>
          <a:xfrm>
            <a:off x="777240" y="1920240"/>
            <a:ext cx="502920" cy="502920"/>
          </a:xfrm>
          <a:prstGeom prst="ellipse">
            <a:avLst/>
          </a:prstGeom>
          <a:solidFill>
            <a:srgbClr val="2563EB"/>
          </a:solidFill>
          <a:ln/>
        </p:spPr>
      </p:sp>
      <p:sp>
        <p:nvSpPr>
          <p:cNvPr id="6" name="Text 4"/>
          <p:cNvSpPr txBox="1"/>
          <p:nvPr/>
        </p:nvSpPr>
        <p:spPr>
          <a:xfrm>
            <a:off x="777240" y="19202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81051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Cloud file storage</a:t>
            </a:r>
            <a:endParaRPr lang="en-US" sz="1450" dirty="0"/>
          </a:p>
        </p:txBody>
      </p:sp>
      <p:sp>
        <p:nvSpPr>
          <p:cNvPr id="8" name="Text 6"/>
          <p:cNvSpPr txBox="1"/>
          <p:nvPr/>
        </p:nvSpPr>
        <p:spPr>
          <a:xfrm>
            <a:off x="5577840" y="181051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Swap local uploads/ for S3-compatible storage — already isolated behind a storage.py interface</a:t>
            </a:r>
            <a:endParaRPr lang="en-US" sz="1200" dirty="0"/>
          </a:p>
        </p:txBody>
      </p:sp>
      <p:sp>
        <p:nvSpPr>
          <p:cNvPr id="9" name="Shape 7"/>
          <p:cNvSpPr/>
          <p:nvPr/>
        </p:nvSpPr>
        <p:spPr>
          <a:xfrm>
            <a:off x="548640" y="2788920"/>
            <a:ext cx="11064240" cy="960120"/>
          </a:xfrm>
          <a:prstGeom prst="roundRect">
            <a:avLst>
              <a:gd name="adj" fmla="val 7619"/>
            </a:avLst>
          </a:prstGeom>
          <a:solidFill>
            <a:srgbClr val="FFFFFF"/>
          </a:solidFill>
          <a:ln w="12700">
            <a:solidFill>
              <a:srgbClr val="CBD5E1"/>
            </a:solidFill>
            <a:prstDash val="solid"/>
          </a:ln>
        </p:spPr>
      </p:sp>
      <p:sp>
        <p:nvSpPr>
          <p:cNvPr id="10" name="Shape 8"/>
          <p:cNvSpPr/>
          <p:nvPr/>
        </p:nvSpPr>
        <p:spPr>
          <a:xfrm>
            <a:off x="777240" y="3017520"/>
            <a:ext cx="502920" cy="502920"/>
          </a:xfrm>
          <a:prstGeom prst="ellipse">
            <a:avLst/>
          </a:prstGeom>
          <a:solidFill>
            <a:srgbClr val="2563EB"/>
          </a:solidFill>
          <a:ln/>
        </p:spPr>
      </p:sp>
      <p:sp>
        <p:nvSpPr>
          <p:cNvPr id="11" name="Text 9"/>
          <p:cNvSpPr txBox="1"/>
          <p:nvPr/>
        </p:nvSpPr>
        <p:spPr>
          <a:xfrm>
            <a:off x="777240" y="301752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90779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90779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886200"/>
            <a:ext cx="11064240" cy="960120"/>
          </a:xfrm>
          <a:prstGeom prst="roundRect">
            <a:avLst>
              <a:gd name="adj" fmla="val 7619"/>
            </a:avLst>
          </a:prstGeom>
          <a:solidFill>
            <a:srgbClr val="F1F5F9"/>
          </a:solidFill>
          <a:ln/>
        </p:spPr>
      </p:sp>
      <p:sp>
        <p:nvSpPr>
          <p:cNvPr id="15" name="Shape 13"/>
          <p:cNvSpPr/>
          <p:nvPr/>
        </p:nvSpPr>
        <p:spPr>
          <a:xfrm>
            <a:off x="777240" y="4114800"/>
            <a:ext cx="502920" cy="502920"/>
          </a:xfrm>
          <a:prstGeom prst="ellipse">
            <a:avLst/>
          </a:prstGeom>
          <a:solidFill>
            <a:srgbClr val="2563EB"/>
          </a:solidFill>
          <a:ln/>
        </p:spPr>
      </p:sp>
      <p:sp>
        <p:nvSpPr>
          <p:cNvPr id="16" name="Text 14"/>
          <p:cNvSpPr txBox="1"/>
          <p:nvPr/>
        </p:nvSpPr>
        <p:spPr>
          <a:xfrm>
            <a:off x="777240" y="41148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400507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Alembic schema migrations</a:t>
            </a:r>
            <a:endParaRPr lang="en-US" sz="1450" dirty="0"/>
          </a:p>
        </p:txBody>
      </p:sp>
      <p:sp>
        <p:nvSpPr>
          <p:cNvPr id="18" name="Text 16"/>
          <p:cNvSpPr txBox="1"/>
          <p:nvPr/>
        </p:nvSpPr>
        <p:spPr>
          <a:xfrm>
            <a:off x="5577840" y="400507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Replace the create_all() bootstrap with a real migration path for production data</a:t>
            </a:r>
            <a:endParaRPr lang="en-US" sz="1200" dirty="0"/>
          </a:p>
        </p:txBody>
      </p:sp>
      <p:sp>
        <p:nvSpPr>
          <p:cNvPr id="19" name="Shape 17"/>
          <p:cNvSpPr/>
          <p:nvPr/>
        </p:nvSpPr>
        <p:spPr>
          <a:xfrm>
            <a:off x="548640" y="4983480"/>
            <a:ext cx="11064240" cy="960120"/>
          </a:xfrm>
          <a:prstGeom prst="roundRect">
            <a:avLst>
              <a:gd name="adj" fmla="val 7619"/>
            </a:avLst>
          </a:prstGeom>
          <a:solidFill>
            <a:srgbClr val="FFFFFF"/>
          </a:solidFill>
          <a:ln w="12700">
            <a:solidFill>
              <a:srgbClr val="CBD5E1"/>
            </a:solidFill>
            <a:prstDash val="solid"/>
          </a:ln>
        </p:spPr>
      </p:sp>
      <p:sp>
        <p:nvSpPr>
          <p:cNvPr id="20" name="Shape 18"/>
          <p:cNvSpPr/>
          <p:nvPr/>
        </p:nvSpPr>
        <p:spPr>
          <a:xfrm>
            <a:off x="777240" y="5212080"/>
            <a:ext cx="502920" cy="502920"/>
          </a:xfrm>
          <a:prstGeom prst="ellipse">
            <a:avLst/>
          </a:prstGeom>
          <a:solidFill>
            <a:srgbClr val="2563EB"/>
          </a:solidFill>
          <a:ln/>
        </p:spPr>
      </p:sp>
      <p:sp>
        <p:nvSpPr>
          <p:cNvPr id="21" name="Text 19"/>
          <p:cNvSpPr txBox="1"/>
          <p:nvPr/>
        </p:nvSpPr>
        <p:spPr>
          <a:xfrm>
            <a:off x="777240" y="521208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510235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510235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15 / 16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sp>
      <p:sp>
        <p:nvSpPr>
          <p:cNvPr id="3" name="Shape 1"/>
          <p:cNvSpPr/>
          <p:nvPr/>
        </p:nvSpPr>
        <p:spPr>
          <a:xfrm>
            <a:off x="10058400" y="5029200"/>
            <a:ext cx="4114800" cy="4114800"/>
          </a:xfrm>
          <a:prstGeom prst="ellipse">
            <a:avLst/>
          </a:prstGeom>
          <a:solidFill>
            <a:srgbClr val="1E293B"/>
          </a:solidFill>
          <a:ln/>
        </p:spPr>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IT401 Capstone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2026-09-22T20:22:33Z</dcterms:created>
  <dcterms:modified xsi:type="dcterms:W3CDTF">2026-09-22T20:22:33Z</dcterms:modified>
</cp:coreProperties>
</file>