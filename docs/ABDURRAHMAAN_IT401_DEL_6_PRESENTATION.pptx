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72A"/>
                </a:solidFill>
                <a:latin typeface="Arial"/>
              </a:defRPr>
            </a:pPr>
            <a:r>
              <a:rPr sz="1300" b="0" i="0" u="none" strike="noStrike">
                <a:solidFill>
                  <a:srgbClr val="0F172A"/>
                </a:solidFill>
                <a:latin typeface="Arial"/>
              </a:rPr>
              <a:t>Tests per Module</a:t>
            </a:r>
          </a:p>
        </c:rich>
      </c:tx>
      <c:layout/>
      <c:overlay val="0"/>
    </c:title>
    <c:autoTitleDeleted val="0"/>
    <c:plotArea>
      <c:layout/>
      <c:barChart>
        <c:barDir val="col"/>
        <c:grouping val="clustered"/>
        <c:varyColors val="0"/>
        <c:ser>
          <c:idx val="0"/>
          <c:order val="0"/>
          <c:tx>
            <c:strRef>
              <c:f>Sheet1!$B$1</c:f>
              <c:strCache>
                <c:ptCount val="1"/>
                <c:pt idx="0">
                  <c:v>Tests</c:v>
                </c:pt>
              </c:strCache>
            </c:strRef>
          </c:tx>
          <c:spPr>
            <a:solidFill>
              <a:srgbClr val="2563EB"/>
            </a:solidFill>
            <a:effectLst/>
          </c:spPr>
          <c:invertIfNegative val="0"/>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cat>
            <c:multiLvlStrRef>
              <c:f>Sheet1!$A$2:$A$8</c:f>
              <c:multiLvlStrCache>
                <c:ptCount val="7"/>
                <c:lvl>
                  <c:pt idx="0">
                    <c:v>Models</c:v>
                  </c:pt>
                  <c:pt idx="1">
                    <c:v>Auth</c:v>
                  </c:pt>
                  <c:pt idx="2">
                    <c:v>Routes</c:v>
                  </c:pt>
                  <c:pt idx="3">
                    <c:v>Scheduler</c:v>
                  </c:pt>
                  <c:pt idx="4">
                    <c:v>Validation</c:v>
                  </c:pt>
                  <c:pt idx="5">
                    <c:v>Deliv. 5</c:v>
                  </c:pt>
                  <c:pt idx="6">
                    <c:v>Billing</c:v>
                  </c:pt>
                </c:lvl>
              </c:multiLvlStrCache>
            </c:multiLvlStrRef>
          </c:cat>
          <c:val>
            <c:numRef>
              <c:f>Sheet1!$B$2:$B$8</c:f>
              <c:numCache>
                <c:formatCode>General</c:formatCode>
                <c:ptCount val="7"/>
                <c:pt idx="0">
                  <c:v>18</c:v>
                </c:pt>
                <c:pt idx="1">
                  <c:v>14</c:v>
                </c:pt>
                <c:pt idx="2">
                  <c:v>16</c:v>
                </c:pt>
                <c:pt idx="3">
                  <c:v>9</c:v>
                </c:pt>
                <c:pt idx="4">
                  <c:v>36</c:v>
                </c:pt>
                <c:pt idx="5">
                  <c:v>31</c:v>
                </c:pt>
                <c:pt idx="6">
                  <c:v>78</c:v>
                </c:pt>
              </c:numCache>
            </c:numRef>
          </c:val>
        </c:ser>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My name is Abdurrahmaan Ali, and today I'm presenting RentalPro, a Digital Rental Management System built as my IT401 capstone project. Over the next few minutes I'll walk through the problem this system solves, how it was designed and built, and the results of testing it — including a live demo of the working application. All six project deliverables — requirements, design, the working prototype, the full project report, 100% feature completion, and the final demo and presentation package — are finished, tested, and documented. Since then, I've also extended the system with a full billing engine, which I'll cover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landlords and property managers are still running their business on spreadsheets, paper leases, and sticky notes. That creates four real problems: there's no single source of truth for rent and lease data; nothing proactively catches missed rent or an expiring lease; cash payments and verbal maintenance requests leave no accountability trail; and tenants have no way to self-serve — they have to call or email for a balance or a repair update. RentalPro is built for five kinds of users on one platform: Property Owners, Property Managers, Tenants, Maintenance Staff, and Administrators — replacing the spreadsheet with one accountable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guided the whole project. First, centralize property and lease data into one record instead of scattered spreadsheets. Second, automate the reminders landlords actually miss — lease expiry, rent due, overdue rent, and overdue maintenance all fire from background jobs, not a human remembering. Third, give every one of the five roles a scoped view, enforced by role-based access control plus ownership checks — one Owner literally cannot query another Owner's data. Fourth, make every record auditable: payments are immutable, and every state change writes to an append-only audit log. And fifth — the one I'll spend the most time proving today — ship it fully tested. Not just working, but 100% of the requirements implemented and covered by an automated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1 was the Software Requirements Specification — 25 use cases across six functional areas: authentication and RBAC, property and unit management, the full tenant lifecycle from onboarding to self-service, rent and payments including automated alerts, the six-stage maintenance lifecycle, and reporting. Every one of these 25 use cases — I'll show this again in the testing section — ended up with a route, a template, and at least one automated test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2 turned those 25 use cases into a UML class diagram and a 13-table relational schema. Every table uses a UUID string primary key instead of an auto-increment integer, specifically so the identical schema runs unmodified on SQLite in development and test, and PostgreSQL in production. A few other decisions from this design carried straight through into the build: naive UTC timestamps to avoid timezone bugs across environments, soft status fields instead of physical deletes so history is never lost, rent payments that are only ever inserted and never edited, and JSON columns on the audit log so any entity's before-and-after state can be captured without a schema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is a layered Flask monolith — deliberately simplified from Deliverable 2's more ambitious microservice sketch, because a single developer needed to build and verify it in the time available. Presentation is 35 Jinja2 templates behind role-aware navigation. The application layer is 10 Flask Blueprints — one each for auth, properties, tenants, rent, maintenance, admin, reports, the tenant portal, and the REST API. Below that, the domain and service layer holds security.py for RBAC and IDOR protection, the four scheduler jobs, and a services package for PDF generation, Excel export, notifications, and payments. Data is 13 SQLAlchemy models with UUID keys. And infrastructure is Docker Compose running PostgreSQL and Redis, with a dev-mode fallback for every paid external service — which is what let me build and test this entire system without a single paid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 in RentalPro is scoped to one of five roles. Owners create and edit properties and units, configure late fees, and see the full portfolio report. Managers work within properties an Owner already added — onboarding and, new in Deliverable 5, blacklisting tenants, and assigning maintenance work. Tenants get a self-service portal: pay rent online, and submit maintenance requests with photos. Staff see only their own assigned work queue — nothing else in the system is visible to them. And Administrators get full data visibility plus, again new in Deliverable 5, a dedicated console for managing every user's role and account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5 is where the project went from working to 100% complete against the original requirements. Eight gaps were identified and closed: photo uploads for properties, units, and maintenance tickets, all validated by their actual file content, not just the extension; configurable late fees, fixed or percentage, applied automatically once rent is overdue; tenant blacklisting, which blocks a future lease without touching an existing one; tenant ID document upload; the admin user console, with a safety guard that won't let you remove the last active Owner; self-service staff account creation; and one-click CSV and Excel export for rent history and portfolio reporting. Every one of these eight is covered by its own test module, which I'll show numbers for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original five deliverables, I extended RentalPro with a full billing engine — eight more capabilities, each additive so the existing 124 tests never had to change. Operational and sundry charges bill one-off costs straight to a lease. Electricity metering bills consumption automatically from a configured rate. Pro rata rent prorates a partial first month instead of charging it in full. Variable rent lets a lease's rate change mid-term — an annual escalation — while past periods stay billed at their own rate. A daily scheduler job now bills each period automatically and idempotently. Account statements support a real date range with an opening and closing balance, and tenants can view their own. Every payment gets a real downloadable PDF receipt. And property expenses now feed a true net income estimate, not just rent collected minus maintenance. Seventy-eight new tests back all of it, which the next slide's numbers include.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backs up every claim in this presentation. 202 automated tests, zero failures, 82 percent statement coverage across the backend, and all 25 use cases from the SRS covered by at least one test. The chart breaks that down by module — 36 validation tests, 31 for Deliverable 5's feature gaps, and 78 for the billing engine alone, the single largest test module in the project. Importantly, these aren't unit tests calling isolated functions — they go through Flask's real test client, issuing actual HTTP requests through session handling, CSRF, RBAC, and the ORM. That's how a real security bug like cross-owner data access — one Property Owner querying another Owner's property — gets caught before it ships,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it running. I'll walk through six things: first, an Owner setting up a property and unit with photos and a configured late fee. Second, onboarding a new tenant, uploading their lease, and watching the unit activate. Third, the Deliverable 5 blacklist toggle and recording a rent payment. Fourth, a full maintenance ticket lifecycle rotating through four different role logins — tenant submits, owner assigns, staff completes, tenant confirms. Fifth, the admin console for user management and creating a new staff account. And finally, the billing engine end to end — charges, metering, pro rata, a rent revision, the automated billing job's paper trail, a filtered account statement, a downloaded payment receipt, and a property expense feeding into net income. [Switch to the recorded demo video or live application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challenges stand out. The first was reconciling earlier, more ambitious design documents with what one developer could actually build and verify in the time available — I simplified Deliverable 2's microservice-style sketch into a layered monolith, and when I found Deliverable 3's original numbers had drifted from reality, I corrected the document rather than leaving the gap in place. Second, getting recurring billing correct at calendar edges — a lease starting on the 31st, or a due day that doesn't exist in February — meant writing the edge-case tests before trusting the calculation, not after. Third, testing payments, email, and SMS without a live paid account of any kind — solved with a dev-mode fallback pattern applied consistently across every external integration, which is also exactly what let this whole demo run offline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wasn't bolted on — eight controls run through every request. Passwords are hashed with 600,000 rounds of PBKDF2. Every protected route carries a role check, and every sensitive lookup also carries an ownership check at the resource level — the combination is what stops a second Property Owner from viewing the first Owner's data even though they share a role. CSRF protection covers every form, with one deliberate, documented exemption for the Stripe webhook, which instead carries its own manual HMAC verification with a replay window. Five failed logins locks an account for 15 minutes. Every file upload is validated by its actual magic bytes, not its claimed extension — so a ZIP renamed to .pdf, or a non-image file renamed to .jpg, gets rejected. And every state-changing action writes to an immutable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RentalPro went from a requirements document, through design, to a working prototype, a full seven-chapter project report, 100% feature completion, and now an extended billing engine — and every number on this slide was produced by actually running the code, not estimated. 25 of 25 use cases, each with a route and a covering test. The 13-table design implemented exactly as specified. 202 tests, zero failures, 82 percent coverage. Eight feature gaps closed in Deliverable 5, and eight more billing capabilities added since. And the whole thing runs fully offline, with zero paid external accounts required to build or test it. That discipline — that a claim in the report is a fact about the system, not a target for it — is, I'd argue, as much a deliverable of this capstone as the application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to Part 2 of the capstone: cloud file storage is the natural next step — and because photo and document storage is already isolated behind a small storage.py interface, that swap needs no changes to routes or templates. A mobile-optimized tenant portal is next, since tenants are the role most likely to use this from a phone. Alembic-based schema migrations would replace the create_all() bootstrap I used during development, which is fine pre-launch but not for a live database holding real tenant data. And finally, end-to-end verification against live Stripe, SendGrid, and Twilio sandbox accounts, on top of the offline test suite that's carried the project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RentalPro — a fully-implemented, fully-tested digital rental management system covering all six deliverables from requirements through the final demo and presentation package, plus an extended billing engine on top. I'm happy to take any questions — about a specific design decision, the test suite, the security model, or anything you'd like to see demonstrated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9692640" y="-1463040"/>
            <a:ext cx="4572000" cy="4572000"/>
          </a:xfrm>
          <a:prstGeom prst="ellipse">
            <a:avLst/>
          </a:prstGeom>
          <a:solidFill>
            <a:srgbClr val="1E293B"/>
          </a:solidFill>
          <a:ln/>
        </p:spPr>
      </p:sp>
      <p:sp>
        <p:nvSpPr>
          <p:cNvPr id="3" name="Shape 1"/>
          <p:cNvSpPr/>
          <p:nvPr/>
        </p:nvSpPr>
        <p:spPr>
          <a:xfrm>
            <a:off x="-1645920" y="4754880"/>
            <a:ext cx="3657600" cy="3657600"/>
          </a:xfrm>
          <a:prstGeom prst="ellipse">
            <a:avLst/>
          </a:prstGeom>
          <a:solidFill>
            <a:srgbClr val="1E293B"/>
          </a:solidFill>
          <a:ln/>
        </p:spPr>
      </p:sp>
      <p:sp>
        <p:nvSpPr>
          <p:cNvPr id="4" name="Text 2"/>
          <p:cNvSpPr txBox="1"/>
          <p:nvPr/>
        </p:nvSpPr>
        <p:spPr>
          <a:xfrm>
            <a:off x="822960" y="2331720"/>
            <a:ext cx="105156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RentalPro</a:t>
            </a:r>
            <a:endParaRPr lang="en-US" sz="5400" dirty="0"/>
          </a:p>
        </p:txBody>
      </p:sp>
      <p:sp>
        <p:nvSpPr>
          <p:cNvPr id="5" name="Text 3"/>
          <p:cNvSpPr txBox="1"/>
          <p:nvPr/>
        </p:nvSpPr>
        <p:spPr>
          <a:xfrm>
            <a:off x="868680" y="3310128"/>
            <a:ext cx="100584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Digital Rental Management System</a:t>
            </a:r>
            <a:endParaRPr lang="en-US" sz="2200" dirty="0"/>
          </a:p>
        </p:txBody>
      </p:sp>
      <p:sp>
        <p:nvSpPr>
          <p:cNvPr id="6" name="Text 4"/>
          <p:cNvSpPr txBox="1"/>
          <p:nvPr/>
        </p:nvSpPr>
        <p:spPr>
          <a:xfrm>
            <a:off x="868680" y="3913632"/>
            <a:ext cx="10058400" cy="457200"/>
          </a:xfrm>
          <a:prstGeom prst="rect">
            <a:avLst/>
          </a:prstGeom>
          <a:noFill/>
          <a:ln/>
        </p:spPr>
        <p:txBody>
          <a:bodyPr wrap="square" lIns="0" tIns="0" rIns="0" bIns="0" rtlCol="0" anchor="ctr"/>
          <a:lstStyle/>
          <a:p>
            <a:pPr indent="0" marL="0">
              <a:buNone/>
            </a:pPr>
            <a:r>
              <a:rPr lang="en-US" sz="1500" dirty="0">
                <a:solidFill>
                  <a:srgbClr val="94A3B8"/>
                </a:solidFill>
                <a:latin typeface="Calibri" pitchFamily="34" charset="0"/>
                <a:ea typeface="Calibri" pitchFamily="34" charset="-122"/>
                <a:cs typeface="Calibri" pitchFamily="34" charset="-120"/>
              </a:rPr>
              <a:t>IT401 Capstone Project Defense  ·  Deliverables 1–6 Complete + Billing Engine</a:t>
            </a:r>
            <a:endParaRPr lang="en-US" sz="1500" dirty="0"/>
          </a:p>
        </p:txBody>
      </p:sp>
      <p:sp>
        <p:nvSpPr>
          <p:cNvPr id="7" name="Shape 5"/>
          <p:cNvSpPr/>
          <p:nvPr/>
        </p:nvSpPr>
        <p:spPr>
          <a:xfrm>
            <a:off x="868680" y="4663440"/>
            <a:ext cx="0" cy="1005840"/>
          </a:xfrm>
          <a:prstGeom prst="line">
            <a:avLst/>
          </a:prstGeom>
          <a:noFill/>
          <a:ln w="38100">
            <a:solidFill>
              <a:srgbClr val="2563EB"/>
            </a:solidFill>
            <a:prstDash val="solid"/>
          </a:ln>
        </p:spPr>
      </p:sp>
      <p:sp>
        <p:nvSpPr>
          <p:cNvPr id="8" name="Text 6"/>
          <p:cNvSpPr txBox="1"/>
          <p:nvPr/>
        </p:nvSpPr>
        <p:spPr>
          <a:xfrm>
            <a:off x="1097280" y="4709160"/>
            <a:ext cx="5486400" cy="822960"/>
          </a:xfrm>
          <a:prstGeom prst="rect">
            <a:avLst/>
          </a:prstGeom>
          <a:noFill/>
          <a:ln/>
        </p:spPr>
        <p:txBody>
          <a:bodyPr wrap="square" lIns="0" tIns="0" rIns="0" bIns="0" rtlCol="0" anchor="ctr"/>
          <a:lstStyle/>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Presented by: Abdurrahmaan Ali</a:t>
            </a:r>
            <a:endParaRPr lang="en-US" sz="1300" dirty="0"/>
          </a:p>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Course: IT401 — IT Capstone 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The Problem</a:t>
            </a:r>
            <a:endParaRPr lang="en-US" sz="3200" dirty="0"/>
          </a:p>
        </p:txBody>
      </p:sp>
      <p:sp>
        <p:nvSpPr>
          <p:cNvPr id="3" name="Text 1"/>
          <p:cNvSpPr txBox="1"/>
          <p:nvPr/>
        </p:nvSpPr>
        <p:spPr>
          <a:xfrm>
            <a:off x="548640" y="1143000"/>
            <a:ext cx="6035040" cy="822960"/>
          </a:xfrm>
          <a:prstGeom prst="rect">
            <a:avLst/>
          </a:prstGeom>
          <a:noFill/>
          <a:ln/>
        </p:spPr>
        <p:txBody>
          <a:bodyPr wrap="square" lIns="0" tIns="0" rIns="0" bIns="0" rtlCol="0" anchor="ctr"/>
          <a:lstStyle/>
          <a:p>
            <a:pPr indent="0" marL="0">
              <a:buNone/>
            </a:pPr>
            <a:r>
              <a:rPr lang="en-US" sz="1500" dirty="0">
                <a:solidFill>
                  <a:srgbClr val="475569"/>
                </a:solidFill>
                <a:latin typeface="Calibri" pitchFamily="34" charset="0"/>
                <a:ea typeface="Calibri" pitchFamily="34" charset="-122"/>
                <a:cs typeface="Calibri" pitchFamily="34" charset="-120"/>
              </a:rPr>
              <a:t>Independent landlords and small property managers still run their business on spreadsheets, paper leases, and manual reminders.</a:t>
            </a:r>
            <a:endParaRPr lang="en-US" sz="1500" dirty="0"/>
          </a:p>
        </p:txBody>
      </p:sp>
      <p:sp>
        <p:nvSpPr>
          <p:cNvPr id="4" name="Shape 2"/>
          <p:cNvSpPr/>
          <p:nvPr/>
        </p:nvSpPr>
        <p:spPr>
          <a:xfrm>
            <a:off x="548640" y="2148840"/>
            <a:ext cx="411480" cy="411480"/>
          </a:xfrm>
          <a:prstGeom prst="ellipse">
            <a:avLst/>
          </a:prstGeom>
          <a:solidFill>
            <a:srgbClr val="2563EB"/>
          </a:solidFill>
          <a:ln/>
        </p:spPr>
      </p:sp>
      <p:sp>
        <p:nvSpPr>
          <p:cNvPr id="5" name="Text 3"/>
          <p:cNvSpPr txBox="1"/>
          <p:nvPr/>
        </p:nvSpPr>
        <p:spPr>
          <a:xfrm>
            <a:off x="548640" y="214884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143000" y="210312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single source of truth</a:t>
            </a:r>
            <a:endParaRPr lang="en-US" sz="1500" dirty="0"/>
          </a:p>
        </p:txBody>
      </p:sp>
      <p:sp>
        <p:nvSpPr>
          <p:cNvPr id="7" name="Text 5"/>
          <p:cNvSpPr txBox="1"/>
          <p:nvPr/>
        </p:nvSpPr>
        <p:spPr>
          <a:xfrm>
            <a:off x="1143000" y="242316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Rent, leases, and maintenance history live in different spreadsheets and email threads.</a:t>
            </a:r>
            <a:endParaRPr lang="en-US" sz="1200" dirty="0"/>
          </a:p>
        </p:txBody>
      </p:sp>
      <p:sp>
        <p:nvSpPr>
          <p:cNvPr id="8" name="Shape 6"/>
          <p:cNvSpPr/>
          <p:nvPr/>
        </p:nvSpPr>
        <p:spPr>
          <a:xfrm>
            <a:off x="548640" y="3108960"/>
            <a:ext cx="411480" cy="411480"/>
          </a:xfrm>
          <a:prstGeom prst="ellipse">
            <a:avLst/>
          </a:prstGeom>
          <a:solidFill>
            <a:srgbClr val="2563EB"/>
          </a:solidFill>
          <a:ln/>
        </p:spPr>
      </p:sp>
      <p:sp>
        <p:nvSpPr>
          <p:cNvPr id="9" name="Text 7"/>
          <p:cNvSpPr txBox="1"/>
          <p:nvPr/>
        </p:nvSpPr>
        <p:spPr>
          <a:xfrm>
            <a:off x="548640" y="310896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143000" y="306324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Missed rent and renewals</a:t>
            </a:r>
            <a:endParaRPr lang="en-US" sz="1500" dirty="0"/>
          </a:p>
        </p:txBody>
      </p:sp>
      <p:sp>
        <p:nvSpPr>
          <p:cNvPr id="11" name="Text 9"/>
          <p:cNvSpPr txBox="1"/>
          <p:nvPr/>
        </p:nvSpPr>
        <p:spPr>
          <a:xfrm>
            <a:off x="1143000" y="338328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Nothing proactively flags overdue rent or an expiring lease before it becomes a problem.</a:t>
            </a:r>
            <a:endParaRPr lang="en-US" sz="1200" dirty="0"/>
          </a:p>
        </p:txBody>
      </p:sp>
      <p:sp>
        <p:nvSpPr>
          <p:cNvPr id="12" name="Shape 10"/>
          <p:cNvSpPr/>
          <p:nvPr/>
        </p:nvSpPr>
        <p:spPr>
          <a:xfrm>
            <a:off x="548640" y="4069080"/>
            <a:ext cx="411480" cy="411480"/>
          </a:xfrm>
          <a:prstGeom prst="ellipse">
            <a:avLst/>
          </a:prstGeom>
          <a:solidFill>
            <a:srgbClr val="2563EB"/>
          </a:solidFill>
          <a:ln/>
        </p:spPr>
      </p:sp>
      <p:sp>
        <p:nvSpPr>
          <p:cNvPr id="13" name="Text 11"/>
          <p:cNvSpPr txBox="1"/>
          <p:nvPr/>
        </p:nvSpPr>
        <p:spPr>
          <a:xfrm>
            <a:off x="548640" y="406908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143000" y="402336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accountability trail</a:t>
            </a:r>
            <a:endParaRPr lang="en-US" sz="1500" dirty="0"/>
          </a:p>
        </p:txBody>
      </p:sp>
      <p:sp>
        <p:nvSpPr>
          <p:cNvPr id="15" name="Text 13"/>
          <p:cNvSpPr txBox="1"/>
          <p:nvPr/>
        </p:nvSpPr>
        <p:spPr>
          <a:xfrm>
            <a:off x="1143000" y="434340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Verbal maintenance requests and cash payments leave no audit trail for disputes.</a:t>
            </a:r>
            <a:endParaRPr lang="en-US" sz="1200" dirty="0"/>
          </a:p>
        </p:txBody>
      </p:sp>
      <p:sp>
        <p:nvSpPr>
          <p:cNvPr id="16" name="Shape 14"/>
          <p:cNvSpPr/>
          <p:nvPr/>
        </p:nvSpPr>
        <p:spPr>
          <a:xfrm>
            <a:off x="548640" y="5029200"/>
            <a:ext cx="411480" cy="411480"/>
          </a:xfrm>
          <a:prstGeom prst="ellipse">
            <a:avLst/>
          </a:prstGeom>
          <a:solidFill>
            <a:srgbClr val="2563EB"/>
          </a:solidFill>
          <a:ln/>
        </p:spPr>
      </p:sp>
      <p:sp>
        <p:nvSpPr>
          <p:cNvPr id="17" name="Text 15"/>
          <p:cNvSpPr txBox="1"/>
          <p:nvPr/>
        </p:nvSpPr>
        <p:spPr>
          <a:xfrm>
            <a:off x="548640" y="502920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143000" y="498348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self-service for tenants</a:t>
            </a:r>
            <a:endParaRPr lang="en-US" sz="1500" dirty="0"/>
          </a:p>
        </p:txBody>
      </p:sp>
      <p:sp>
        <p:nvSpPr>
          <p:cNvPr id="19" name="Text 17"/>
          <p:cNvSpPr txBox="1"/>
          <p:nvPr/>
        </p:nvSpPr>
        <p:spPr>
          <a:xfrm>
            <a:off x="1143000" y="530352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have to call or email for basics: a balance, a receipt, a repair update.</a:t>
            </a:r>
            <a:endParaRPr lang="en-US" sz="1200" dirty="0"/>
          </a:p>
        </p:txBody>
      </p:sp>
      <p:sp>
        <p:nvSpPr>
          <p:cNvPr id="20" name="Shape 18"/>
          <p:cNvSpPr/>
          <p:nvPr/>
        </p:nvSpPr>
        <p:spPr>
          <a:xfrm>
            <a:off x="7040880" y="1143000"/>
            <a:ext cx="4572000" cy="5074920"/>
          </a:xfrm>
          <a:prstGeom prst="roundRect">
            <a:avLst>
              <a:gd name="adj" fmla="val 2400"/>
            </a:avLst>
          </a:prstGeom>
          <a:solidFill>
            <a:srgbClr val="0F172A"/>
          </a:solidFill>
          <a:ln/>
        </p:spPr>
      </p:sp>
      <p:sp>
        <p:nvSpPr>
          <p:cNvPr id="21" name="Text 19"/>
          <p:cNvSpPr txBox="1"/>
          <p:nvPr/>
        </p:nvSpPr>
        <p:spPr>
          <a:xfrm>
            <a:off x="7406640" y="1417320"/>
            <a:ext cx="38404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Target Users</a:t>
            </a:r>
            <a:endParaRPr lang="en-US" sz="1600" dirty="0"/>
          </a:p>
        </p:txBody>
      </p:sp>
      <p:sp>
        <p:nvSpPr>
          <p:cNvPr id="22" name="Shape 20"/>
          <p:cNvSpPr/>
          <p:nvPr/>
        </p:nvSpPr>
        <p:spPr>
          <a:xfrm>
            <a:off x="7406640" y="2020824"/>
            <a:ext cx="109728" cy="109728"/>
          </a:xfrm>
          <a:prstGeom prst="ellipse">
            <a:avLst/>
          </a:prstGeom>
          <a:solidFill>
            <a:srgbClr val="16A34A"/>
          </a:solidFill>
          <a:ln/>
        </p:spPr>
      </p:sp>
      <p:sp>
        <p:nvSpPr>
          <p:cNvPr id="23" name="Text 21"/>
          <p:cNvSpPr txBox="1"/>
          <p:nvPr/>
        </p:nvSpPr>
        <p:spPr>
          <a:xfrm>
            <a:off x="7680960" y="187452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Owners</a:t>
            </a:r>
            <a:endParaRPr lang="en-US" sz="1400" dirty="0"/>
          </a:p>
        </p:txBody>
      </p:sp>
      <p:sp>
        <p:nvSpPr>
          <p:cNvPr id="24" name="Shape 22"/>
          <p:cNvSpPr/>
          <p:nvPr/>
        </p:nvSpPr>
        <p:spPr>
          <a:xfrm>
            <a:off x="7406640" y="2523744"/>
            <a:ext cx="109728" cy="109728"/>
          </a:xfrm>
          <a:prstGeom prst="ellipse">
            <a:avLst/>
          </a:prstGeom>
          <a:solidFill>
            <a:srgbClr val="16A34A"/>
          </a:solidFill>
          <a:ln/>
        </p:spPr>
      </p:sp>
      <p:sp>
        <p:nvSpPr>
          <p:cNvPr id="25" name="Text 23"/>
          <p:cNvSpPr txBox="1"/>
          <p:nvPr/>
        </p:nvSpPr>
        <p:spPr>
          <a:xfrm>
            <a:off x="7680960" y="237744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Managers</a:t>
            </a:r>
            <a:endParaRPr lang="en-US" sz="1400" dirty="0"/>
          </a:p>
        </p:txBody>
      </p:sp>
      <p:sp>
        <p:nvSpPr>
          <p:cNvPr id="26" name="Shape 24"/>
          <p:cNvSpPr/>
          <p:nvPr/>
        </p:nvSpPr>
        <p:spPr>
          <a:xfrm>
            <a:off x="7406640" y="3026664"/>
            <a:ext cx="109728" cy="109728"/>
          </a:xfrm>
          <a:prstGeom prst="ellipse">
            <a:avLst/>
          </a:prstGeom>
          <a:solidFill>
            <a:srgbClr val="16A34A"/>
          </a:solidFill>
          <a:ln/>
        </p:spPr>
      </p:sp>
      <p:sp>
        <p:nvSpPr>
          <p:cNvPr id="27" name="Text 25"/>
          <p:cNvSpPr txBox="1"/>
          <p:nvPr/>
        </p:nvSpPr>
        <p:spPr>
          <a:xfrm>
            <a:off x="7680960" y="288036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Tenants</a:t>
            </a:r>
            <a:endParaRPr lang="en-US" sz="1400" dirty="0"/>
          </a:p>
        </p:txBody>
      </p:sp>
      <p:sp>
        <p:nvSpPr>
          <p:cNvPr id="28" name="Shape 26"/>
          <p:cNvSpPr/>
          <p:nvPr/>
        </p:nvSpPr>
        <p:spPr>
          <a:xfrm>
            <a:off x="7406640" y="3529584"/>
            <a:ext cx="109728" cy="109728"/>
          </a:xfrm>
          <a:prstGeom prst="ellipse">
            <a:avLst/>
          </a:prstGeom>
          <a:solidFill>
            <a:srgbClr val="16A34A"/>
          </a:solidFill>
          <a:ln/>
        </p:spPr>
      </p:sp>
      <p:sp>
        <p:nvSpPr>
          <p:cNvPr id="29" name="Text 27"/>
          <p:cNvSpPr txBox="1"/>
          <p:nvPr/>
        </p:nvSpPr>
        <p:spPr>
          <a:xfrm>
            <a:off x="7680960" y="338328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Maintenance Staff</a:t>
            </a:r>
            <a:endParaRPr lang="en-US" sz="1400" dirty="0"/>
          </a:p>
        </p:txBody>
      </p:sp>
      <p:sp>
        <p:nvSpPr>
          <p:cNvPr id="30" name="Shape 28"/>
          <p:cNvSpPr/>
          <p:nvPr/>
        </p:nvSpPr>
        <p:spPr>
          <a:xfrm>
            <a:off x="7406640" y="4032504"/>
            <a:ext cx="109728" cy="109728"/>
          </a:xfrm>
          <a:prstGeom prst="ellipse">
            <a:avLst/>
          </a:prstGeom>
          <a:solidFill>
            <a:srgbClr val="16A34A"/>
          </a:solidFill>
          <a:ln/>
        </p:spPr>
      </p:sp>
      <p:sp>
        <p:nvSpPr>
          <p:cNvPr id="31" name="Text 29"/>
          <p:cNvSpPr txBox="1"/>
          <p:nvPr/>
        </p:nvSpPr>
        <p:spPr>
          <a:xfrm>
            <a:off x="7680960" y="388620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Administrators</a:t>
            </a:r>
            <a:endParaRPr lang="en-US" sz="1400" dirty="0"/>
          </a:p>
        </p:txBody>
      </p:sp>
      <p:sp>
        <p:nvSpPr>
          <p:cNvPr id="32" name="Text 30"/>
          <p:cNvSpPr txBox="1"/>
          <p:nvPr/>
        </p:nvSpPr>
        <p:spPr>
          <a:xfrm>
            <a:off x="7406640" y="5394960"/>
            <a:ext cx="3840480" cy="640080"/>
          </a:xfrm>
          <a:prstGeom prst="rect">
            <a:avLst/>
          </a:prstGeom>
          <a:noFill/>
          <a:ln/>
        </p:spPr>
        <p:txBody>
          <a:bodyPr wrap="square" lIns="0" tIns="0" rIns="0" bIns="0" rtlCol="0" anchor="ctr"/>
          <a:lstStyle/>
          <a:p>
            <a:pPr indent="0" marL="0">
              <a:buNone/>
            </a:pPr>
            <a:r>
              <a:rPr lang="en-US" sz="1300" i="1" dirty="0">
                <a:solidFill>
                  <a:srgbClr val="CADCFC"/>
                </a:solidFill>
                <a:latin typeface="Cambria" pitchFamily="34" charset="0"/>
                <a:ea typeface="Cambria" pitchFamily="34" charset="-122"/>
                <a:cs typeface="Cambria" pitchFamily="34" charset="-120"/>
              </a:rPr>
              <a:t>“One system, five roles, zero spreadsheets.”</a:t>
            </a:r>
            <a:endParaRPr lang="en-US" sz="130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Problem Statement</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2 / 16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Project Objectives</a:t>
            </a:r>
            <a:endParaRPr lang="en-US" sz="3200" dirty="0"/>
          </a:p>
        </p:txBody>
      </p:sp>
      <p:sp>
        <p:nvSpPr>
          <p:cNvPr id="3" name="Shape 1"/>
          <p:cNvSpPr/>
          <p:nvPr/>
        </p:nvSpPr>
        <p:spPr>
          <a:xfrm>
            <a:off x="548640" y="1371600"/>
            <a:ext cx="11064240" cy="868680"/>
          </a:xfrm>
          <a:prstGeom prst="roundRect">
            <a:avLst>
              <a:gd name="adj" fmla="val 8421"/>
            </a:avLst>
          </a:prstGeom>
          <a:solidFill>
            <a:srgbClr val="F1F5F9"/>
          </a:solidFill>
          <a:ln/>
        </p:spPr>
      </p:sp>
      <p:sp>
        <p:nvSpPr>
          <p:cNvPr id="4" name="Shape 2"/>
          <p:cNvSpPr/>
          <p:nvPr/>
        </p:nvSpPr>
        <p:spPr>
          <a:xfrm>
            <a:off x="777240" y="1572768"/>
            <a:ext cx="457200" cy="457200"/>
          </a:xfrm>
          <a:prstGeom prst="ellipse">
            <a:avLst/>
          </a:prstGeom>
          <a:solidFill>
            <a:srgbClr val="2563EB"/>
          </a:solidFill>
          <a:ln/>
        </p:spPr>
      </p:sp>
      <p:sp>
        <p:nvSpPr>
          <p:cNvPr id="5" name="Text 3"/>
          <p:cNvSpPr txBox="1"/>
          <p:nvPr/>
        </p:nvSpPr>
        <p:spPr>
          <a:xfrm>
            <a:off x="777240" y="15727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463040" y="144475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Centralize property &amp; lease data</a:t>
            </a:r>
            <a:endParaRPr lang="en-US" sz="1450" dirty="0"/>
          </a:p>
        </p:txBody>
      </p:sp>
      <p:sp>
        <p:nvSpPr>
          <p:cNvPr id="7" name="Text 5"/>
          <p:cNvSpPr txBox="1"/>
          <p:nvPr/>
        </p:nvSpPr>
        <p:spPr>
          <a:xfrm>
            <a:off x="5760720" y="144475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One record per property, unit, tenant, and lease — no duplicate spreadsheets.</a:t>
            </a:r>
            <a:endParaRPr lang="en-US" sz="1250" dirty="0"/>
          </a:p>
        </p:txBody>
      </p:sp>
      <p:sp>
        <p:nvSpPr>
          <p:cNvPr id="8" name="Shape 6"/>
          <p:cNvSpPr/>
          <p:nvPr/>
        </p:nvSpPr>
        <p:spPr>
          <a:xfrm>
            <a:off x="548640" y="2331720"/>
            <a:ext cx="11064240" cy="868680"/>
          </a:xfrm>
          <a:prstGeom prst="roundRect">
            <a:avLst>
              <a:gd name="adj" fmla="val 8421"/>
            </a:avLst>
          </a:prstGeom>
          <a:solidFill>
            <a:srgbClr val="FFFFFF"/>
          </a:solidFill>
          <a:ln/>
        </p:spPr>
      </p:sp>
      <p:sp>
        <p:nvSpPr>
          <p:cNvPr id="9" name="Shape 7"/>
          <p:cNvSpPr/>
          <p:nvPr/>
        </p:nvSpPr>
        <p:spPr>
          <a:xfrm>
            <a:off x="777240" y="2532888"/>
            <a:ext cx="457200" cy="457200"/>
          </a:xfrm>
          <a:prstGeom prst="ellipse">
            <a:avLst/>
          </a:prstGeom>
          <a:solidFill>
            <a:srgbClr val="2563EB"/>
          </a:solidFill>
          <a:ln/>
        </p:spPr>
      </p:sp>
      <p:sp>
        <p:nvSpPr>
          <p:cNvPr id="10" name="Text 8"/>
          <p:cNvSpPr txBox="1"/>
          <p:nvPr/>
        </p:nvSpPr>
        <p:spPr>
          <a:xfrm>
            <a:off x="777240"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463040" y="240487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Automate the reminders that get missed</a:t>
            </a:r>
            <a:endParaRPr lang="en-US" sz="1450" dirty="0"/>
          </a:p>
        </p:txBody>
      </p:sp>
      <p:sp>
        <p:nvSpPr>
          <p:cNvPr id="12" name="Text 10"/>
          <p:cNvSpPr txBox="1"/>
          <p:nvPr/>
        </p:nvSpPr>
        <p:spPr>
          <a:xfrm>
            <a:off x="5760720" y="240487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Background jobs alert on lease expiry, rent due, overdue rent, and overdue maintenance.</a:t>
            </a:r>
            <a:endParaRPr lang="en-US" sz="1250" dirty="0"/>
          </a:p>
        </p:txBody>
      </p:sp>
      <p:sp>
        <p:nvSpPr>
          <p:cNvPr id="13" name="Shape 11"/>
          <p:cNvSpPr/>
          <p:nvPr/>
        </p:nvSpPr>
        <p:spPr>
          <a:xfrm>
            <a:off x="548640" y="3291840"/>
            <a:ext cx="11064240" cy="868680"/>
          </a:xfrm>
          <a:prstGeom prst="roundRect">
            <a:avLst>
              <a:gd name="adj" fmla="val 8421"/>
            </a:avLst>
          </a:prstGeom>
          <a:solidFill>
            <a:srgbClr val="F1F5F9"/>
          </a:solidFill>
          <a:ln/>
        </p:spPr>
      </p:sp>
      <p:sp>
        <p:nvSpPr>
          <p:cNvPr id="14" name="Shape 12"/>
          <p:cNvSpPr/>
          <p:nvPr/>
        </p:nvSpPr>
        <p:spPr>
          <a:xfrm>
            <a:off x="777240" y="3493008"/>
            <a:ext cx="457200" cy="457200"/>
          </a:xfrm>
          <a:prstGeom prst="ellipse">
            <a:avLst/>
          </a:prstGeom>
          <a:solidFill>
            <a:srgbClr val="2563EB"/>
          </a:solidFill>
          <a:ln/>
        </p:spPr>
      </p:sp>
      <p:sp>
        <p:nvSpPr>
          <p:cNvPr id="15" name="Text 13"/>
          <p:cNvSpPr txBox="1"/>
          <p:nvPr/>
        </p:nvSpPr>
        <p:spPr>
          <a:xfrm>
            <a:off x="777240" y="34930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1463040" y="336499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Give every role a role-scoped view</a:t>
            </a:r>
            <a:endParaRPr lang="en-US" sz="1450" dirty="0"/>
          </a:p>
        </p:txBody>
      </p:sp>
      <p:sp>
        <p:nvSpPr>
          <p:cNvPr id="17" name="Text 15"/>
          <p:cNvSpPr txBox="1"/>
          <p:nvPr/>
        </p:nvSpPr>
        <p:spPr>
          <a:xfrm>
            <a:off x="5760720" y="336499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RBAC + ownership checks so an Owner never sees another Owner’s portfolio.</a:t>
            </a:r>
            <a:endParaRPr lang="en-US" sz="1250" dirty="0"/>
          </a:p>
        </p:txBody>
      </p:sp>
      <p:sp>
        <p:nvSpPr>
          <p:cNvPr id="18" name="Shape 16"/>
          <p:cNvSpPr/>
          <p:nvPr/>
        </p:nvSpPr>
        <p:spPr>
          <a:xfrm>
            <a:off x="548640" y="4251960"/>
            <a:ext cx="11064240" cy="868680"/>
          </a:xfrm>
          <a:prstGeom prst="roundRect">
            <a:avLst>
              <a:gd name="adj" fmla="val 8421"/>
            </a:avLst>
          </a:prstGeom>
          <a:solidFill>
            <a:srgbClr val="FFFFFF"/>
          </a:solidFill>
          <a:ln/>
        </p:spPr>
      </p:sp>
      <p:sp>
        <p:nvSpPr>
          <p:cNvPr id="19" name="Shape 17"/>
          <p:cNvSpPr/>
          <p:nvPr/>
        </p:nvSpPr>
        <p:spPr>
          <a:xfrm>
            <a:off x="777240" y="4453128"/>
            <a:ext cx="457200" cy="457200"/>
          </a:xfrm>
          <a:prstGeom prst="ellipse">
            <a:avLst/>
          </a:prstGeom>
          <a:solidFill>
            <a:srgbClr val="2563EB"/>
          </a:solidFill>
          <a:ln/>
        </p:spPr>
      </p:sp>
      <p:sp>
        <p:nvSpPr>
          <p:cNvPr id="20" name="Text 18"/>
          <p:cNvSpPr txBox="1"/>
          <p:nvPr/>
        </p:nvSpPr>
        <p:spPr>
          <a:xfrm>
            <a:off x="777240" y="4453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1463040" y="432511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Make every record auditable</a:t>
            </a:r>
            <a:endParaRPr lang="en-US" sz="1450" dirty="0"/>
          </a:p>
        </p:txBody>
      </p:sp>
      <p:sp>
        <p:nvSpPr>
          <p:cNvPr id="22" name="Text 20"/>
          <p:cNvSpPr txBox="1"/>
          <p:nvPr/>
        </p:nvSpPr>
        <p:spPr>
          <a:xfrm>
            <a:off x="5760720" y="432511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Immutable payments and an append-only audit log — no silent edits.</a:t>
            </a:r>
            <a:endParaRPr lang="en-US" sz="1250" dirty="0"/>
          </a:p>
        </p:txBody>
      </p:sp>
      <p:sp>
        <p:nvSpPr>
          <p:cNvPr id="23" name="Shape 21"/>
          <p:cNvSpPr/>
          <p:nvPr/>
        </p:nvSpPr>
        <p:spPr>
          <a:xfrm>
            <a:off x="548640" y="5212080"/>
            <a:ext cx="11064240" cy="868680"/>
          </a:xfrm>
          <a:prstGeom prst="roundRect">
            <a:avLst>
              <a:gd name="adj" fmla="val 8421"/>
            </a:avLst>
          </a:prstGeom>
          <a:solidFill>
            <a:srgbClr val="F1F5F9"/>
          </a:solidFill>
          <a:ln/>
        </p:spPr>
      </p:sp>
      <p:sp>
        <p:nvSpPr>
          <p:cNvPr id="24" name="Shape 22"/>
          <p:cNvSpPr/>
          <p:nvPr/>
        </p:nvSpPr>
        <p:spPr>
          <a:xfrm>
            <a:off x="777240" y="5413248"/>
            <a:ext cx="457200" cy="457200"/>
          </a:xfrm>
          <a:prstGeom prst="ellipse">
            <a:avLst/>
          </a:prstGeom>
          <a:solidFill>
            <a:srgbClr val="16A34A"/>
          </a:solidFill>
          <a:ln/>
        </p:spPr>
      </p:sp>
      <p:sp>
        <p:nvSpPr>
          <p:cNvPr id="25" name="Text 23"/>
          <p:cNvSpPr txBox="1"/>
          <p:nvPr/>
        </p:nvSpPr>
        <p:spPr>
          <a:xfrm>
            <a:off x="777240" y="54132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6" name="Text 24"/>
          <p:cNvSpPr txBox="1"/>
          <p:nvPr/>
        </p:nvSpPr>
        <p:spPr>
          <a:xfrm>
            <a:off x="1463040" y="528523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Ship it fully tested, not just working</a:t>
            </a:r>
            <a:endParaRPr lang="en-US" sz="1450" dirty="0"/>
          </a:p>
        </p:txBody>
      </p:sp>
      <p:sp>
        <p:nvSpPr>
          <p:cNvPr id="27" name="Text 25"/>
          <p:cNvSpPr txBox="1"/>
          <p:nvPr/>
        </p:nvSpPr>
        <p:spPr>
          <a:xfrm>
            <a:off x="5760720" y="528523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100% of SRS requirements implemented and covered by an automated test.</a:t>
            </a:r>
            <a:endParaRPr lang="en-US" sz="125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Objectives</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3 / 16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Requirements — Deliverable 1</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The Software Requirements Specification defined 25 use cases across six functional areas.</a:t>
            </a:r>
            <a:endParaRPr lang="en-US" sz="1400" dirty="0"/>
          </a:p>
        </p:txBody>
      </p:sp>
      <p:sp>
        <p:nvSpPr>
          <p:cNvPr id="4" name="Shape 2"/>
          <p:cNvSpPr/>
          <p:nvPr/>
        </p:nvSpPr>
        <p:spPr>
          <a:xfrm>
            <a:off x="54864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5" name="Text 3"/>
          <p:cNvSpPr txBox="1"/>
          <p:nvPr/>
        </p:nvSpPr>
        <p:spPr>
          <a:xfrm>
            <a:off x="77724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Auth &amp; RBAC</a:t>
            </a:r>
            <a:endParaRPr lang="en-US" sz="1450" dirty="0"/>
          </a:p>
        </p:txBody>
      </p:sp>
      <p:sp>
        <p:nvSpPr>
          <p:cNvPr id="6" name="Text 4"/>
          <p:cNvSpPr txBox="1"/>
          <p:nvPr/>
        </p:nvSpPr>
        <p:spPr>
          <a:xfrm>
            <a:off x="77724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7" name="Text 5"/>
          <p:cNvSpPr txBox="1"/>
          <p:nvPr/>
        </p:nvSpPr>
        <p:spPr>
          <a:xfrm>
            <a:off x="77724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Login, role-based access for 5 roles</a:t>
            </a:r>
            <a:endParaRPr lang="en-US" sz="1100" dirty="0"/>
          </a:p>
        </p:txBody>
      </p:sp>
      <p:sp>
        <p:nvSpPr>
          <p:cNvPr id="8" name="Shape 6"/>
          <p:cNvSpPr/>
          <p:nvPr/>
        </p:nvSpPr>
        <p:spPr>
          <a:xfrm>
            <a:off x="434340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9" name="Text 7"/>
          <p:cNvSpPr txBox="1"/>
          <p:nvPr/>
        </p:nvSpPr>
        <p:spPr>
          <a:xfrm>
            <a:off x="457200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Property &amp; Unit Mgmt</a:t>
            </a:r>
            <a:endParaRPr lang="en-US" sz="1450" dirty="0"/>
          </a:p>
        </p:txBody>
      </p:sp>
      <p:sp>
        <p:nvSpPr>
          <p:cNvPr id="10" name="Text 8"/>
          <p:cNvSpPr txBox="1"/>
          <p:nvPr/>
        </p:nvSpPr>
        <p:spPr>
          <a:xfrm>
            <a:off x="457200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3 use cases</a:t>
            </a:r>
            <a:endParaRPr lang="en-US" sz="1800" dirty="0"/>
          </a:p>
        </p:txBody>
      </p:sp>
      <p:sp>
        <p:nvSpPr>
          <p:cNvPr id="11" name="Text 9"/>
          <p:cNvSpPr txBox="1"/>
          <p:nvPr/>
        </p:nvSpPr>
        <p:spPr>
          <a:xfrm>
            <a:off x="457200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Add/edit properties, units, dashboard</a:t>
            </a:r>
            <a:endParaRPr lang="en-US" sz="1100" dirty="0"/>
          </a:p>
        </p:txBody>
      </p:sp>
      <p:sp>
        <p:nvSpPr>
          <p:cNvPr id="12" name="Shape 10"/>
          <p:cNvSpPr/>
          <p:nvPr/>
        </p:nvSpPr>
        <p:spPr>
          <a:xfrm>
            <a:off x="813816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13" name="Text 11"/>
          <p:cNvSpPr txBox="1"/>
          <p:nvPr/>
        </p:nvSpPr>
        <p:spPr>
          <a:xfrm>
            <a:off x="836676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Tenant Lifecycle</a:t>
            </a:r>
            <a:endParaRPr lang="en-US" sz="1450" dirty="0"/>
          </a:p>
        </p:txBody>
      </p:sp>
      <p:sp>
        <p:nvSpPr>
          <p:cNvPr id="14" name="Text 12"/>
          <p:cNvSpPr txBox="1"/>
          <p:nvPr/>
        </p:nvSpPr>
        <p:spPr>
          <a:xfrm>
            <a:off x="836676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4 use cases</a:t>
            </a:r>
            <a:endParaRPr lang="en-US" sz="1800" dirty="0"/>
          </a:p>
        </p:txBody>
      </p:sp>
      <p:sp>
        <p:nvSpPr>
          <p:cNvPr id="15" name="Text 13"/>
          <p:cNvSpPr txBox="1"/>
          <p:nvPr/>
        </p:nvSpPr>
        <p:spPr>
          <a:xfrm>
            <a:off x="836676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Onboarding, invites, leases, portal</a:t>
            </a:r>
            <a:endParaRPr lang="en-US" sz="1100" dirty="0"/>
          </a:p>
        </p:txBody>
      </p:sp>
      <p:sp>
        <p:nvSpPr>
          <p:cNvPr id="16" name="Shape 14"/>
          <p:cNvSpPr/>
          <p:nvPr/>
        </p:nvSpPr>
        <p:spPr>
          <a:xfrm>
            <a:off x="54864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17" name="Text 15"/>
          <p:cNvSpPr txBox="1"/>
          <p:nvPr/>
        </p:nvSpPr>
        <p:spPr>
          <a:xfrm>
            <a:off x="77724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Rent &amp; Payments</a:t>
            </a:r>
            <a:endParaRPr lang="en-US" sz="1450" dirty="0"/>
          </a:p>
        </p:txBody>
      </p:sp>
      <p:sp>
        <p:nvSpPr>
          <p:cNvPr id="18" name="Text 16"/>
          <p:cNvSpPr txBox="1"/>
          <p:nvPr/>
        </p:nvSpPr>
        <p:spPr>
          <a:xfrm>
            <a:off x="77724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19" name="Text 17"/>
          <p:cNvSpPr txBox="1"/>
          <p:nvPr/>
        </p:nvSpPr>
        <p:spPr>
          <a:xfrm>
            <a:off x="77724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Recording, statements, alerts, history</a:t>
            </a:r>
            <a:endParaRPr lang="en-US" sz="1100" dirty="0"/>
          </a:p>
        </p:txBody>
      </p:sp>
      <p:sp>
        <p:nvSpPr>
          <p:cNvPr id="20" name="Shape 18"/>
          <p:cNvSpPr/>
          <p:nvPr/>
        </p:nvSpPr>
        <p:spPr>
          <a:xfrm>
            <a:off x="434340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21" name="Text 19"/>
          <p:cNvSpPr txBox="1"/>
          <p:nvPr/>
        </p:nvSpPr>
        <p:spPr>
          <a:xfrm>
            <a:off x="457200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Maintenance</a:t>
            </a:r>
            <a:endParaRPr lang="en-US" sz="1450" dirty="0"/>
          </a:p>
        </p:txBody>
      </p:sp>
      <p:sp>
        <p:nvSpPr>
          <p:cNvPr id="22" name="Text 20"/>
          <p:cNvSpPr txBox="1"/>
          <p:nvPr/>
        </p:nvSpPr>
        <p:spPr>
          <a:xfrm>
            <a:off x="457200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23" name="Text 21"/>
          <p:cNvSpPr txBox="1"/>
          <p:nvPr/>
        </p:nvSpPr>
        <p:spPr>
          <a:xfrm>
            <a:off x="457200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Submit through close, cost tracking</a:t>
            </a:r>
            <a:endParaRPr lang="en-US" sz="1100" dirty="0"/>
          </a:p>
        </p:txBody>
      </p:sp>
      <p:sp>
        <p:nvSpPr>
          <p:cNvPr id="24" name="Shape 22"/>
          <p:cNvSpPr/>
          <p:nvPr/>
        </p:nvSpPr>
        <p:spPr>
          <a:xfrm>
            <a:off x="813816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25" name="Text 23"/>
          <p:cNvSpPr txBox="1"/>
          <p:nvPr/>
        </p:nvSpPr>
        <p:spPr>
          <a:xfrm>
            <a:off x="836676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Reporting</a:t>
            </a:r>
            <a:endParaRPr lang="en-US" sz="1450" dirty="0"/>
          </a:p>
        </p:txBody>
      </p:sp>
      <p:sp>
        <p:nvSpPr>
          <p:cNvPr id="26" name="Text 24"/>
          <p:cNvSpPr txBox="1"/>
          <p:nvPr/>
        </p:nvSpPr>
        <p:spPr>
          <a:xfrm>
            <a:off x="836676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27" name="Text 25"/>
          <p:cNvSpPr txBox="1"/>
          <p:nvPr/>
        </p:nvSpPr>
        <p:spPr>
          <a:xfrm>
            <a:off x="836676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Performance reports, PDF/JSON export</a:t>
            </a:r>
            <a:endParaRPr lang="en-US" sz="110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Requirements (D1)</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4 / 16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System Design — Deliverable 2</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UML class model and a normalized relational schema — 13 tables, all linked by UUID foreign keys.</a:t>
            </a:r>
            <a:endParaRPr lang="en-US" sz="1400" dirty="0"/>
          </a:p>
        </p:txBody>
      </p:sp>
      <p:sp>
        <p:nvSpPr>
          <p:cNvPr id="4" name="Shape 2"/>
          <p:cNvSpPr/>
          <p:nvPr/>
        </p:nvSpPr>
        <p:spPr>
          <a:xfrm>
            <a:off x="548640" y="1783080"/>
            <a:ext cx="2606040" cy="566928"/>
          </a:xfrm>
          <a:prstGeom prst="roundRect">
            <a:avLst>
              <a:gd name="adj" fmla="val 9677"/>
            </a:avLst>
          </a:prstGeom>
          <a:solidFill>
            <a:srgbClr val="1E293B"/>
          </a:solidFill>
          <a:ln w="12700">
            <a:solidFill>
              <a:srgbClr val="334155"/>
            </a:solidFill>
            <a:prstDash val="solid"/>
          </a:ln>
        </p:spPr>
      </p:sp>
      <p:sp>
        <p:nvSpPr>
          <p:cNvPr id="5" name="Text 3"/>
          <p:cNvSpPr txBox="1"/>
          <p:nvPr/>
        </p:nvSpPr>
        <p:spPr>
          <a:xfrm>
            <a:off x="54864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users</a:t>
            </a:r>
            <a:endParaRPr lang="en-US" sz="1150" dirty="0"/>
          </a:p>
        </p:txBody>
      </p:sp>
      <p:sp>
        <p:nvSpPr>
          <p:cNvPr id="6" name="Shape 4"/>
          <p:cNvSpPr/>
          <p:nvPr/>
        </p:nvSpPr>
        <p:spPr>
          <a:xfrm>
            <a:off x="3337560" y="1783080"/>
            <a:ext cx="2606040" cy="566928"/>
          </a:xfrm>
          <a:prstGeom prst="roundRect">
            <a:avLst>
              <a:gd name="adj" fmla="val 9677"/>
            </a:avLst>
          </a:prstGeom>
          <a:solidFill>
            <a:srgbClr val="1E293B"/>
          </a:solidFill>
          <a:ln w="12700">
            <a:solidFill>
              <a:srgbClr val="334155"/>
            </a:solidFill>
            <a:prstDash val="solid"/>
          </a:ln>
        </p:spPr>
      </p:sp>
      <p:sp>
        <p:nvSpPr>
          <p:cNvPr id="7" name="Text 5"/>
          <p:cNvSpPr txBox="1"/>
          <p:nvPr/>
        </p:nvSpPr>
        <p:spPr>
          <a:xfrm>
            <a:off x="333756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properties</a:t>
            </a:r>
            <a:endParaRPr lang="en-US" sz="1150" dirty="0"/>
          </a:p>
        </p:txBody>
      </p:sp>
      <p:sp>
        <p:nvSpPr>
          <p:cNvPr id="8" name="Shape 6"/>
          <p:cNvSpPr/>
          <p:nvPr/>
        </p:nvSpPr>
        <p:spPr>
          <a:xfrm>
            <a:off x="6126480" y="1783080"/>
            <a:ext cx="2606040" cy="566928"/>
          </a:xfrm>
          <a:prstGeom prst="roundRect">
            <a:avLst>
              <a:gd name="adj" fmla="val 9677"/>
            </a:avLst>
          </a:prstGeom>
          <a:solidFill>
            <a:srgbClr val="1E293B"/>
          </a:solidFill>
          <a:ln w="12700">
            <a:solidFill>
              <a:srgbClr val="334155"/>
            </a:solidFill>
            <a:prstDash val="solid"/>
          </a:ln>
        </p:spPr>
      </p:sp>
      <p:sp>
        <p:nvSpPr>
          <p:cNvPr id="9" name="Text 7"/>
          <p:cNvSpPr txBox="1"/>
          <p:nvPr/>
        </p:nvSpPr>
        <p:spPr>
          <a:xfrm>
            <a:off x="612648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units</a:t>
            </a:r>
            <a:endParaRPr lang="en-US" sz="1150" dirty="0"/>
          </a:p>
        </p:txBody>
      </p:sp>
      <p:sp>
        <p:nvSpPr>
          <p:cNvPr id="10" name="Shape 8"/>
          <p:cNvSpPr/>
          <p:nvPr/>
        </p:nvSpPr>
        <p:spPr>
          <a:xfrm>
            <a:off x="8915400" y="1783080"/>
            <a:ext cx="2606040" cy="566928"/>
          </a:xfrm>
          <a:prstGeom prst="roundRect">
            <a:avLst>
              <a:gd name="adj" fmla="val 9677"/>
            </a:avLst>
          </a:prstGeom>
          <a:solidFill>
            <a:srgbClr val="1E293B"/>
          </a:solidFill>
          <a:ln w="12700">
            <a:solidFill>
              <a:srgbClr val="334155"/>
            </a:solidFill>
            <a:prstDash val="solid"/>
          </a:ln>
        </p:spPr>
      </p:sp>
      <p:sp>
        <p:nvSpPr>
          <p:cNvPr id="11" name="Text 9"/>
          <p:cNvSpPr txBox="1"/>
          <p:nvPr/>
        </p:nvSpPr>
        <p:spPr>
          <a:xfrm>
            <a:off x="891540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tenants</a:t>
            </a:r>
            <a:endParaRPr lang="en-US" sz="1150" dirty="0"/>
          </a:p>
        </p:txBody>
      </p:sp>
      <p:sp>
        <p:nvSpPr>
          <p:cNvPr id="12" name="Shape 10"/>
          <p:cNvSpPr/>
          <p:nvPr/>
        </p:nvSpPr>
        <p:spPr>
          <a:xfrm>
            <a:off x="548640" y="2514600"/>
            <a:ext cx="2606040" cy="566928"/>
          </a:xfrm>
          <a:prstGeom prst="roundRect">
            <a:avLst>
              <a:gd name="adj" fmla="val 9677"/>
            </a:avLst>
          </a:prstGeom>
          <a:solidFill>
            <a:srgbClr val="1E293B"/>
          </a:solidFill>
          <a:ln w="12700">
            <a:solidFill>
              <a:srgbClr val="334155"/>
            </a:solidFill>
            <a:prstDash val="solid"/>
          </a:ln>
        </p:spPr>
      </p:sp>
      <p:sp>
        <p:nvSpPr>
          <p:cNvPr id="13" name="Text 11"/>
          <p:cNvSpPr txBox="1"/>
          <p:nvPr/>
        </p:nvSpPr>
        <p:spPr>
          <a:xfrm>
            <a:off x="54864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tenant_invitations</a:t>
            </a:r>
            <a:endParaRPr lang="en-US" sz="1150" dirty="0"/>
          </a:p>
        </p:txBody>
      </p:sp>
      <p:sp>
        <p:nvSpPr>
          <p:cNvPr id="14" name="Shape 12"/>
          <p:cNvSpPr/>
          <p:nvPr/>
        </p:nvSpPr>
        <p:spPr>
          <a:xfrm>
            <a:off x="3337560" y="2514600"/>
            <a:ext cx="2606040" cy="566928"/>
          </a:xfrm>
          <a:prstGeom prst="roundRect">
            <a:avLst>
              <a:gd name="adj" fmla="val 9677"/>
            </a:avLst>
          </a:prstGeom>
          <a:solidFill>
            <a:srgbClr val="1E293B"/>
          </a:solidFill>
          <a:ln w="12700">
            <a:solidFill>
              <a:srgbClr val="334155"/>
            </a:solidFill>
            <a:prstDash val="solid"/>
          </a:ln>
        </p:spPr>
      </p:sp>
      <p:sp>
        <p:nvSpPr>
          <p:cNvPr id="15" name="Text 13"/>
          <p:cNvSpPr txBox="1"/>
          <p:nvPr/>
        </p:nvSpPr>
        <p:spPr>
          <a:xfrm>
            <a:off x="333756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password_resets</a:t>
            </a:r>
            <a:endParaRPr lang="en-US" sz="1150" dirty="0"/>
          </a:p>
        </p:txBody>
      </p:sp>
      <p:sp>
        <p:nvSpPr>
          <p:cNvPr id="16" name="Shape 14"/>
          <p:cNvSpPr/>
          <p:nvPr/>
        </p:nvSpPr>
        <p:spPr>
          <a:xfrm>
            <a:off x="6126480" y="2514600"/>
            <a:ext cx="2606040" cy="566928"/>
          </a:xfrm>
          <a:prstGeom prst="roundRect">
            <a:avLst>
              <a:gd name="adj" fmla="val 9677"/>
            </a:avLst>
          </a:prstGeom>
          <a:solidFill>
            <a:srgbClr val="1E293B"/>
          </a:solidFill>
          <a:ln w="12700">
            <a:solidFill>
              <a:srgbClr val="334155"/>
            </a:solidFill>
            <a:prstDash val="solid"/>
          </a:ln>
        </p:spPr>
      </p:sp>
      <p:sp>
        <p:nvSpPr>
          <p:cNvPr id="17" name="Text 15"/>
          <p:cNvSpPr txBox="1"/>
          <p:nvPr/>
        </p:nvSpPr>
        <p:spPr>
          <a:xfrm>
            <a:off x="612648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leases</a:t>
            </a:r>
            <a:endParaRPr lang="en-US" sz="1150" dirty="0"/>
          </a:p>
        </p:txBody>
      </p:sp>
      <p:sp>
        <p:nvSpPr>
          <p:cNvPr id="18" name="Shape 16"/>
          <p:cNvSpPr/>
          <p:nvPr/>
        </p:nvSpPr>
        <p:spPr>
          <a:xfrm>
            <a:off x="8915400" y="2514600"/>
            <a:ext cx="2606040" cy="566928"/>
          </a:xfrm>
          <a:prstGeom prst="roundRect">
            <a:avLst>
              <a:gd name="adj" fmla="val 9677"/>
            </a:avLst>
          </a:prstGeom>
          <a:solidFill>
            <a:srgbClr val="1E293B"/>
          </a:solidFill>
          <a:ln w="12700">
            <a:solidFill>
              <a:srgbClr val="334155"/>
            </a:solidFill>
            <a:prstDash val="solid"/>
          </a:ln>
        </p:spPr>
      </p:sp>
      <p:sp>
        <p:nvSpPr>
          <p:cNvPr id="19" name="Text 17"/>
          <p:cNvSpPr txBox="1"/>
          <p:nvPr/>
        </p:nvSpPr>
        <p:spPr>
          <a:xfrm>
            <a:off x="891540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rent_payments</a:t>
            </a:r>
            <a:endParaRPr lang="en-US" sz="1150" dirty="0"/>
          </a:p>
        </p:txBody>
      </p:sp>
      <p:sp>
        <p:nvSpPr>
          <p:cNvPr id="20" name="Shape 18"/>
          <p:cNvSpPr/>
          <p:nvPr/>
        </p:nvSpPr>
        <p:spPr>
          <a:xfrm>
            <a:off x="548640" y="3246120"/>
            <a:ext cx="2606040" cy="566928"/>
          </a:xfrm>
          <a:prstGeom prst="roundRect">
            <a:avLst>
              <a:gd name="adj" fmla="val 9677"/>
            </a:avLst>
          </a:prstGeom>
          <a:solidFill>
            <a:srgbClr val="1E293B"/>
          </a:solidFill>
          <a:ln w="12700">
            <a:solidFill>
              <a:srgbClr val="334155"/>
            </a:solidFill>
            <a:prstDash val="solid"/>
          </a:ln>
        </p:spPr>
      </p:sp>
      <p:sp>
        <p:nvSpPr>
          <p:cNvPr id="21" name="Text 19"/>
          <p:cNvSpPr txBox="1"/>
          <p:nvPr/>
        </p:nvSpPr>
        <p:spPr>
          <a:xfrm>
            <a:off x="54864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maintenance_requests</a:t>
            </a:r>
            <a:endParaRPr lang="en-US" sz="1150" dirty="0"/>
          </a:p>
        </p:txBody>
      </p:sp>
      <p:sp>
        <p:nvSpPr>
          <p:cNvPr id="22" name="Shape 20"/>
          <p:cNvSpPr/>
          <p:nvPr/>
        </p:nvSpPr>
        <p:spPr>
          <a:xfrm>
            <a:off x="3337560" y="3246120"/>
            <a:ext cx="2606040" cy="566928"/>
          </a:xfrm>
          <a:prstGeom prst="roundRect">
            <a:avLst>
              <a:gd name="adj" fmla="val 9677"/>
            </a:avLst>
          </a:prstGeom>
          <a:solidFill>
            <a:srgbClr val="1E293B"/>
          </a:solidFill>
          <a:ln w="12700">
            <a:solidFill>
              <a:srgbClr val="334155"/>
            </a:solidFill>
            <a:prstDash val="solid"/>
          </a:ln>
        </p:spPr>
      </p:sp>
      <p:sp>
        <p:nvSpPr>
          <p:cNvPr id="23" name="Text 21"/>
          <p:cNvSpPr txBox="1"/>
          <p:nvPr/>
        </p:nvSpPr>
        <p:spPr>
          <a:xfrm>
            <a:off x="333756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maintenance_costs</a:t>
            </a:r>
            <a:endParaRPr lang="en-US" sz="1150" dirty="0"/>
          </a:p>
        </p:txBody>
      </p:sp>
      <p:sp>
        <p:nvSpPr>
          <p:cNvPr id="24" name="Shape 22"/>
          <p:cNvSpPr/>
          <p:nvPr/>
        </p:nvSpPr>
        <p:spPr>
          <a:xfrm>
            <a:off x="6126480" y="3246120"/>
            <a:ext cx="2606040" cy="566928"/>
          </a:xfrm>
          <a:prstGeom prst="roundRect">
            <a:avLst>
              <a:gd name="adj" fmla="val 9677"/>
            </a:avLst>
          </a:prstGeom>
          <a:solidFill>
            <a:srgbClr val="1E293B"/>
          </a:solidFill>
          <a:ln w="12700">
            <a:solidFill>
              <a:srgbClr val="334155"/>
            </a:solidFill>
            <a:prstDash val="solid"/>
          </a:ln>
        </p:spPr>
      </p:sp>
      <p:sp>
        <p:nvSpPr>
          <p:cNvPr id="25" name="Text 23"/>
          <p:cNvSpPr txBox="1"/>
          <p:nvPr/>
        </p:nvSpPr>
        <p:spPr>
          <a:xfrm>
            <a:off x="612648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maintenance_notes</a:t>
            </a:r>
            <a:endParaRPr lang="en-US" sz="1150" dirty="0"/>
          </a:p>
        </p:txBody>
      </p:sp>
      <p:sp>
        <p:nvSpPr>
          <p:cNvPr id="26" name="Shape 24"/>
          <p:cNvSpPr/>
          <p:nvPr/>
        </p:nvSpPr>
        <p:spPr>
          <a:xfrm>
            <a:off x="8915400" y="3246120"/>
            <a:ext cx="2606040" cy="566928"/>
          </a:xfrm>
          <a:prstGeom prst="roundRect">
            <a:avLst>
              <a:gd name="adj" fmla="val 9677"/>
            </a:avLst>
          </a:prstGeom>
          <a:solidFill>
            <a:srgbClr val="1E293B"/>
          </a:solidFill>
          <a:ln w="12700">
            <a:solidFill>
              <a:srgbClr val="334155"/>
            </a:solidFill>
            <a:prstDash val="solid"/>
          </a:ln>
        </p:spPr>
      </p:sp>
      <p:sp>
        <p:nvSpPr>
          <p:cNvPr id="27" name="Text 25"/>
          <p:cNvSpPr txBox="1"/>
          <p:nvPr/>
        </p:nvSpPr>
        <p:spPr>
          <a:xfrm>
            <a:off x="891540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notifications</a:t>
            </a:r>
            <a:endParaRPr lang="en-US" sz="1150" dirty="0"/>
          </a:p>
        </p:txBody>
      </p:sp>
      <p:sp>
        <p:nvSpPr>
          <p:cNvPr id="28" name="Shape 26"/>
          <p:cNvSpPr/>
          <p:nvPr/>
        </p:nvSpPr>
        <p:spPr>
          <a:xfrm>
            <a:off x="548640" y="3977640"/>
            <a:ext cx="2606040" cy="566928"/>
          </a:xfrm>
          <a:prstGeom prst="roundRect">
            <a:avLst>
              <a:gd name="adj" fmla="val 9677"/>
            </a:avLst>
          </a:prstGeom>
          <a:solidFill>
            <a:srgbClr val="1E293B"/>
          </a:solidFill>
          <a:ln w="12700">
            <a:solidFill>
              <a:srgbClr val="334155"/>
            </a:solidFill>
            <a:prstDash val="solid"/>
          </a:ln>
        </p:spPr>
      </p:sp>
      <p:sp>
        <p:nvSpPr>
          <p:cNvPr id="29" name="Text 27"/>
          <p:cNvSpPr txBox="1"/>
          <p:nvPr/>
        </p:nvSpPr>
        <p:spPr>
          <a:xfrm>
            <a:off x="548640" y="397764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audit_logs</a:t>
            </a:r>
            <a:endParaRPr lang="en-US" sz="1150" dirty="0"/>
          </a:p>
        </p:txBody>
      </p:sp>
      <p:sp>
        <p:nvSpPr>
          <p:cNvPr id="30" name="Shape 28"/>
          <p:cNvSpPr/>
          <p:nvPr/>
        </p:nvSpPr>
        <p:spPr>
          <a:xfrm>
            <a:off x="548640" y="5074920"/>
            <a:ext cx="11064240" cy="1234440"/>
          </a:xfrm>
          <a:prstGeom prst="roundRect">
            <a:avLst>
              <a:gd name="adj" fmla="val 7407"/>
            </a:avLst>
          </a:prstGeom>
          <a:solidFill>
            <a:srgbClr val="1E293B"/>
          </a:solidFill>
          <a:ln/>
        </p:spPr>
      </p:sp>
      <p:sp>
        <p:nvSpPr>
          <p:cNvPr id="31" name="Text 29"/>
          <p:cNvSpPr txBox="1"/>
          <p:nvPr/>
        </p:nvSpPr>
        <p:spPr>
          <a:xfrm>
            <a:off x="822960" y="5193792"/>
            <a:ext cx="105156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Design decisions carried through to the build</a:t>
            </a:r>
            <a:endParaRPr lang="en-US" sz="1250" dirty="0"/>
          </a:p>
        </p:txBody>
      </p:sp>
      <p:sp>
        <p:nvSpPr>
          <p:cNvPr id="32" name="Text 30"/>
          <p:cNvSpPr txBox="1"/>
          <p:nvPr/>
        </p:nvSpPr>
        <p:spPr>
          <a:xfrm>
            <a:off x="822960" y="5486400"/>
            <a:ext cx="10515600" cy="731520"/>
          </a:xfrm>
          <a:prstGeom prst="rect">
            <a:avLst/>
          </a:prstGeom>
          <a:noFill/>
          <a:ln/>
        </p:spPr>
        <p:txBody>
          <a:bodyPr wrap="square" lIns="0" tIns="0" rIns="0" bIns="0" rtlCol="0" anchor="ctr"/>
          <a:lstStyle/>
          <a:p>
            <a:pPr indent="0" marL="0">
              <a:lnSpc>
                <a:spcPct val="130000"/>
              </a:lnSpc>
              <a:buNone/>
            </a:pPr>
            <a:r>
              <a:rPr lang="en-US" sz="1150" dirty="0">
                <a:solidFill>
                  <a:srgbClr val="CADCFC"/>
                </a:solidFill>
                <a:latin typeface="Calibri" pitchFamily="34" charset="0"/>
                <a:ea typeface="Calibri" pitchFamily="34" charset="-122"/>
                <a:cs typeface="Calibri" pitchFamily="34" charset="-120"/>
              </a:rPr>
              <a:t>UUID primary keys (identical schema on SQLite and PostgreSQL)   •   Naive UTC datetimes   •   Soft-status fields, never physical deletes   •   Immutable payments   •   JSON audit diffs</a:t>
            </a:r>
            <a:endParaRPr lang="en-US" sz="115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System Design (D2)</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5 / 16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7315200" cy="59436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Architecture</a:t>
            </a:r>
            <a:endParaRPr lang="en-US" sz="3200" dirty="0"/>
          </a:p>
        </p:txBody>
      </p:sp>
      <p:sp>
        <p:nvSpPr>
          <p:cNvPr id="3" name="Text 1"/>
          <p:cNvSpPr txBox="1"/>
          <p:nvPr/>
        </p:nvSpPr>
        <p:spPr>
          <a:xfrm>
            <a:off x="548640" y="1005840"/>
            <a:ext cx="100584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A layered Flask application — five layers, each with a single responsibility.</a:t>
            </a:r>
            <a:endParaRPr lang="en-US" sz="1400" dirty="0"/>
          </a:p>
        </p:txBody>
      </p:sp>
      <p:sp>
        <p:nvSpPr>
          <p:cNvPr id="4" name="Shape 2"/>
          <p:cNvSpPr/>
          <p:nvPr/>
        </p:nvSpPr>
        <p:spPr>
          <a:xfrm>
            <a:off x="548640" y="1600200"/>
            <a:ext cx="11064240" cy="731520"/>
          </a:xfrm>
          <a:prstGeom prst="roundRect">
            <a:avLst>
              <a:gd name="adj" fmla="val 10000"/>
            </a:avLst>
          </a:prstGeom>
          <a:solidFill>
            <a:srgbClr val="2563EB"/>
          </a:solidFill>
          <a:ln/>
        </p:spPr>
      </p:sp>
      <p:sp>
        <p:nvSpPr>
          <p:cNvPr id="5" name="Text 3"/>
          <p:cNvSpPr txBox="1"/>
          <p:nvPr/>
        </p:nvSpPr>
        <p:spPr>
          <a:xfrm>
            <a:off x="822960" y="160020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PRESENTATION</a:t>
            </a:r>
            <a:endParaRPr lang="en-US" sz="1400" dirty="0"/>
          </a:p>
        </p:txBody>
      </p:sp>
      <p:sp>
        <p:nvSpPr>
          <p:cNvPr id="6" name="Text 4"/>
          <p:cNvSpPr txBox="1"/>
          <p:nvPr/>
        </p:nvSpPr>
        <p:spPr>
          <a:xfrm>
            <a:off x="3291840" y="160020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35 Jinja2 templates, role-aware navigation</a:t>
            </a:r>
            <a:endParaRPr lang="en-US" sz="1150" dirty="0"/>
          </a:p>
        </p:txBody>
      </p:sp>
      <p:sp>
        <p:nvSpPr>
          <p:cNvPr id="7" name="Shape 5"/>
          <p:cNvSpPr/>
          <p:nvPr/>
        </p:nvSpPr>
        <p:spPr>
          <a:xfrm>
            <a:off x="548640" y="2468880"/>
            <a:ext cx="11064240" cy="731520"/>
          </a:xfrm>
          <a:prstGeom prst="roundRect">
            <a:avLst>
              <a:gd name="adj" fmla="val 10000"/>
            </a:avLst>
          </a:prstGeom>
          <a:solidFill>
            <a:srgbClr val="16A34A"/>
          </a:solidFill>
          <a:ln/>
        </p:spPr>
      </p:sp>
      <p:sp>
        <p:nvSpPr>
          <p:cNvPr id="8" name="Text 6"/>
          <p:cNvSpPr txBox="1"/>
          <p:nvPr/>
        </p:nvSpPr>
        <p:spPr>
          <a:xfrm>
            <a:off x="822960" y="246888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APPLICATION</a:t>
            </a:r>
            <a:endParaRPr lang="en-US" sz="1400" dirty="0"/>
          </a:p>
        </p:txBody>
      </p:sp>
      <p:sp>
        <p:nvSpPr>
          <p:cNvPr id="9" name="Text 7"/>
          <p:cNvSpPr txBox="1"/>
          <p:nvPr/>
        </p:nvSpPr>
        <p:spPr>
          <a:xfrm>
            <a:off x="3291840" y="246888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10 Blueprints — auth, properties, tenants, rent, maintenance, admin, reports, portal, api</a:t>
            </a:r>
            <a:endParaRPr lang="en-US" sz="1150" dirty="0"/>
          </a:p>
        </p:txBody>
      </p:sp>
      <p:sp>
        <p:nvSpPr>
          <p:cNvPr id="10" name="Shape 8"/>
          <p:cNvSpPr/>
          <p:nvPr/>
        </p:nvSpPr>
        <p:spPr>
          <a:xfrm>
            <a:off x="548640" y="3337560"/>
            <a:ext cx="11064240" cy="731520"/>
          </a:xfrm>
          <a:prstGeom prst="roundRect">
            <a:avLst>
              <a:gd name="adj" fmla="val 10000"/>
            </a:avLst>
          </a:prstGeom>
          <a:solidFill>
            <a:srgbClr val="7C3AED"/>
          </a:solidFill>
          <a:ln/>
        </p:spPr>
      </p:sp>
      <p:sp>
        <p:nvSpPr>
          <p:cNvPr id="11" name="Text 9"/>
          <p:cNvSpPr txBox="1"/>
          <p:nvPr/>
        </p:nvSpPr>
        <p:spPr>
          <a:xfrm>
            <a:off x="822960" y="333756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DOMAIN / SERVICE</a:t>
            </a:r>
            <a:endParaRPr lang="en-US" sz="1400" dirty="0"/>
          </a:p>
        </p:txBody>
      </p:sp>
      <p:sp>
        <p:nvSpPr>
          <p:cNvPr id="12" name="Text 10"/>
          <p:cNvSpPr txBox="1"/>
          <p:nvPr/>
        </p:nvSpPr>
        <p:spPr>
          <a:xfrm>
            <a:off x="3291840" y="333756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security.py (RBAC, IDOR), scheduler_jobs.py, services/ (pdf, excel, notifications, payments, storage)</a:t>
            </a:r>
            <a:endParaRPr lang="en-US" sz="1150" dirty="0"/>
          </a:p>
        </p:txBody>
      </p:sp>
      <p:sp>
        <p:nvSpPr>
          <p:cNvPr id="13" name="Shape 11"/>
          <p:cNvSpPr/>
          <p:nvPr/>
        </p:nvSpPr>
        <p:spPr>
          <a:xfrm>
            <a:off x="548640" y="4206240"/>
            <a:ext cx="11064240" cy="731520"/>
          </a:xfrm>
          <a:prstGeom prst="roundRect">
            <a:avLst>
              <a:gd name="adj" fmla="val 10000"/>
            </a:avLst>
          </a:prstGeom>
          <a:solidFill>
            <a:srgbClr val="0F172A"/>
          </a:solidFill>
          <a:ln/>
        </p:spPr>
      </p:sp>
      <p:sp>
        <p:nvSpPr>
          <p:cNvPr id="14" name="Text 12"/>
          <p:cNvSpPr txBox="1"/>
          <p:nvPr/>
        </p:nvSpPr>
        <p:spPr>
          <a:xfrm>
            <a:off x="822960" y="420624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DATA</a:t>
            </a:r>
            <a:endParaRPr lang="en-US" sz="1400" dirty="0"/>
          </a:p>
        </p:txBody>
      </p:sp>
      <p:sp>
        <p:nvSpPr>
          <p:cNvPr id="15" name="Text 13"/>
          <p:cNvSpPr txBox="1"/>
          <p:nvPr/>
        </p:nvSpPr>
        <p:spPr>
          <a:xfrm>
            <a:off x="3291840" y="420624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13 SQLAlchemy models, UUID keys, business logic on the model</a:t>
            </a:r>
            <a:endParaRPr lang="en-US" sz="1150" dirty="0"/>
          </a:p>
        </p:txBody>
      </p:sp>
      <p:sp>
        <p:nvSpPr>
          <p:cNvPr id="16" name="Shape 14"/>
          <p:cNvSpPr/>
          <p:nvPr/>
        </p:nvSpPr>
        <p:spPr>
          <a:xfrm>
            <a:off x="548640" y="5074920"/>
            <a:ext cx="11064240" cy="731520"/>
          </a:xfrm>
          <a:prstGeom prst="roundRect">
            <a:avLst>
              <a:gd name="adj" fmla="val 10000"/>
            </a:avLst>
          </a:prstGeom>
          <a:solidFill>
            <a:srgbClr val="D97706"/>
          </a:solidFill>
          <a:ln/>
        </p:spPr>
      </p:sp>
      <p:sp>
        <p:nvSpPr>
          <p:cNvPr id="17" name="Text 15"/>
          <p:cNvSpPr txBox="1"/>
          <p:nvPr/>
        </p:nvSpPr>
        <p:spPr>
          <a:xfrm>
            <a:off x="822960" y="507492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INFRASTRUCTURE</a:t>
            </a:r>
            <a:endParaRPr lang="en-US" sz="1400" dirty="0"/>
          </a:p>
        </p:txBody>
      </p:sp>
      <p:sp>
        <p:nvSpPr>
          <p:cNvPr id="18" name="Text 16"/>
          <p:cNvSpPr txBox="1"/>
          <p:nvPr/>
        </p:nvSpPr>
        <p:spPr>
          <a:xfrm>
            <a:off x="3291840" y="507492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PostgreSQL/SQLite · Redis · Docker Compose · dev-mode fallback for SendGrid/Twilio/Stripe</a:t>
            </a:r>
            <a:endParaRPr lang="en-US" sz="1150" dirty="0"/>
          </a:p>
        </p:txBody>
      </p:sp>
      <p:sp>
        <p:nvSpPr>
          <p:cNvPr id="19" name="Text 17"/>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Architecture</a:t>
            </a:r>
            <a:endParaRPr lang="en-US" sz="1000" dirty="0"/>
          </a:p>
        </p:txBody>
      </p:sp>
      <p:sp>
        <p:nvSpPr>
          <p:cNvPr id="20" name="Text 18"/>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6 / 16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Key Features by Role</a:t>
            </a:r>
            <a:endParaRPr lang="en-US" sz="3200" dirty="0"/>
          </a:p>
        </p:txBody>
      </p:sp>
      <p:sp>
        <p:nvSpPr>
          <p:cNvPr id="3" name="Shape 1"/>
          <p:cNvSpPr/>
          <p:nvPr/>
        </p:nvSpPr>
        <p:spPr>
          <a:xfrm>
            <a:off x="548640" y="1371600"/>
            <a:ext cx="2121408" cy="4480560"/>
          </a:xfrm>
          <a:prstGeom prst="roundRect">
            <a:avLst>
              <a:gd name="adj" fmla="val 4310"/>
            </a:avLst>
          </a:prstGeom>
          <a:solidFill>
            <a:srgbClr val="F1F5F9"/>
          </a:solidFill>
          <a:ln/>
        </p:spPr>
      </p:sp>
      <p:sp>
        <p:nvSpPr>
          <p:cNvPr id="4" name="Shape 2"/>
          <p:cNvSpPr/>
          <p:nvPr/>
        </p:nvSpPr>
        <p:spPr>
          <a:xfrm>
            <a:off x="548640" y="1371600"/>
            <a:ext cx="2121408" cy="777240"/>
          </a:xfrm>
          <a:prstGeom prst="roundRect">
            <a:avLst>
              <a:gd name="adj" fmla="val 11765"/>
            </a:avLst>
          </a:prstGeom>
          <a:solidFill>
            <a:srgbClr val="2563EB"/>
          </a:solidFill>
          <a:ln/>
        </p:spPr>
      </p:sp>
      <p:sp>
        <p:nvSpPr>
          <p:cNvPr id="5" name="Shape 3"/>
          <p:cNvSpPr/>
          <p:nvPr/>
        </p:nvSpPr>
        <p:spPr>
          <a:xfrm>
            <a:off x="548640" y="1755648"/>
            <a:ext cx="2121408" cy="393192"/>
          </a:xfrm>
          <a:prstGeom prst="rect">
            <a:avLst/>
          </a:prstGeom>
          <a:solidFill>
            <a:srgbClr val="2563EB"/>
          </a:solidFill>
          <a:ln/>
        </p:spPr>
      </p:sp>
      <p:sp>
        <p:nvSpPr>
          <p:cNvPr id="6" name="Text 4"/>
          <p:cNvSpPr txBox="1"/>
          <p:nvPr/>
        </p:nvSpPr>
        <p:spPr>
          <a:xfrm>
            <a:off x="548640"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Owner</a:t>
            </a:r>
            <a:endParaRPr lang="en-US" sz="1700" dirty="0"/>
          </a:p>
        </p:txBody>
      </p:sp>
      <p:sp>
        <p:nvSpPr>
          <p:cNvPr id="7" name="Text 5"/>
          <p:cNvSpPr txBox="1"/>
          <p:nvPr/>
        </p:nvSpPr>
        <p:spPr>
          <a:xfrm>
            <a:off x="713232"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&amp; edit properties/units</a:t>
            </a:r>
            <a:endParaRPr lang="en-US" sz="1100" dirty="0"/>
          </a:p>
        </p:txBody>
      </p:sp>
      <p:sp>
        <p:nvSpPr>
          <p:cNvPr id="8" name="Text 6"/>
          <p:cNvSpPr txBox="1"/>
          <p:nvPr/>
        </p:nvSpPr>
        <p:spPr>
          <a:xfrm>
            <a:off x="713232"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Configure late fees</a:t>
            </a:r>
            <a:endParaRPr lang="en-US" sz="1100" dirty="0"/>
          </a:p>
        </p:txBody>
      </p:sp>
      <p:sp>
        <p:nvSpPr>
          <p:cNvPr id="9" name="Text 7"/>
          <p:cNvSpPr txBox="1"/>
          <p:nvPr/>
        </p:nvSpPr>
        <p:spPr>
          <a:xfrm>
            <a:off x="713232"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portfolio reports</a:t>
            </a:r>
            <a:endParaRPr lang="en-US" sz="1100" dirty="0"/>
          </a:p>
        </p:txBody>
      </p:sp>
      <p:sp>
        <p:nvSpPr>
          <p:cNvPr id="10" name="Shape 8"/>
          <p:cNvSpPr/>
          <p:nvPr/>
        </p:nvSpPr>
        <p:spPr>
          <a:xfrm>
            <a:off x="2807208" y="1371600"/>
            <a:ext cx="2121408" cy="4480560"/>
          </a:xfrm>
          <a:prstGeom prst="roundRect">
            <a:avLst>
              <a:gd name="adj" fmla="val 4310"/>
            </a:avLst>
          </a:prstGeom>
          <a:solidFill>
            <a:srgbClr val="F1F5F9"/>
          </a:solidFill>
          <a:ln/>
        </p:spPr>
      </p:sp>
      <p:sp>
        <p:nvSpPr>
          <p:cNvPr id="11" name="Shape 9"/>
          <p:cNvSpPr/>
          <p:nvPr/>
        </p:nvSpPr>
        <p:spPr>
          <a:xfrm>
            <a:off x="2807208" y="1371600"/>
            <a:ext cx="2121408" cy="777240"/>
          </a:xfrm>
          <a:prstGeom prst="roundRect">
            <a:avLst>
              <a:gd name="adj" fmla="val 11765"/>
            </a:avLst>
          </a:prstGeom>
          <a:solidFill>
            <a:srgbClr val="16A34A"/>
          </a:solidFill>
          <a:ln/>
        </p:spPr>
      </p:sp>
      <p:sp>
        <p:nvSpPr>
          <p:cNvPr id="12" name="Shape 10"/>
          <p:cNvSpPr/>
          <p:nvPr/>
        </p:nvSpPr>
        <p:spPr>
          <a:xfrm>
            <a:off x="2807208" y="1755648"/>
            <a:ext cx="2121408" cy="393192"/>
          </a:xfrm>
          <a:prstGeom prst="rect">
            <a:avLst/>
          </a:prstGeom>
          <a:solidFill>
            <a:srgbClr val="16A34A"/>
          </a:solidFill>
          <a:ln/>
        </p:spPr>
      </p:sp>
      <p:sp>
        <p:nvSpPr>
          <p:cNvPr id="13" name="Text 11"/>
          <p:cNvSpPr txBox="1"/>
          <p:nvPr/>
        </p:nvSpPr>
        <p:spPr>
          <a:xfrm>
            <a:off x="2807208"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Manager</a:t>
            </a:r>
            <a:endParaRPr lang="en-US" sz="1700" dirty="0"/>
          </a:p>
        </p:txBody>
      </p:sp>
      <p:sp>
        <p:nvSpPr>
          <p:cNvPr id="14" name="Text 12"/>
          <p:cNvSpPr txBox="1"/>
          <p:nvPr/>
        </p:nvSpPr>
        <p:spPr>
          <a:xfrm>
            <a:off x="2971800"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Manage assigned properties</a:t>
            </a:r>
            <a:endParaRPr lang="en-US" sz="1100" dirty="0"/>
          </a:p>
        </p:txBody>
      </p:sp>
      <p:sp>
        <p:nvSpPr>
          <p:cNvPr id="15" name="Text 13"/>
          <p:cNvSpPr txBox="1"/>
          <p:nvPr/>
        </p:nvSpPr>
        <p:spPr>
          <a:xfrm>
            <a:off x="2971800"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Onboard &amp; blacklist tenants</a:t>
            </a:r>
            <a:endParaRPr lang="en-US" sz="1100" dirty="0"/>
          </a:p>
        </p:txBody>
      </p:sp>
      <p:sp>
        <p:nvSpPr>
          <p:cNvPr id="16" name="Text 14"/>
          <p:cNvSpPr txBox="1"/>
          <p:nvPr/>
        </p:nvSpPr>
        <p:spPr>
          <a:xfrm>
            <a:off x="2971800"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Assign maintenance work</a:t>
            </a:r>
            <a:endParaRPr lang="en-US" sz="1100" dirty="0"/>
          </a:p>
        </p:txBody>
      </p:sp>
      <p:sp>
        <p:nvSpPr>
          <p:cNvPr id="17" name="Shape 15"/>
          <p:cNvSpPr/>
          <p:nvPr/>
        </p:nvSpPr>
        <p:spPr>
          <a:xfrm>
            <a:off x="5065776" y="1371600"/>
            <a:ext cx="2121408" cy="4480560"/>
          </a:xfrm>
          <a:prstGeom prst="roundRect">
            <a:avLst>
              <a:gd name="adj" fmla="val 4310"/>
            </a:avLst>
          </a:prstGeom>
          <a:solidFill>
            <a:srgbClr val="F1F5F9"/>
          </a:solidFill>
          <a:ln/>
        </p:spPr>
      </p:sp>
      <p:sp>
        <p:nvSpPr>
          <p:cNvPr id="18" name="Shape 16"/>
          <p:cNvSpPr/>
          <p:nvPr/>
        </p:nvSpPr>
        <p:spPr>
          <a:xfrm>
            <a:off x="5065776" y="1371600"/>
            <a:ext cx="2121408" cy="777240"/>
          </a:xfrm>
          <a:prstGeom prst="roundRect">
            <a:avLst>
              <a:gd name="adj" fmla="val 11765"/>
            </a:avLst>
          </a:prstGeom>
          <a:solidFill>
            <a:srgbClr val="7C3AED"/>
          </a:solidFill>
          <a:ln/>
        </p:spPr>
      </p:sp>
      <p:sp>
        <p:nvSpPr>
          <p:cNvPr id="19" name="Shape 17"/>
          <p:cNvSpPr/>
          <p:nvPr/>
        </p:nvSpPr>
        <p:spPr>
          <a:xfrm>
            <a:off x="5065776" y="1755648"/>
            <a:ext cx="2121408" cy="393192"/>
          </a:xfrm>
          <a:prstGeom prst="rect">
            <a:avLst/>
          </a:prstGeom>
          <a:solidFill>
            <a:srgbClr val="7C3AED"/>
          </a:solidFill>
          <a:ln/>
        </p:spPr>
      </p:sp>
      <p:sp>
        <p:nvSpPr>
          <p:cNvPr id="20" name="Text 18"/>
          <p:cNvSpPr txBox="1"/>
          <p:nvPr/>
        </p:nvSpPr>
        <p:spPr>
          <a:xfrm>
            <a:off x="5065776"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Tenant</a:t>
            </a:r>
            <a:endParaRPr lang="en-US" sz="1700" dirty="0"/>
          </a:p>
        </p:txBody>
      </p:sp>
      <p:sp>
        <p:nvSpPr>
          <p:cNvPr id="21" name="Text 19"/>
          <p:cNvSpPr txBox="1"/>
          <p:nvPr/>
        </p:nvSpPr>
        <p:spPr>
          <a:xfrm>
            <a:off x="5230368"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Self-service portal</a:t>
            </a:r>
            <a:endParaRPr lang="en-US" sz="1100" dirty="0"/>
          </a:p>
        </p:txBody>
      </p:sp>
      <p:sp>
        <p:nvSpPr>
          <p:cNvPr id="22" name="Text 20"/>
          <p:cNvSpPr txBox="1"/>
          <p:nvPr/>
        </p:nvSpPr>
        <p:spPr>
          <a:xfrm>
            <a:off x="5230368"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Pay rent online</a:t>
            </a:r>
            <a:endParaRPr lang="en-US" sz="1100" dirty="0"/>
          </a:p>
        </p:txBody>
      </p:sp>
      <p:sp>
        <p:nvSpPr>
          <p:cNvPr id="23" name="Text 21"/>
          <p:cNvSpPr txBox="1"/>
          <p:nvPr/>
        </p:nvSpPr>
        <p:spPr>
          <a:xfrm>
            <a:off x="5230368"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Submit requests with photos</a:t>
            </a:r>
            <a:endParaRPr lang="en-US" sz="1100" dirty="0"/>
          </a:p>
        </p:txBody>
      </p:sp>
      <p:sp>
        <p:nvSpPr>
          <p:cNvPr id="24" name="Shape 22"/>
          <p:cNvSpPr/>
          <p:nvPr/>
        </p:nvSpPr>
        <p:spPr>
          <a:xfrm>
            <a:off x="7324344" y="1371600"/>
            <a:ext cx="2121408" cy="4480560"/>
          </a:xfrm>
          <a:prstGeom prst="roundRect">
            <a:avLst>
              <a:gd name="adj" fmla="val 4310"/>
            </a:avLst>
          </a:prstGeom>
          <a:solidFill>
            <a:srgbClr val="F1F5F9"/>
          </a:solidFill>
          <a:ln/>
        </p:spPr>
      </p:sp>
      <p:sp>
        <p:nvSpPr>
          <p:cNvPr id="25" name="Shape 23"/>
          <p:cNvSpPr/>
          <p:nvPr/>
        </p:nvSpPr>
        <p:spPr>
          <a:xfrm>
            <a:off x="7324344" y="1371600"/>
            <a:ext cx="2121408" cy="777240"/>
          </a:xfrm>
          <a:prstGeom prst="roundRect">
            <a:avLst>
              <a:gd name="adj" fmla="val 11765"/>
            </a:avLst>
          </a:prstGeom>
          <a:solidFill>
            <a:srgbClr val="D97706"/>
          </a:solidFill>
          <a:ln/>
        </p:spPr>
      </p:sp>
      <p:sp>
        <p:nvSpPr>
          <p:cNvPr id="26" name="Shape 24"/>
          <p:cNvSpPr/>
          <p:nvPr/>
        </p:nvSpPr>
        <p:spPr>
          <a:xfrm>
            <a:off x="7324344" y="1755648"/>
            <a:ext cx="2121408" cy="393192"/>
          </a:xfrm>
          <a:prstGeom prst="rect">
            <a:avLst/>
          </a:prstGeom>
          <a:solidFill>
            <a:srgbClr val="D97706"/>
          </a:solidFill>
          <a:ln/>
        </p:spPr>
      </p:sp>
      <p:sp>
        <p:nvSpPr>
          <p:cNvPr id="27" name="Text 25"/>
          <p:cNvSpPr txBox="1"/>
          <p:nvPr/>
        </p:nvSpPr>
        <p:spPr>
          <a:xfrm>
            <a:off x="7324344"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Staff</a:t>
            </a:r>
            <a:endParaRPr lang="en-US" sz="1700" dirty="0"/>
          </a:p>
        </p:txBody>
      </p:sp>
      <p:sp>
        <p:nvSpPr>
          <p:cNvPr id="28" name="Text 26"/>
          <p:cNvSpPr txBox="1"/>
          <p:nvPr/>
        </p:nvSpPr>
        <p:spPr>
          <a:xfrm>
            <a:off x="7488936"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Personal work queue only</a:t>
            </a:r>
            <a:endParaRPr lang="en-US" sz="1100" dirty="0"/>
          </a:p>
        </p:txBody>
      </p:sp>
      <p:sp>
        <p:nvSpPr>
          <p:cNvPr id="29" name="Text 27"/>
          <p:cNvSpPr txBox="1"/>
          <p:nvPr/>
        </p:nvSpPr>
        <p:spPr>
          <a:xfrm>
            <a:off x="7488936"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Update ticket status</a:t>
            </a:r>
            <a:endParaRPr lang="en-US" sz="1100" dirty="0"/>
          </a:p>
        </p:txBody>
      </p:sp>
      <p:sp>
        <p:nvSpPr>
          <p:cNvPr id="30" name="Text 28"/>
          <p:cNvSpPr txBox="1"/>
          <p:nvPr/>
        </p:nvSpPr>
        <p:spPr>
          <a:xfrm>
            <a:off x="7488936"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Attach completion photos</a:t>
            </a:r>
            <a:endParaRPr lang="en-US" sz="1100" dirty="0"/>
          </a:p>
        </p:txBody>
      </p:sp>
      <p:sp>
        <p:nvSpPr>
          <p:cNvPr id="31" name="Shape 29"/>
          <p:cNvSpPr/>
          <p:nvPr/>
        </p:nvSpPr>
        <p:spPr>
          <a:xfrm>
            <a:off x="9582912" y="1371600"/>
            <a:ext cx="2121408" cy="4480560"/>
          </a:xfrm>
          <a:prstGeom prst="roundRect">
            <a:avLst>
              <a:gd name="adj" fmla="val 4310"/>
            </a:avLst>
          </a:prstGeom>
          <a:solidFill>
            <a:srgbClr val="F1F5F9"/>
          </a:solidFill>
          <a:ln/>
        </p:spPr>
      </p:sp>
      <p:sp>
        <p:nvSpPr>
          <p:cNvPr id="32" name="Shape 30"/>
          <p:cNvSpPr/>
          <p:nvPr/>
        </p:nvSpPr>
        <p:spPr>
          <a:xfrm>
            <a:off x="9582912" y="1371600"/>
            <a:ext cx="2121408" cy="777240"/>
          </a:xfrm>
          <a:prstGeom prst="roundRect">
            <a:avLst>
              <a:gd name="adj" fmla="val 11765"/>
            </a:avLst>
          </a:prstGeom>
          <a:solidFill>
            <a:srgbClr val="DC2626"/>
          </a:solidFill>
          <a:ln/>
        </p:spPr>
      </p:sp>
      <p:sp>
        <p:nvSpPr>
          <p:cNvPr id="33" name="Shape 31"/>
          <p:cNvSpPr/>
          <p:nvPr/>
        </p:nvSpPr>
        <p:spPr>
          <a:xfrm>
            <a:off x="9582912" y="1755648"/>
            <a:ext cx="2121408" cy="393192"/>
          </a:xfrm>
          <a:prstGeom prst="rect">
            <a:avLst/>
          </a:prstGeom>
          <a:solidFill>
            <a:srgbClr val="DC2626"/>
          </a:solidFill>
          <a:ln/>
        </p:spPr>
      </p:sp>
      <p:sp>
        <p:nvSpPr>
          <p:cNvPr id="34" name="Text 32"/>
          <p:cNvSpPr txBox="1"/>
          <p:nvPr/>
        </p:nvSpPr>
        <p:spPr>
          <a:xfrm>
            <a:off x="9582912"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Admin</a:t>
            </a:r>
            <a:endParaRPr lang="en-US" sz="1700" dirty="0"/>
          </a:p>
        </p:txBody>
      </p:sp>
      <p:sp>
        <p:nvSpPr>
          <p:cNvPr id="35" name="Text 33"/>
          <p:cNvSpPr txBox="1"/>
          <p:nvPr/>
        </p:nvSpPr>
        <p:spPr>
          <a:xfrm>
            <a:off x="9747504"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User &amp; role management</a:t>
            </a:r>
            <a:endParaRPr lang="en-US" sz="1100" dirty="0"/>
          </a:p>
        </p:txBody>
      </p:sp>
      <p:sp>
        <p:nvSpPr>
          <p:cNvPr id="36" name="Text 34"/>
          <p:cNvSpPr txBox="1"/>
          <p:nvPr/>
        </p:nvSpPr>
        <p:spPr>
          <a:xfrm>
            <a:off x="9747504"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staff accounts</a:t>
            </a:r>
            <a:endParaRPr lang="en-US" sz="1100" dirty="0"/>
          </a:p>
        </p:txBody>
      </p:sp>
      <p:sp>
        <p:nvSpPr>
          <p:cNvPr id="37" name="Text 35"/>
          <p:cNvSpPr txBox="1"/>
          <p:nvPr/>
        </p:nvSpPr>
        <p:spPr>
          <a:xfrm>
            <a:off x="9747504"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data visibility</a:t>
            </a:r>
            <a:endParaRPr lang="en-US" sz="1100" dirty="0"/>
          </a:p>
        </p:txBody>
      </p:sp>
      <p:sp>
        <p:nvSpPr>
          <p:cNvPr id="38" name="Text 3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Features by Role</a:t>
            </a:r>
            <a:endParaRPr lang="en-US" sz="1000" dirty="0"/>
          </a:p>
        </p:txBody>
      </p:sp>
      <p:sp>
        <p:nvSpPr>
          <p:cNvPr id="39" name="Text 3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7 / 16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Deliverable 5 — 100% Feature Completion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Eight gaps closed against the SRS after the Deliverable 3 prototype — every one covered by an automated test.</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sp>
      <p:sp>
        <p:nvSpPr>
          <p:cNvPr id="5" name="Shape 3"/>
          <p:cNvSpPr/>
          <p:nvPr/>
        </p:nvSpPr>
        <p:spPr>
          <a:xfrm>
            <a:off x="713232" y="1856232"/>
            <a:ext cx="365760" cy="365760"/>
          </a:xfrm>
          <a:prstGeom prst="ellipse">
            <a:avLst/>
          </a:prstGeom>
          <a:solidFill>
            <a:srgbClr val="16A34A"/>
          </a:solidFill>
          <a:ln/>
        </p:spPr>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Photo uploads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Property (≤10), unit (≤5), and maintenance (≤3) photos — JPEG/PNG validated by magic bytes, not extension</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sp>
      <p:sp>
        <p:nvSpPr>
          <p:cNvPr id="10" name="Shape 8"/>
          <p:cNvSpPr/>
          <p:nvPr/>
        </p:nvSpPr>
        <p:spPr>
          <a:xfrm>
            <a:off x="6382512" y="1856232"/>
            <a:ext cx="365760" cy="365760"/>
          </a:xfrm>
          <a:prstGeom prst="ellipse">
            <a:avLst/>
          </a:prstGeom>
          <a:solidFill>
            <a:srgbClr val="16A34A"/>
          </a:solidFill>
          <a:ln/>
        </p:spPr>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Configurable late fees</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Fixed or percentage, applied automatically once rent is overdue</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sp>
      <p:sp>
        <p:nvSpPr>
          <p:cNvPr id="15" name="Shape 13"/>
          <p:cNvSpPr/>
          <p:nvPr/>
        </p:nvSpPr>
        <p:spPr>
          <a:xfrm>
            <a:off x="713232" y="3072384"/>
            <a:ext cx="365760" cy="365760"/>
          </a:xfrm>
          <a:prstGeom prst="ellipse">
            <a:avLst/>
          </a:prstGeom>
          <a:solidFill>
            <a:srgbClr val="16A34A"/>
          </a:solidFill>
          <a:ln/>
        </p:spPr>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blacklisting</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Flag a tenant to block future leases without touching an existing one</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sp>
      <p:sp>
        <p:nvSpPr>
          <p:cNvPr id="20" name="Shape 18"/>
          <p:cNvSpPr/>
          <p:nvPr/>
        </p:nvSpPr>
        <p:spPr>
          <a:xfrm>
            <a:off x="6382512" y="3072384"/>
            <a:ext cx="365760" cy="365760"/>
          </a:xfrm>
          <a:prstGeom prst="ellipse">
            <a:avLst/>
          </a:prstGeom>
          <a:solidFill>
            <a:srgbClr val="16A34A"/>
          </a:solidFill>
          <a:ln/>
        </p:spPr>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ID documents</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Upload and securely serve a tenant’s identification</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sp>
      <p:sp>
        <p:nvSpPr>
          <p:cNvPr id="25" name="Shape 23"/>
          <p:cNvSpPr/>
          <p:nvPr/>
        </p:nvSpPr>
        <p:spPr>
          <a:xfrm>
            <a:off x="713232" y="4288536"/>
            <a:ext cx="365760" cy="365760"/>
          </a:xfrm>
          <a:prstGeom prst="ellipse">
            <a:avLst/>
          </a:prstGeom>
          <a:solidFill>
            <a:srgbClr val="16A34A"/>
          </a:solidFill>
          <a:ln/>
        </p:spPr>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Admin user console</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Role &amp; status management with an “at least one active Owner” guard</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sp>
      <p:sp>
        <p:nvSpPr>
          <p:cNvPr id="30" name="Shape 28"/>
          <p:cNvSpPr/>
          <p:nvPr/>
        </p:nvSpPr>
        <p:spPr>
          <a:xfrm>
            <a:off x="6382512" y="4288536"/>
            <a:ext cx="365760" cy="365760"/>
          </a:xfrm>
          <a:prstGeom prst="ellipse">
            <a:avLst/>
          </a:prstGeom>
          <a:solidFill>
            <a:srgbClr val="16A34A"/>
          </a:solidFill>
          <a:ln/>
        </p:spPr>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Staff self-service accounts</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Owner/Manager/Admin can create a Maintenance Staff login directly</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sp>
      <p:sp>
        <p:nvSpPr>
          <p:cNvPr id="35" name="Shape 33"/>
          <p:cNvSpPr/>
          <p:nvPr/>
        </p:nvSpPr>
        <p:spPr>
          <a:xfrm>
            <a:off x="713232" y="5504688"/>
            <a:ext cx="365760" cy="365760"/>
          </a:xfrm>
          <a:prstGeom prst="ellipse">
            <a:avLst/>
          </a:prstGeom>
          <a:solidFill>
            <a:srgbClr val="16A34A"/>
          </a:solidFill>
          <a:ln/>
        </p:spPr>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CSV rent history export</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One-click spreadsheet export of a lease’s payment history</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sp>
      <p:sp>
        <p:nvSpPr>
          <p:cNvPr id="40" name="Shape 38"/>
          <p:cNvSpPr/>
          <p:nvPr/>
        </p:nvSpPr>
        <p:spPr>
          <a:xfrm>
            <a:off x="6382512" y="5504688"/>
            <a:ext cx="365760" cy="365760"/>
          </a:xfrm>
          <a:prstGeom prst="ellipse">
            <a:avLst/>
          </a:prstGeom>
          <a:solidFill>
            <a:srgbClr val="16A34A"/>
          </a:solidFill>
          <a:ln/>
        </p:spPr>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Excel portfolio export</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Two-sheet .xlsx workbook: portfolio summary + per-property breakdown</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Deliverable 5 Highlights</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8 / 16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The Billing Engine</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Eight further billing capabilities added after Deliverable 6, going beyond the original SRS — 78 additional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sp>
      <p:sp>
        <p:nvSpPr>
          <p:cNvPr id="5" name="Shape 3"/>
          <p:cNvSpPr/>
          <p:nvPr/>
        </p:nvSpPr>
        <p:spPr>
          <a:xfrm>
            <a:off x="713232" y="1856232"/>
            <a:ext cx="365760" cy="365760"/>
          </a:xfrm>
          <a:prstGeom prst="ellipse">
            <a:avLst/>
          </a:prstGeom>
          <a:solidFill>
            <a:srgbClr val="16A34A"/>
          </a:solidFill>
          <a:ln/>
        </p:spPr>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Operational &amp; sundry charges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One-off charges beyond rent — cleaning, call-outs — billed straight to the lease</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sp>
      <p:sp>
        <p:nvSpPr>
          <p:cNvPr id="10" name="Shape 8"/>
          <p:cNvSpPr/>
          <p:nvPr/>
        </p:nvSpPr>
        <p:spPr>
          <a:xfrm>
            <a:off x="6382512" y="1856232"/>
            <a:ext cx="365760" cy="365760"/>
          </a:xfrm>
          <a:prstGeom prst="ellipse">
            <a:avLst/>
          </a:prstGeom>
          <a:solidFill>
            <a:srgbClr val="16A34A"/>
          </a:solidFill>
          <a:ln/>
        </p:spPr>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Electricity metering</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per-property rate plus manual meter readings; consumption bills itself automatically</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sp>
      <p:sp>
        <p:nvSpPr>
          <p:cNvPr id="15" name="Shape 13"/>
          <p:cNvSpPr/>
          <p:nvPr/>
        </p:nvSpPr>
        <p:spPr>
          <a:xfrm>
            <a:off x="713232" y="3072384"/>
            <a:ext cx="365760" cy="365760"/>
          </a:xfrm>
          <a:prstGeom prst="ellipse">
            <a:avLst/>
          </a:prstGeom>
          <a:solidFill>
            <a:srgbClr val="16A34A"/>
          </a:solidFill>
          <a:ln/>
        </p:spPr>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 rata rent</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first month prorates to a daily rate when a tenant moves in mid-month</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sp>
      <p:sp>
        <p:nvSpPr>
          <p:cNvPr id="20" name="Shape 18"/>
          <p:cNvSpPr/>
          <p:nvPr/>
        </p:nvSpPr>
        <p:spPr>
          <a:xfrm>
            <a:off x="6382512" y="3072384"/>
            <a:ext cx="365760" cy="365760"/>
          </a:xfrm>
          <a:prstGeom prst="ellipse">
            <a:avLst/>
          </a:prstGeom>
          <a:solidFill>
            <a:srgbClr val="16A34A"/>
          </a:solidFill>
          <a:ln/>
        </p:spPr>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Variable / escalating rent</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scheduled rent revision takes effect from a chosen date — past periods stay untouched</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sp>
      <p:sp>
        <p:nvSpPr>
          <p:cNvPr id="25" name="Shape 23"/>
          <p:cNvSpPr/>
          <p:nvPr/>
        </p:nvSpPr>
        <p:spPr>
          <a:xfrm>
            <a:off x="713232" y="4288536"/>
            <a:ext cx="365760" cy="365760"/>
          </a:xfrm>
          <a:prstGeom prst="ellipse">
            <a:avLst/>
          </a:prstGeom>
          <a:solidFill>
            <a:srgbClr val="16A34A"/>
          </a:solidFill>
          <a:ln/>
        </p:spPr>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Automated recurring billing</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daily scheduler job invoices every elapsed period exactly once, with a full paper trail</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sp>
      <p:sp>
        <p:nvSpPr>
          <p:cNvPr id="30" name="Shape 28"/>
          <p:cNvSpPr/>
          <p:nvPr/>
        </p:nvSpPr>
        <p:spPr>
          <a:xfrm>
            <a:off x="6382512" y="4288536"/>
            <a:ext cx="365760" cy="365760"/>
          </a:xfrm>
          <a:prstGeom prst="ellipse">
            <a:avLst/>
          </a:prstGeom>
          <a:solidFill>
            <a:srgbClr val="16A34A"/>
          </a:solidFill>
          <a:ln/>
        </p:spPr>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Account statements by period</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Opening balance, in-period activity, closing balance — plus full tenant self-service access</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sp>
      <p:sp>
        <p:nvSpPr>
          <p:cNvPr id="35" name="Shape 33"/>
          <p:cNvSpPr/>
          <p:nvPr/>
        </p:nvSpPr>
        <p:spPr>
          <a:xfrm>
            <a:off x="713232" y="5504688"/>
            <a:ext cx="365760" cy="365760"/>
          </a:xfrm>
          <a:prstGeom prst="ellipse">
            <a:avLst/>
          </a:prstGeom>
          <a:solidFill>
            <a:srgbClr val="16A34A"/>
          </a:solidFill>
          <a:ln/>
        </p:spPr>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Payment receipts</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payment now has a real, downloadable PDF receipt, not just a receipt number</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sp>
      <p:sp>
        <p:nvSpPr>
          <p:cNvPr id="40" name="Shape 38"/>
          <p:cNvSpPr/>
          <p:nvPr/>
        </p:nvSpPr>
        <p:spPr>
          <a:xfrm>
            <a:off x="6382512" y="5504688"/>
            <a:ext cx="365760" cy="365760"/>
          </a:xfrm>
          <a:prstGeom prst="ellipse">
            <a:avLst/>
          </a:prstGeom>
          <a:solidFill>
            <a:srgbClr val="16A34A"/>
          </a:solidFill>
          <a:ln/>
        </p:spPr>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Property expenses &amp; net income</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Owner-side operating costs feed a true net income estimate, not just rent collected</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Billing Engine</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9 / 16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Testing &amp; Quality</a:t>
            </a:r>
            <a:endParaRPr lang="en-US" sz="3200" dirty="0"/>
          </a:p>
        </p:txBody>
      </p:sp>
      <p:sp>
        <p:nvSpPr>
          <p:cNvPr id="3" name="Shape 1"/>
          <p:cNvSpPr/>
          <p:nvPr/>
        </p:nvSpPr>
        <p:spPr>
          <a:xfrm>
            <a:off x="548640" y="1280160"/>
            <a:ext cx="2606040" cy="1371600"/>
          </a:xfrm>
          <a:prstGeom prst="roundRect">
            <a:avLst>
              <a:gd name="adj" fmla="val 6667"/>
            </a:avLst>
          </a:prstGeom>
          <a:solidFill>
            <a:srgbClr val="EFF6FF"/>
          </a:solidFill>
          <a:ln/>
        </p:spPr>
      </p:sp>
      <p:sp>
        <p:nvSpPr>
          <p:cNvPr id="4" name="Text 2"/>
          <p:cNvSpPr txBox="1"/>
          <p:nvPr/>
        </p:nvSpPr>
        <p:spPr>
          <a:xfrm>
            <a:off x="54864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202</a:t>
            </a:r>
            <a:endParaRPr lang="en-US" sz="3400" dirty="0"/>
          </a:p>
        </p:txBody>
      </p:sp>
      <p:sp>
        <p:nvSpPr>
          <p:cNvPr id="5" name="Text 3"/>
          <p:cNvSpPr txBox="1"/>
          <p:nvPr/>
        </p:nvSpPr>
        <p:spPr>
          <a:xfrm>
            <a:off x="54864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Automated Tests</a:t>
            </a:r>
            <a:endParaRPr lang="en-US" sz="1200" dirty="0"/>
          </a:p>
        </p:txBody>
      </p:sp>
      <p:sp>
        <p:nvSpPr>
          <p:cNvPr id="6" name="Shape 4"/>
          <p:cNvSpPr/>
          <p:nvPr/>
        </p:nvSpPr>
        <p:spPr>
          <a:xfrm>
            <a:off x="3337560" y="1280160"/>
            <a:ext cx="2606040" cy="1371600"/>
          </a:xfrm>
          <a:prstGeom prst="roundRect">
            <a:avLst>
              <a:gd name="adj" fmla="val 6667"/>
            </a:avLst>
          </a:prstGeom>
          <a:solidFill>
            <a:srgbClr val="16A34A"/>
          </a:solidFill>
          <a:ln/>
        </p:spPr>
      </p:sp>
      <p:sp>
        <p:nvSpPr>
          <p:cNvPr id="7" name="Text 5"/>
          <p:cNvSpPr txBox="1"/>
          <p:nvPr/>
        </p:nvSpPr>
        <p:spPr>
          <a:xfrm>
            <a:off x="3337560" y="1389888"/>
            <a:ext cx="2606040" cy="77724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0</a:t>
            </a:r>
            <a:endParaRPr lang="en-US" sz="3400" dirty="0"/>
          </a:p>
        </p:txBody>
      </p:sp>
      <p:sp>
        <p:nvSpPr>
          <p:cNvPr id="8" name="Text 6"/>
          <p:cNvSpPr txBox="1"/>
          <p:nvPr/>
        </p:nvSpPr>
        <p:spPr>
          <a:xfrm>
            <a:off x="3337560" y="2176272"/>
            <a:ext cx="260604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Failures</a:t>
            </a:r>
            <a:endParaRPr lang="en-US" sz="1200" dirty="0"/>
          </a:p>
        </p:txBody>
      </p:sp>
      <p:sp>
        <p:nvSpPr>
          <p:cNvPr id="9" name="Shape 7"/>
          <p:cNvSpPr/>
          <p:nvPr/>
        </p:nvSpPr>
        <p:spPr>
          <a:xfrm>
            <a:off x="6126480" y="1280160"/>
            <a:ext cx="2606040" cy="1371600"/>
          </a:xfrm>
          <a:prstGeom prst="roundRect">
            <a:avLst>
              <a:gd name="adj" fmla="val 6667"/>
            </a:avLst>
          </a:prstGeom>
          <a:solidFill>
            <a:srgbClr val="EFF6FF"/>
          </a:solidFill>
          <a:ln/>
        </p:spPr>
      </p:sp>
      <p:sp>
        <p:nvSpPr>
          <p:cNvPr id="10" name="Text 8"/>
          <p:cNvSpPr txBox="1"/>
          <p:nvPr/>
        </p:nvSpPr>
        <p:spPr>
          <a:xfrm>
            <a:off x="612648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82%</a:t>
            </a:r>
            <a:endParaRPr lang="en-US" sz="3400" dirty="0"/>
          </a:p>
        </p:txBody>
      </p:sp>
      <p:sp>
        <p:nvSpPr>
          <p:cNvPr id="11" name="Text 9"/>
          <p:cNvSpPr txBox="1"/>
          <p:nvPr/>
        </p:nvSpPr>
        <p:spPr>
          <a:xfrm>
            <a:off x="612648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Statement Coverage</a:t>
            </a:r>
            <a:endParaRPr lang="en-US" sz="1200" dirty="0"/>
          </a:p>
        </p:txBody>
      </p:sp>
      <p:sp>
        <p:nvSpPr>
          <p:cNvPr id="12" name="Shape 10"/>
          <p:cNvSpPr/>
          <p:nvPr/>
        </p:nvSpPr>
        <p:spPr>
          <a:xfrm>
            <a:off x="8915400" y="1280160"/>
            <a:ext cx="2606040" cy="1371600"/>
          </a:xfrm>
          <a:prstGeom prst="roundRect">
            <a:avLst>
              <a:gd name="adj" fmla="val 6667"/>
            </a:avLst>
          </a:prstGeom>
          <a:solidFill>
            <a:srgbClr val="EFF6FF"/>
          </a:solidFill>
          <a:ln/>
        </p:spPr>
      </p:sp>
      <p:sp>
        <p:nvSpPr>
          <p:cNvPr id="13" name="Text 11"/>
          <p:cNvSpPr txBox="1"/>
          <p:nvPr/>
        </p:nvSpPr>
        <p:spPr>
          <a:xfrm>
            <a:off x="891540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25/25</a:t>
            </a:r>
            <a:endParaRPr lang="en-US" sz="3400" dirty="0"/>
          </a:p>
        </p:txBody>
      </p:sp>
      <p:sp>
        <p:nvSpPr>
          <p:cNvPr id="14" name="Text 12"/>
          <p:cNvSpPr txBox="1"/>
          <p:nvPr/>
        </p:nvSpPr>
        <p:spPr>
          <a:xfrm>
            <a:off x="891540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Use Cases Covered</a:t>
            </a:r>
            <a:endParaRPr lang="en-US" sz="1200" dirty="0"/>
          </a:p>
        </p:txBody>
      </p:sp>
      <p:graphicFrame>
        <p:nvGraphicFramePr>
          <p:cNvPr id="15" name="Chart 0" descr=""/>
          <p:cNvGraphicFramePr/>
          <p:nvPr/>
        </p:nvGraphicFramePr>
        <p:xfrm>
          <a:off x="548640" y="2971800"/>
          <a:ext cx="6492240" cy="338328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7315200" y="2971800"/>
            <a:ext cx="4297680" cy="3383280"/>
          </a:xfrm>
          <a:prstGeom prst="roundRect">
            <a:avLst>
              <a:gd name="adj" fmla="val 2703"/>
            </a:avLst>
          </a:prstGeom>
          <a:solidFill>
            <a:srgbClr val="F1F5F9"/>
          </a:solidFill>
          <a:ln/>
        </p:spPr>
      </p:sp>
      <p:sp>
        <p:nvSpPr>
          <p:cNvPr id="17" name="Text 14"/>
          <p:cNvSpPr txBox="1"/>
          <p:nvPr/>
        </p:nvSpPr>
        <p:spPr>
          <a:xfrm>
            <a:off x="7543800" y="3154680"/>
            <a:ext cx="384048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What the tests actually verify</a:t>
            </a:r>
            <a:endParaRPr lang="en-US" sz="1300" dirty="0"/>
          </a:p>
        </p:txBody>
      </p:sp>
      <p:sp>
        <p:nvSpPr>
          <p:cNvPr id="18" name="Shape 15"/>
          <p:cNvSpPr/>
          <p:nvPr/>
        </p:nvSpPr>
        <p:spPr>
          <a:xfrm>
            <a:off x="7543800" y="3630168"/>
            <a:ext cx="82296" cy="82296"/>
          </a:xfrm>
          <a:prstGeom prst="ellipse">
            <a:avLst/>
          </a:prstGeom>
          <a:solidFill>
            <a:srgbClr val="16A34A"/>
          </a:solidFill>
          <a:ln/>
        </p:spPr>
      </p:sp>
      <p:sp>
        <p:nvSpPr>
          <p:cNvPr id="19" name="Text 16"/>
          <p:cNvSpPr txBox="1"/>
          <p:nvPr/>
        </p:nvSpPr>
        <p:spPr>
          <a:xfrm>
            <a:off x="7772400" y="3493008"/>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Real HTTP requests through Flask’s test client — not isolated function calls</a:t>
            </a:r>
            <a:endParaRPr lang="en-US" sz="1050" dirty="0"/>
          </a:p>
        </p:txBody>
      </p:sp>
      <p:sp>
        <p:nvSpPr>
          <p:cNvPr id="20" name="Shape 17"/>
          <p:cNvSpPr/>
          <p:nvPr/>
        </p:nvSpPr>
        <p:spPr>
          <a:xfrm>
            <a:off x="7543800" y="4197096"/>
            <a:ext cx="82296" cy="82296"/>
          </a:xfrm>
          <a:prstGeom prst="ellipse">
            <a:avLst/>
          </a:prstGeom>
          <a:solidFill>
            <a:srgbClr val="16A34A"/>
          </a:solidFill>
          <a:ln/>
        </p:spPr>
      </p:sp>
      <p:sp>
        <p:nvSpPr>
          <p:cNvPr id="21" name="Text 18"/>
          <p:cNvSpPr txBox="1"/>
          <p:nvPr/>
        </p:nvSpPr>
        <p:spPr>
          <a:xfrm>
            <a:off x="7772400" y="4059936"/>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RBAC across all 5 roles × every management route</a:t>
            </a:r>
            <a:endParaRPr lang="en-US" sz="1050" dirty="0"/>
          </a:p>
        </p:txBody>
      </p:sp>
      <p:sp>
        <p:nvSpPr>
          <p:cNvPr id="22" name="Shape 19"/>
          <p:cNvSpPr/>
          <p:nvPr/>
        </p:nvSpPr>
        <p:spPr>
          <a:xfrm>
            <a:off x="7543800" y="4764024"/>
            <a:ext cx="82296" cy="82296"/>
          </a:xfrm>
          <a:prstGeom prst="ellipse">
            <a:avLst/>
          </a:prstGeom>
          <a:solidFill>
            <a:srgbClr val="16A34A"/>
          </a:solidFill>
          <a:ln/>
        </p:spPr>
      </p:sp>
      <p:sp>
        <p:nvSpPr>
          <p:cNvPr id="23" name="Text 20"/>
          <p:cNvSpPr txBox="1"/>
          <p:nvPr/>
        </p:nvSpPr>
        <p:spPr>
          <a:xfrm>
            <a:off x="7772400" y="4626864"/>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IDOR: a second Owner cannot view the first Owner’s property</a:t>
            </a:r>
            <a:endParaRPr lang="en-US" sz="1050" dirty="0"/>
          </a:p>
        </p:txBody>
      </p:sp>
      <p:sp>
        <p:nvSpPr>
          <p:cNvPr id="24" name="Shape 21"/>
          <p:cNvSpPr/>
          <p:nvPr/>
        </p:nvSpPr>
        <p:spPr>
          <a:xfrm>
            <a:off x="7543800" y="5330952"/>
            <a:ext cx="82296" cy="82296"/>
          </a:xfrm>
          <a:prstGeom prst="ellipse">
            <a:avLst/>
          </a:prstGeom>
          <a:solidFill>
            <a:srgbClr val="16A34A"/>
          </a:solidFill>
          <a:ln/>
        </p:spPr>
      </p:sp>
      <p:sp>
        <p:nvSpPr>
          <p:cNvPr id="25" name="Text 22"/>
          <p:cNvSpPr txBox="1"/>
          <p:nvPr/>
        </p:nvSpPr>
        <p:spPr>
          <a:xfrm>
            <a:off x="7772400" y="5193792"/>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Calendar edge cases: mid-month leases, day-31-in-February</a:t>
            </a:r>
            <a:endParaRPr lang="en-US" sz="1050" dirty="0"/>
          </a:p>
        </p:txBody>
      </p:sp>
      <p:sp>
        <p:nvSpPr>
          <p:cNvPr id="26" name="Shape 23"/>
          <p:cNvSpPr/>
          <p:nvPr/>
        </p:nvSpPr>
        <p:spPr>
          <a:xfrm>
            <a:off x="7543800" y="5897880"/>
            <a:ext cx="82296" cy="82296"/>
          </a:xfrm>
          <a:prstGeom prst="ellipse">
            <a:avLst/>
          </a:prstGeom>
          <a:solidFill>
            <a:srgbClr val="16A34A"/>
          </a:solidFill>
          <a:ln/>
        </p:spPr>
      </p:sp>
      <p:sp>
        <p:nvSpPr>
          <p:cNvPr id="27" name="Text 24"/>
          <p:cNvSpPr txBox="1"/>
          <p:nvPr/>
        </p:nvSpPr>
        <p:spPr>
          <a:xfrm>
            <a:off x="7772400" y="5760720"/>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Stripe HMAC signature verification — valid, tampered, expired</a:t>
            </a:r>
            <a:endParaRPr lang="en-US" sz="1050" dirty="0"/>
          </a:p>
        </p:txBody>
      </p:sp>
      <p:sp>
        <p:nvSpPr>
          <p:cNvPr id="28" name="Text 25"/>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Testing &amp; Quality</a:t>
            </a:r>
            <a:endParaRPr lang="en-US" sz="1000" dirty="0"/>
          </a:p>
        </p:txBody>
      </p:sp>
      <p:sp>
        <p:nvSpPr>
          <p:cNvPr id="29" name="Text 26"/>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10 / 16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961120" y="4206240"/>
            <a:ext cx="4572000" cy="4572000"/>
          </a:xfrm>
          <a:prstGeom prst="ellipse">
            <a:avLst/>
          </a:prstGeom>
          <a:solidFill>
            <a:srgbClr val="1E293B"/>
          </a:solidFill>
          <a:ln/>
        </p:spPr>
      </p:sp>
      <p:sp>
        <p:nvSpPr>
          <p:cNvPr id="3" name="Text 1"/>
          <p:cNvSpPr txBox="1"/>
          <p:nvPr/>
        </p:nvSpPr>
        <p:spPr>
          <a:xfrm>
            <a:off x="822960" y="1280160"/>
            <a:ext cx="82296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Live Demo</a:t>
            </a:r>
            <a:endParaRPr lang="en-US" sz="4800" dirty="0"/>
          </a:p>
        </p:txBody>
      </p:sp>
      <p:sp>
        <p:nvSpPr>
          <p:cNvPr id="4" name="Text 2"/>
          <p:cNvSpPr txBox="1"/>
          <p:nvPr/>
        </p:nvSpPr>
        <p:spPr>
          <a:xfrm>
            <a:off x="868680" y="2240280"/>
            <a:ext cx="822960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walkthrough of the running application</a:t>
            </a:r>
            <a:endParaRPr lang="en-US" sz="1600" dirty="0"/>
          </a:p>
        </p:txBody>
      </p:sp>
      <p:sp>
        <p:nvSpPr>
          <p:cNvPr id="5" name="Shape 3"/>
          <p:cNvSpPr/>
          <p:nvPr/>
        </p:nvSpPr>
        <p:spPr>
          <a:xfrm>
            <a:off x="868680" y="3063240"/>
            <a:ext cx="365760" cy="365760"/>
          </a:xfrm>
          <a:prstGeom prst="ellipse">
            <a:avLst/>
          </a:prstGeom>
          <a:solidFill>
            <a:srgbClr val="2563EB"/>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417320" y="304495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property &amp; unit setup, photos, and a configured late fee</a:t>
            </a:r>
            <a:endParaRPr lang="en-US" sz="1350" dirty="0"/>
          </a:p>
        </p:txBody>
      </p:sp>
      <p:sp>
        <p:nvSpPr>
          <p:cNvPr id="8" name="Shape 6"/>
          <p:cNvSpPr/>
          <p:nvPr/>
        </p:nvSpPr>
        <p:spPr>
          <a:xfrm>
            <a:off x="868680" y="3593592"/>
            <a:ext cx="365760" cy="365760"/>
          </a:xfrm>
          <a:prstGeom prst="ellipse">
            <a:avLst/>
          </a:prstGeom>
          <a:solidFill>
            <a:srgbClr val="2563EB"/>
          </a:solidFill>
          <a:ln/>
        </p:spPr>
      </p:sp>
      <p:sp>
        <p:nvSpPr>
          <p:cNvPr id="9" name="Text 7"/>
          <p:cNvSpPr txBox="1"/>
          <p:nvPr/>
        </p:nvSpPr>
        <p:spPr>
          <a:xfrm>
            <a:off x="868680" y="359359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417320" y="3575304"/>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onboard a tenant, upload a lease, activate the tenancy</a:t>
            </a:r>
            <a:endParaRPr lang="en-US" sz="1350" dirty="0"/>
          </a:p>
        </p:txBody>
      </p:sp>
      <p:sp>
        <p:nvSpPr>
          <p:cNvPr id="11" name="Shape 9"/>
          <p:cNvSpPr/>
          <p:nvPr/>
        </p:nvSpPr>
        <p:spPr>
          <a:xfrm>
            <a:off x="868680" y="4123944"/>
            <a:ext cx="365760" cy="365760"/>
          </a:xfrm>
          <a:prstGeom prst="ellipse">
            <a:avLst/>
          </a:prstGeom>
          <a:solidFill>
            <a:srgbClr val="2563EB"/>
          </a:solidFill>
          <a:ln/>
        </p:spPr>
      </p:sp>
      <p:sp>
        <p:nvSpPr>
          <p:cNvPr id="12" name="Text 10"/>
          <p:cNvSpPr txBox="1"/>
          <p:nvPr/>
        </p:nvSpPr>
        <p:spPr>
          <a:xfrm>
            <a:off x="868680" y="41239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3" name="Text 11"/>
          <p:cNvSpPr txBox="1"/>
          <p:nvPr/>
        </p:nvSpPr>
        <p:spPr>
          <a:xfrm>
            <a:off x="1417320" y="4105656"/>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blacklist / unblacklist, record a rent payment</a:t>
            </a:r>
            <a:endParaRPr lang="en-US" sz="1350" dirty="0"/>
          </a:p>
        </p:txBody>
      </p:sp>
      <p:sp>
        <p:nvSpPr>
          <p:cNvPr id="14" name="Shape 12"/>
          <p:cNvSpPr/>
          <p:nvPr/>
        </p:nvSpPr>
        <p:spPr>
          <a:xfrm>
            <a:off x="868680" y="4654296"/>
            <a:ext cx="365760" cy="365760"/>
          </a:xfrm>
          <a:prstGeom prst="ellipse">
            <a:avLst/>
          </a:prstGeom>
          <a:solidFill>
            <a:srgbClr val="2563EB"/>
          </a:solidFill>
          <a:ln/>
        </p:spPr>
      </p:sp>
      <p:sp>
        <p:nvSpPr>
          <p:cNvPr id="15" name="Text 13"/>
          <p:cNvSpPr txBox="1"/>
          <p:nvPr/>
        </p:nvSpPr>
        <p:spPr>
          <a:xfrm>
            <a:off x="868680" y="465429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6" name="Text 14"/>
          <p:cNvSpPr txBox="1"/>
          <p:nvPr/>
        </p:nvSpPr>
        <p:spPr>
          <a:xfrm>
            <a:off x="1417320" y="4636008"/>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Tenant → Owner → Staff → Tenant: full maintenance lifecycle</a:t>
            </a:r>
            <a:endParaRPr lang="en-US" sz="1350" dirty="0"/>
          </a:p>
        </p:txBody>
      </p:sp>
      <p:sp>
        <p:nvSpPr>
          <p:cNvPr id="17" name="Shape 15"/>
          <p:cNvSpPr/>
          <p:nvPr/>
        </p:nvSpPr>
        <p:spPr>
          <a:xfrm>
            <a:off x="868680" y="5184648"/>
            <a:ext cx="365760" cy="365760"/>
          </a:xfrm>
          <a:prstGeom prst="ellipse">
            <a:avLst/>
          </a:prstGeom>
          <a:solidFill>
            <a:srgbClr val="2563EB"/>
          </a:solidFill>
          <a:ln/>
        </p:spPr>
      </p:sp>
      <p:sp>
        <p:nvSpPr>
          <p:cNvPr id="18" name="Text 16"/>
          <p:cNvSpPr txBox="1"/>
          <p:nvPr/>
        </p:nvSpPr>
        <p:spPr>
          <a:xfrm>
            <a:off x="868680" y="51846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19" name="Text 17"/>
          <p:cNvSpPr txBox="1"/>
          <p:nvPr/>
        </p:nvSpPr>
        <p:spPr>
          <a:xfrm>
            <a:off x="1417320" y="5166360"/>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Admin: user management and staff account creation</a:t>
            </a:r>
            <a:endParaRPr lang="en-US" sz="1350" dirty="0"/>
          </a:p>
        </p:txBody>
      </p:sp>
      <p:sp>
        <p:nvSpPr>
          <p:cNvPr id="20" name="Shape 18"/>
          <p:cNvSpPr/>
          <p:nvPr/>
        </p:nvSpPr>
        <p:spPr>
          <a:xfrm>
            <a:off x="868680" y="5715000"/>
            <a:ext cx="365760" cy="365760"/>
          </a:xfrm>
          <a:prstGeom prst="ellipse">
            <a:avLst/>
          </a:prstGeom>
          <a:solidFill>
            <a:srgbClr val="2563EB"/>
          </a:solidFill>
          <a:ln/>
        </p:spPr>
      </p:sp>
      <p:sp>
        <p:nvSpPr>
          <p:cNvPr id="21" name="Text 19"/>
          <p:cNvSpPr txBox="1"/>
          <p:nvPr/>
        </p:nvSpPr>
        <p:spPr>
          <a:xfrm>
            <a:off x="868680" y="57150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2" name="Text 20"/>
          <p:cNvSpPr txBox="1"/>
          <p:nvPr/>
        </p:nvSpPr>
        <p:spPr>
          <a:xfrm>
            <a:off x="1417320" y="569671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Billing engine: charges, metering, pro rata, revisions, auto billing, statements, receipts, expenses</a:t>
            </a:r>
            <a:endParaRPr lang="en-US" sz="1350" dirty="0"/>
          </a:p>
        </p:txBody>
      </p:sp>
      <p:sp>
        <p:nvSpPr>
          <p:cNvPr id="23" name="Text 2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Live Demo</a:t>
            </a:r>
            <a:endParaRPr lang="en-US" sz="1000" dirty="0"/>
          </a:p>
        </p:txBody>
      </p:sp>
      <p:sp>
        <p:nvSpPr>
          <p:cNvPr id="24" name="Text 2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11 / 16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Challenges &amp; Solutions</a:t>
            </a:r>
            <a:endParaRPr lang="en-US" sz="3200" dirty="0"/>
          </a:p>
        </p:txBody>
      </p:sp>
      <p:sp>
        <p:nvSpPr>
          <p:cNvPr id="3" name="Shape 1"/>
          <p:cNvSpPr/>
          <p:nvPr/>
        </p:nvSpPr>
        <p:spPr>
          <a:xfrm>
            <a:off x="548640" y="1417320"/>
            <a:ext cx="5349240" cy="1371600"/>
          </a:xfrm>
          <a:prstGeom prst="roundRect">
            <a:avLst>
              <a:gd name="adj" fmla="val 5333"/>
            </a:avLst>
          </a:prstGeom>
          <a:solidFill>
            <a:srgbClr val="FEF2F2"/>
          </a:solidFill>
          <a:ln/>
        </p:spPr>
      </p:sp>
      <p:sp>
        <p:nvSpPr>
          <p:cNvPr id="4" name="Text 2"/>
          <p:cNvSpPr txBox="1"/>
          <p:nvPr/>
        </p:nvSpPr>
        <p:spPr>
          <a:xfrm>
            <a:off x="777240" y="155448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5" name="Text 3"/>
          <p:cNvSpPr txBox="1"/>
          <p:nvPr/>
        </p:nvSpPr>
        <p:spPr>
          <a:xfrm>
            <a:off x="77724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Reconciling ambitious design docs with what one developer could actually build and verify</a:t>
            </a:r>
            <a:endParaRPr lang="en-US" sz="1200" dirty="0"/>
          </a:p>
        </p:txBody>
      </p:sp>
      <p:sp>
        <p:nvSpPr>
          <p:cNvPr id="6" name="Shape 4"/>
          <p:cNvSpPr/>
          <p:nvPr/>
        </p:nvSpPr>
        <p:spPr>
          <a:xfrm>
            <a:off x="6080760" y="1417320"/>
            <a:ext cx="5349240" cy="1371600"/>
          </a:xfrm>
          <a:prstGeom prst="roundRect">
            <a:avLst>
              <a:gd name="adj" fmla="val 5333"/>
            </a:avLst>
          </a:prstGeom>
          <a:solidFill>
            <a:srgbClr val="F0FDF4"/>
          </a:solidFill>
          <a:ln/>
        </p:spPr>
      </p:sp>
      <p:sp>
        <p:nvSpPr>
          <p:cNvPr id="7" name="Text 5"/>
          <p:cNvSpPr txBox="1"/>
          <p:nvPr/>
        </p:nvSpPr>
        <p:spPr>
          <a:xfrm>
            <a:off x="6309360" y="155448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8" name="Text 6"/>
          <p:cNvSpPr txBox="1"/>
          <p:nvPr/>
        </p:nvSpPr>
        <p:spPr>
          <a:xfrm>
            <a:off x="630936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Simplified Deliverable 2’s microservice sketch to a layered monolith; corrected Deliverable 3’s overstated early numbers to the real, verified ones</a:t>
            </a:r>
            <a:endParaRPr lang="en-US" sz="1200" dirty="0"/>
          </a:p>
        </p:txBody>
      </p:sp>
      <p:sp>
        <p:nvSpPr>
          <p:cNvPr id="9" name="Shape 7"/>
          <p:cNvSpPr/>
          <p:nvPr/>
        </p:nvSpPr>
        <p:spPr>
          <a:xfrm>
            <a:off x="548640" y="2971800"/>
            <a:ext cx="5349240" cy="1371600"/>
          </a:xfrm>
          <a:prstGeom prst="roundRect">
            <a:avLst>
              <a:gd name="adj" fmla="val 5333"/>
            </a:avLst>
          </a:prstGeom>
          <a:solidFill>
            <a:srgbClr val="FEF2F2"/>
          </a:solidFill>
          <a:ln/>
        </p:spPr>
      </p:sp>
      <p:sp>
        <p:nvSpPr>
          <p:cNvPr id="10" name="Text 8"/>
          <p:cNvSpPr txBox="1"/>
          <p:nvPr/>
        </p:nvSpPr>
        <p:spPr>
          <a:xfrm>
            <a:off x="777240" y="310896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1" name="Text 9"/>
          <p:cNvSpPr txBox="1"/>
          <p:nvPr/>
        </p:nvSpPr>
        <p:spPr>
          <a:xfrm>
            <a:off x="77724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Calendar-accurate billing — a lease starting on the 31st, or a due day that doesn’t exist in February</a:t>
            </a:r>
            <a:endParaRPr lang="en-US" sz="1200" dirty="0"/>
          </a:p>
        </p:txBody>
      </p:sp>
      <p:sp>
        <p:nvSpPr>
          <p:cNvPr id="12" name="Shape 10"/>
          <p:cNvSpPr/>
          <p:nvPr/>
        </p:nvSpPr>
        <p:spPr>
          <a:xfrm>
            <a:off x="6080760" y="2971800"/>
            <a:ext cx="5349240" cy="1371600"/>
          </a:xfrm>
          <a:prstGeom prst="roundRect">
            <a:avLst>
              <a:gd name="adj" fmla="val 5333"/>
            </a:avLst>
          </a:prstGeom>
          <a:solidFill>
            <a:srgbClr val="F0FDF4"/>
          </a:solidFill>
          <a:ln/>
        </p:spPr>
      </p:sp>
      <p:sp>
        <p:nvSpPr>
          <p:cNvPr id="13" name="Text 11"/>
          <p:cNvSpPr txBox="1"/>
          <p:nvPr/>
        </p:nvSpPr>
        <p:spPr>
          <a:xfrm>
            <a:off x="6309360" y="310896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14" name="Text 12"/>
          <p:cNvSpPr txBox="1"/>
          <p:nvPr/>
        </p:nvSpPr>
        <p:spPr>
          <a:xfrm>
            <a:off x="630936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Wrote the edge-case tests first (mid-month start, day-29 clipping) before trusting the due-date calculation</a:t>
            </a:r>
            <a:endParaRPr lang="en-US" sz="1200" dirty="0"/>
          </a:p>
        </p:txBody>
      </p:sp>
      <p:sp>
        <p:nvSpPr>
          <p:cNvPr id="15" name="Shape 13"/>
          <p:cNvSpPr/>
          <p:nvPr/>
        </p:nvSpPr>
        <p:spPr>
          <a:xfrm>
            <a:off x="548640" y="4526280"/>
            <a:ext cx="5349240" cy="1371600"/>
          </a:xfrm>
          <a:prstGeom prst="roundRect">
            <a:avLst>
              <a:gd name="adj" fmla="val 5333"/>
            </a:avLst>
          </a:prstGeom>
          <a:solidFill>
            <a:srgbClr val="FEF2F2"/>
          </a:solidFill>
          <a:ln/>
        </p:spPr>
      </p:sp>
      <p:sp>
        <p:nvSpPr>
          <p:cNvPr id="16" name="Text 14"/>
          <p:cNvSpPr txBox="1"/>
          <p:nvPr/>
        </p:nvSpPr>
        <p:spPr>
          <a:xfrm>
            <a:off x="777240" y="466344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7" name="Text 15"/>
          <p:cNvSpPr txBox="1"/>
          <p:nvPr/>
        </p:nvSpPr>
        <p:spPr>
          <a:xfrm>
            <a:off x="77724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Testing payments, email, and SMS without any live paid account</a:t>
            </a:r>
            <a:endParaRPr lang="en-US" sz="1200" dirty="0"/>
          </a:p>
        </p:txBody>
      </p:sp>
      <p:sp>
        <p:nvSpPr>
          <p:cNvPr id="18" name="Shape 16"/>
          <p:cNvSpPr/>
          <p:nvPr/>
        </p:nvSpPr>
        <p:spPr>
          <a:xfrm>
            <a:off x="6080760" y="4526280"/>
            <a:ext cx="5349240" cy="1371600"/>
          </a:xfrm>
          <a:prstGeom prst="roundRect">
            <a:avLst>
              <a:gd name="adj" fmla="val 5333"/>
            </a:avLst>
          </a:prstGeom>
          <a:solidFill>
            <a:srgbClr val="F0FDF4"/>
          </a:solidFill>
          <a:ln/>
        </p:spPr>
      </p:sp>
      <p:sp>
        <p:nvSpPr>
          <p:cNvPr id="19" name="Text 17"/>
          <p:cNvSpPr txBox="1"/>
          <p:nvPr/>
        </p:nvSpPr>
        <p:spPr>
          <a:xfrm>
            <a:off x="6309360" y="466344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20" name="Text 18"/>
          <p:cNvSpPr txBox="1"/>
          <p:nvPr/>
        </p:nvSpPr>
        <p:spPr>
          <a:xfrm>
            <a:off x="630936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Built a dev-mode fallback pattern into every external service — the whole app runs and tests fully offline</a:t>
            </a:r>
            <a:endParaRPr lang="en-US" sz="12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Challenges &amp; Solutions</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12 / 16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Security Controls</a:t>
            </a:r>
            <a:endParaRPr lang="en-US" sz="3200" dirty="0"/>
          </a:p>
        </p:txBody>
      </p:sp>
      <p:sp>
        <p:nvSpPr>
          <p:cNvPr id="3" name="Shape 1"/>
          <p:cNvSpPr/>
          <p:nvPr/>
        </p:nvSpPr>
        <p:spPr>
          <a:xfrm>
            <a:off x="548640" y="1371600"/>
            <a:ext cx="5394960" cy="1170432"/>
          </a:xfrm>
          <a:prstGeom prst="roundRect">
            <a:avLst>
              <a:gd name="adj" fmla="val 6250"/>
            </a:avLst>
          </a:prstGeom>
          <a:solidFill>
            <a:srgbClr val="F1F5F9"/>
          </a:solidFill>
          <a:ln/>
        </p:spPr>
      </p:sp>
      <p:sp>
        <p:nvSpPr>
          <p:cNvPr id="4" name="Shape 2"/>
          <p:cNvSpPr/>
          <p:nvPr/>
        </p:nvSpPr>
        <p:spPr>
          <a:xfrm>
            <a:off x="713232" y="1764792"/>
            <a:ext cx="384048" cy="384048"/>
          </a:xfrm>
          <a:prstGeom prst="ellipse">
            <a:avLst/>
          </a:prstGeom>
          <a:solidFill>
            <a:srgbClr val="0F172A"/>
          </a:solidFill>
          <a:ln/>
        </p:spPr>
      </p:sp>
      <p:sp>
        <p:nvSpPr>
          <p:cNvPr id="5" name="Text 3"/>
          <p:cNvSpPr txBox="1"/>
          <p:nvPr/>
        </p:nvSpPr>
        <p:spPr>
          <a:xfrm>
            <a:off x="71323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6" name="Text 4"/>
          <p:cNvSpPr txBox="1"/>
          <p:nvPr/>
        </p:nvSpPr>
        <p:spPr>
          <a:xfrm>
            <a:off x="126187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Password hashing</a:t>
            </a:r>
            <a:endParaRPr lang="en-US" sz="1300" dirty="0"/>
          </a:p>
        </p:txBody>
      </p:sp>
      <p:sp>
        <p:nvSpPr>
          <p:cNvPr id="7" name="Text 5"/>
          <p:cNvSpPr txBox="1"/>
          <p:nvPr/>
        </p:nvSpPr>
        <p:spPr>
          <a:xfrm>
            <a:off x="126187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pbkdf2:sha256, 600,000 iterations</a:t>
            </a:r>
            <a:endParaRPr lang="en-US" sz="1050" dirty="0"/>
          </a:p>
        </p:txBody>
      </p:sp>
      <p:sp>
        <p:nvSpPr>
          <p:cNvPr id="8" name="Shape 6"/>
          <p:cNvSpPr/>
          <p:nvPr/>
        </p:nvSpPr>
        <p:spPr>
          <a:xfrm>
            <a:off x="6217920" y="1371600"/>
            <a:ext cx="5394960" cy="1170432"/>
          </a:xfrm>
          <a:prstGeom prst="roundRect">
            <a:avLst>
              <a:gd name="adj" fmla="val 6250"/>
            </a:avLst>
          </a:prstGeom>
          <a:solidFill>
            <a:srgbClr val="F1F5F9"/>
          </a:solidFill>
          <a:ln/>
        </p:spPr>
      </p:sp>
      <p:sp>
        <p:nvSpPr>
          <p:cNvPr id="9" name="Shape 7"/>
          <p:cNvSpPr/>
          <p:nvPr/>
        </p:nvSpPr>
        <p:spPr>
          <a:xfrm>
            <a:off x="6382512" y="1764792"/>
            <a:ext cx="384048" cy="384048"/>
          </a:xfrm>
          <a:prstGeom prst="ellipse">
            <a:avLst/>
          </a:prstGeom>
          <a:solidFill>
            <a:srgbClr val="0F172A"/>
          </a:solidFill>
          <a:ln/>
        </p:spPr>
      </p:sp>
      <p:sp>
        <p:nvSpPr>
          <p:cNvPr id="10" name="Text 8"/>
          <p:cNvSpPr txBox="1"/>
          <p:nvPr/>
        </p:nvSpPr>
        <p:spPr>
          <a:xfrm>
            <a:off x="638251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1" name="Text 9"/>
          <p:cNvSpPr txBox="1"/>
          <p:nvPr/>
        </p:nvSpPr>
        <p:spPr>
          <a:xfrm>
            <a:off x="693115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RBAC</a:t>
            </a:r>
            <a:endParaRPr lang="en-US" sz="1300" dirty="0"/>
          </a:p>
        </p:txBody>
      </p:sp>
      <p:sp>
        <p:nvSpPr>
          <p:cNvPr id="12" name="Text 10"/>
          <p:cNvSpPr txBox="1"/>
          <p:nvPr/>
        </p:nvSpPr>
        <p:spPr>
          <a:xfrm>
            <a:off x="693115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role_required() on every protected route, 5 roles</a:t>
            </a:r>
            <a:endParaRPr lang="en-US" sz="1050" dirty="0"/>
          </a:p>
        </p:txBody>
      </p:sp>
      <p:sp>
        <p:nvSpPr>
          <p:cNvPr id="13" name="Shape 11"/>
          <p:cNvSpPr/>
          <p:nvPr/>
        </p:nvSpPr>
        <p:spPr>
          <a:xfrm>
            <a:off x="548640" y="2679192"/>
            <a:ext cx="5394960" cy="1170432"/>
          </a:xfrm>
          <a:prstGeom prst="roundRect">
            <a:avLst>
              <a:gd name="adj" fmla="val 6250"/>
            </a:avLst>
          </a:prstGeom>
          <a:solidFill>
            <a:srgbClr val="F1F5F9"/>
          </a:solidFill>
          <a:ln/>
        </p:spPr>
      </p:sp>
      <p:sp>
        <p:nvSpPr>
          <p:cNvPr id="14" name="Shape 12"/>
          <p:cNvSpPr/>
          <p:nvPr/>
        </p:nvSpPr>
        <p:spPr>
          <a:xfrm>
            <a:off x="713232" y="3072384"/>
            <a:ext cx="384048" cy="384048"/>
          </a:xfrm>
          <a:prstGeom prst="ellipse">
            <a:avLst/>
          </a:prstGeom>
          <a:solidFill>
            <a:srgbClr val="0F172A"/>
          </a:solidFill>
          <a:ln/>
        </p:spPr>
      </p:sp>
      <p:sp>
        <p:nvSpPr>
          <p:cNvPr id="15" name="Text 13"/>
          <p:cNvSpPr txBox="1"/>
          <p:nvPr/>
        </p:nvSpPr>
        <p:spPr>
          <a:xfrm>
            <a:off x="71323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6" name="Text 14"/>
          <p:cNvSpPr txBox="1"/>
          <p:nvPr/>
        </p:nvSpPr>
        <p:spPr>
          <a:xfrm>
            <a:off x="126187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IDOR protection</a:t>
            </a:r>
            <a:endParaRPr lang="en-US" sz="1300" dirty="0"/>
          </a:p>
        </p:txBody>
      </p:sp>
      <p:sp>
        <p:nvSpPr>
          <p:cNvPr id="17" name="Text 15"/>
          <p:cNvSpPr txBox="1"/>
          <p:nvPr/>
        </p:nvSpPr>
        <p:spPr>
          <a:xfrm>
            <a:off x="126187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assert_owner() / assert_tenant_self() — resource-level, not just route-level</a:t>
            </a:r>
            <a:endParaRPr lang="en-US" sz="1050" dirty="0"/>
          </a:p>
        </p:txBody>
      </p:sp>
      <p:sp>
        <p:nvSpPr>
          <p:cNvPr id="18" name="Shape 16"/>
          <p:cNvSpPr/>
          <p:nvPr/>
        </p:nvSpPr>
        <p:spPr>
          <a:xfrm>
            <a:off x="6217920" y="2679192"/>
            <a:ext cx="5394960" cy="1170432"/>
          </a:xfrm>
          <a:prstGeom prst="roundRect">
            <a:avLst>
              <a:gd name="adj" fmla="val 6250"/>
            </a:avLst>
          </a:prstGeom>
          <a:solidFill>
            <a:srgbClr val="F1F5F9"/>
          </a:solidFill>
          <a:ln/>
        </p:spPr>
      </p:sp>
      <p:sp>
        <p:nvSpPr>
          <p:cNvPr id="19" name="Shape 17"/>
          <p:cNvSpPr/>
          <p:nvPr/>
        </p:nvSpPr>
        <p:spPr>
          <a:xfrm>
            <a:off x="6382512" y="3072384"/>
            <a:ext cx="384048" cy="384048"/>
          </a:xfrm>
          <a:prstGeom prst="ellipse">
            <a:avLst/>
          </a:prstGeom>
          <a:solidFill>
            <a:srgbClr val="0F172A"/>
          </a:solidFill>
          <a:ln/>
        </p:spPr>
      </p:sp>
      <p:sp>
        <p:nvSpPr>
          <p:cNvPr id="20" name="Text 18"/>
          <p:cNvSpPr txBox="1"/>
          <p:nvPr/>
        </p:nvSpPr>
        <p:spPr>
          <a:xfrm>
            <a:off x="638251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1" name="Text 19"/>
          <p:cNvSpPr txBox="1"/>
          <p:nvPr/>
        </p:nvSpPr>
        <p:spPr>
          <a:xfrm>
            <a:off x="693115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CSRF protection</a:t>
            </a:r>
            <a:endParaRPr lang="en-US" sz="1300" dirty="0"/>
          </a:p>
        </p:txBody>
      </p:sp>
      <p:sp>
        <p:nvSpPr>
          <p:cNvPr id="22" name="Text 20"/>
          <p:cNvSpPr txBox="1"/>
          <p:nvPr/>
        </p:nvSpPr>
        <p:spPr>
          <a:xfrm>
            <a:off x="693115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Flask-WTF on every form; explicit exemption only for the signed Stripe webhook</a:t>
            </a:r>
            <a:endParaRPr lang="en-US" sz="1050" dirty="0"/>
          </a:p>
        </p:txBody>
      </p:sp>
      <p:sp>
        <p:nvSpPr>
          <p:cNvPr id="23" name="Shape 21"/>
          <p:cNvSpPr/>
          <p:nvPr/>
        </p:nvSpPr>
        <p:spPr>
          <a:xfrm>
            <a:off x="548640" y="3986784"/>
            <a:ext cx="5394960" cy="1170432"/>
          </a:xfrm>
          <a:prstGeom prst="roundRect">
            <a:avLst>
              <a:gd name="adj" fmla="val 6250"/>
            </a:avLst>
          </a:prstGeom>
          <a:solidFill>
            <a:srgbClr val="F1F5F9"/>
          </a:solidFill>
          <a:ln/>
        </p:spPr>
      </p:sp>
      <p:sp>
        <p:nvSpPr>
          <p:cNvPr id="24" name="Shape 22"/>
          <p:cNvSpPr/>
          <p:nvPr/>
        </p:nvSpPr>
        <p:spPr>
          <a:xfrm>
            <a:off x="713232" y="4379976"/>
            <a:ext cx="384048" cy="384048"/>
          </a:xfrm>
          <a:prstGeom prst="ellipse">
            <a:avLst/>
          </a:prstGeom>
          <a:solidFill>
            <a:srgbClr val="0F172A"/>
          </a:solidFill>
          <a:ln/>
        </p:spPr>
      </p:sp>
      <p:sp>
        <p:nvSpPr>
          <p:cNvPr id="25" name="Text 23"/>
          <p:cNvSpPr txBox="1"/>
          <p:nvPr/>
        </p:nvSpPr>
        <p:spPr>
          <a:xfrm>
            <a:off x="71323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6" name="Text 24"/>
          <p:cNvSpPr txBox="1"/>
          <p:nvPr/>
        </p:nvSpPr>
        <p:spPr>
          <a:xfrm>
            <a:off x="126187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Account lockout</a:t>
            </a:r>
            <a:endParaRPr lang="en-US" sz="1300" dirty="0"/>
          </a:p>
        </p:txBody>
      </p:sp>
      <p:sp>
        <p:nvSpPr>
          <p:cNvPr id="27" name="Text 25"/>
          <p:cNvSpPr txBox="1"/>
          <p:nvPr/>
        </p:nvSpPr>
        <p:spPr>
          <a:xfrm>
            <a:off x="126187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5 failed logins locks the account for 15 minutes</a:t>
            </a:r>
            <a:endParaRPr lang="en-US" sz="1050" dirty="0"/>
          </a:p>
        </p:txBody>
      </p:sp>
      <p:sp>
        <p:nvSpPr>
          <p:cNvPr id="28" name="Shape 26"/>
          <p:cNvSpPr/>
          <p:nvPr/>
        </p:nvSpPr>
        <p:spPr>
          <a:xfrm>
            <a:off x="6217920" y="3986784"/>
            <a:ext cx="5394960" cy="1170432"/>
          </a:xfrm>
          <a:prstGeom prst="roundRect">
            <a:avLst>
              <a:gd name="adj" fmla="val 6250"/>
            </a:avLst>
          </a:prstGeom>
          <a:solidFill>
            <a:srgbClr val="F1F5F9"/>
          </a:solidFill>
          <a:ln/>
        </p:spPr>
      </p:sp>
      <p:sp>
        <p:nvSpPr>
          <p:cNvPr id="29" name="Shape 27"/>
          <p:cNvSpPr/>
          <p:nvPr/>
        </p:nvSpPr>
        <p:spPr>
          <a:xfrm>
            <a:off x="6382512" y="4379976"/>
            <a:ext cx="384048" cy="384048"/>
          </a:xfrm>
          <a:prstGeom prst="ellipse">
            <a:avLst/>
          </a:prstGeom>
          <a:solidFill>
            <a:srgbClr val="0F172A"/>
          </a:solidFill>
          <a:ln/>
        </p:spPr>
      </p:sp>
      <p:sp>
        <p:nvSpPr>
          <p:cNvPr id="30" name="Text 28"/>
          <p:cNvSpPr txBox="1"/>
          <p:nvPr/>
        </p:nvSpPr>
        <p:spPr>
          <a:xfrm>
            <a:off x="638251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1" name="Text 29"/>
          <p:cNvSpPr txBox="1"/>
          <p:nvPr/>
        </p:nvSpPr>
        <p:spPr>
          <a:xfrm>
            <a:off x="693115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Upload validation</a:t>
            </a:r>
            <a:endParaRPr lang="en-US" sz="1300" dirty="0"/>
          </a:p>
        </p:txBody>
      </p:sp>
      <p:sp>
        <p:nvSpPr>
          <p:cNvPr id="32" name="Text 30"/>
          <p:cNvSpPr txBox="1"/>
          <p:nvPr/>
        </p:nvSpPr>
        <p:spPr>
          <a:xfrm>
            <a:off x="693115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Magic-byte checks — PDF, JPEG, PNG — regardless of file extension</a:t>
            </a:r>
            <a:endParaRPr lang="en-US" sz="1050" dirty="0"/>
          </a:p>
        </p:txBody>
      </p:sp>
      <p:sp>
        <p:nvSpPr>
          <p:cNvPr id="33" name="Shape 31"/>
          <p:cNvSpPr/>
          <p:nvPr/>
        </p:nvSpPr>
        <p:spPr>
          <a:xfrm>
            <a:off x="548640" y="5294376"/>
            <a:ext cx="5394960" cy="1170432"/>
          </a:xfrm>
          <a:prstGeom prst="roundRect">
            <a:avLst>
              <a:gd name="adj" fmla="val 6250"/>
            </a:avLst>
          </a:prstGeom>
          <a:solidFill>
            <a:srgbClr val="F1F5F9"/>
          </a:solidFill>
          <a:ln/>
        </p:spPr>
      </p:sp>
      <p:sp>
        <p:nvSpPr>
          <p:cNvPr id="34" name="Shape 32"/>
          <p:cNvSpPr/>
          <p:nvPr/>
        </p:nvSpPr>
        <p:spPr>
          <a:xfrm>
            <a:off x="713232" y="5687568"/>
            <a:ext cx="384048" cy="384048"/>
          </a:xfrm>
          <a:prstGeom prst="ellipse">
            <a:avLst/>
          </a:prstGeom>
          <a:solidFill>
            <a:srgbClr val="0F172A"/>
          </a:solidFill>
          <a:ln/>
        </p:spPr>
      </p:sp>
      <p:sp>
        <p:nvSpPr>
          <p:cNvPr id="35" name="Text 33"/>
          <p:cNvSpPr txBox="1"/>
          <p:nvPr/>
        </p:nvSpPr>
        <p:spPr>
          <a:xfrm>
            <a:off x="71323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6" name="Text 34"/>
          <p:cNvSpPr txBox="1"/>
          <p:nvPr/>
        </p:nvSpPr>
        <p:spPr>
          <a:xfrm>
            <a:off x="126187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Audit log</a:t>
            </a:r>
            <a:endParaRPr lang="en-US" sz="1300" dirty="0"/>
          </a:p>
        </p:txBody>
      </p:sp>
      <p:sp>
        <p:nvSpPr>
          <p:cNvPr id="37" name="Text 35"/>
          <p:cNvSpPr txBox="1"/>
          <p:nvPr/>
        </p:nvSpPr>
        <p:spPr>
          <a:xfrm>
            <a:off x="126187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Immutable, append-only record of every state-changing action</a:t>
            </a:r>
            <a:endParaRPr lang="en-US" sz="1050" dirty="0"/>
          </a:p>
        </p:txBody>
      </p:sp>
      <p:sp>
        <p:nvSpPr>
          <p:cNvPr id="38" name="Shape 36"/>
          <p:cNvSpPr/>
          <p:nvPr/>
        </p:nvSpPr>
        <p:spPr>
          <a:xfrm>
            <a:off x="6217920" y="5294376"/>
            <a:ext cx="5394960" cy="1170432"/>
          </a:xfrm>
          <a:prstGeom prst="roundRect">
            <a:avLst>
              <a:gd name="adj" fmla="val 6250"/>
            </a:avLst>
          </a:prstGeom>
          <a:solidFill>
            <a:srgbClr val="F1F5F9"/>
          </a:solidFill>
          <a:ln/>
        </p:spPr>
      </p:sp>
      <p:sp>
        <p:nvSpPr>
          <p:cNvPr id="39" name="Shape 37"/>
          <p:cNvSpPr/>
          <p:nvPr/>
        </p:nvSpPr>
        <p:spPr>
          <a:xfrm>
            <a:off x="6382512" y="5687568"/>
            <a:ext cx="384048" cy="384048"/>
          </a:xfrm>
          <a:prstGeom prst="ellipse">
            <a:avLst/>
          </a:prstGeom>
          <a:solidFill>
            <a:srgbClr val="0F172A"/>
          </a:solidFill>
          <a:ln/>
        </p:spPr>
      </p:sp>
      <p:sp>
        <p:nvSpPr>
          <p:cNvPr id="40" name="Text 38"/>
          <p:cNvSpPr txBox="1"/>
          <p:nvPr/>
        </p:nvSpPr>
        <p:spPr>
          <a:xfrm>
            <a:off x="638251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41" name="Text 39"/>
          <p:cNvSpPr txBox="1"/>
          <p:nvPr/>
        </p:nvSpPr>
        <p:spPr>
          <a:xfrm>
            <a:off x="693115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Webhook verification</a:t>
            </a:r>
            <a:endParaRPr lang="en-US" sz="1300" dirty="0"/>
          </a:p>
        </p:txBody>
      </p:sp>
      <p:sp>
        <p:nvSpPr>
          <p:cNvPr id="42" name="Text 40"/>
          <p:cNvSpPr txBox="1"/>
          <p:nvPr/>
        </p:nvSpPr>
        <p:spPr>
          <a:xfrm>
            <a:off x="693115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Manual HMAC check, 300-second replay window, independent of the SDK</a:t>
            </a:r>
            <a:endParaRPr lang="en-US" sz="1050" dirty="0"/>
          </a:p>
        </p:txBody>
      </p:sp>
      <p:sp>
        <p:nvSpPr>
          <p:cNvPr id="43" name="Text 4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Security</a:t>
            </a:r>
            <a:endParaRPr lang="en-US" sz="1000" dirty="0"/>
          </a:p>
        </p:txBody>
      </p:sp>
      <p:sp>
        <p:nvSpPr>
          <p:cNvPr id="44" name="Text 4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13 / 16</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3" name="Text 1"/>
          <p:cNvSpPr txBox="1"/>
          <p:nvPr/>
        </p:nvSpPr>
        <p:spPr>
          <a:xfrm>
            <a:off x="548640" y="1143000"/>
            <a:ext cx="10698480" cy="64008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RentalPro was carried from requirements through design, a working prototype, a full project report, and 100% feature completion — every claim in this deck backed by a running, tested system.</a:t>
            </a:r>
            <a:endParaRPr lang="en-US" sz="1400" dirty="0"/>
          </a:p>
        </p:txBody>
      </p:sp>
      <p:sp>
        <p:nvSpPr>
          <p:cNvPr id="4" name="Shape 2"/>
          <p:cNvSpPr/>
          <p:nvPr/>
        </p:nvSpPr>
        <p:spPr>
          <a:xfrm>
            <a:off x="548640" y="2057400"/>
            <a:ext cx="329184" cy="329184"/>
          </a:xfrm>
          <a:prstGeom prst="ellipse">
            <a:avLst/>
          </a:prstGeom>
          <a:solidFill>
            <a:srgbClr val="16A34A"/>
          </a:solidFill>
          <a:ln/>
        </p:spPr>
      </p:sp>
      <p:sp>
        <p:nvSpPr>
          <p:cNvPr id="5" name="Text 3"/>
          <p:cNvSpPr txBox="1"/>
          <p:nvPr/>
        </p:nvSpPr>
        <p:spPr>
          <a:xfrm>
            <a:off x="548640" y="205740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6" name="Text 4"/>
          <p:cNvSpPr txBox="1"/>
          <p:nvPr/>
        </p:nvSpPr>
        <p:spPr>
          <a:xfrm>
            <a:off x="1051560" y="202996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25 / 25 use cases implemented, each with a route and a covering test</a:t>
            </a:r>
            <a:endParaRPr lang="en-US" sz="1400" dirty="0"/>
          </a:p>
        </p:txBody>
      </p:sp>
      <p:sp>
        <p:nvSpPr>
          <p:cNvPr id="7" name="Shape 5"/>
          <p:cNvSpPr/>
          <p:nvPr/>
        </p:nvSpPr>
        <p:spPr>
          <a:xfrm>
            <a:off x="548640" y="2651760"/>
            <a:ext cx="329184" cy="329184"/>
          </a:xfrm>
          <a:prstGeom prst="ellipse">
            <a:avLst/>
          </a:prstGeom>
          <a:solidFill>
            <a:srgbClr val="16A34A"/>
          </a:solidFill>
          <a:ln/>
        </p:spPr>
      </p:sp>
      <p:sp>
        <p:nvSpPr>
          <p:cNvPr id="8" name="Text 6"/>
          <p:cNvSpPr txBox="1"/>
          <p:nvPr/>
        </p:nvSpPr>
        <p:spPr>
          <a:xfrm>
            <a:off x="548640" y="265176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9" name="Text 7"/>
          <p:cNvSpPr txBox="1"/>
          <p:nvPr/>
        </p:nvSpPr>
        <p:spPr>
          <a:xfrm>
            <a:off x="1051560" y="262432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13-table database design implemented exactly as specified</a:t>
            </a:r>
            <a:endParaRPr lang="en-US" sz="1400" dirty="0"/>
          </a:p>
        </p:txBody>
      </p:sp>
      <p:sp>
        <p:nvSpPr>
          <p:cNvPr id="10" name="Shape 8"/>
          <p:cNvSpPr/>
          <p:nvPr/>
        </p:nvSpPr>
        <p:spPr>
          <a:xfrm>
            <a:off x="548640" y="3246120"/>
            <a:ext cx="329184" cy="329184"/>
          </a:xfrm>
          <a:prstGeom prst="ellipse">
            <a:avLst/>
          </a:prstGeom>
          <a:solidFill>
            <a:srgbClr val="16A34A"/>
          </a:solidFill>
          <a:ln/>
        </p:spPr>
      </p:sp>
      <p:sp>
        <p:nvSpPr>
          <p:cNvPr id="11" name="Text 9"/>
          <p:cNvSpPr txBox="1"/>
          <p:nvPr/>
        </p:nvSpPr>
        <p:spPr>
          <a:xfrm>
            <a:off x="548640" y="324612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2" name="Text 10"/>
          <p:cNvSpPr txBox="1"/>
          <p:nvPr/>
        </p:nvSpPr>
        <p:spPr>
          <a:xfrm>
            <a:off x="1051560" y="321868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202 automated tests, 0 failures, 82% statement coverage</a:t>
            </a:r>
            <a:endParaRPr lang="en-US" sz="1400" dirty="0"/>
          </a:p>
        </p:txBody>
      </p:sp>
      <p:sp>
        <p:nvSpPr>
          <p:cNvPr id="13" name="Shape 11"/>
          <p:cNvSpPr/>
          <p:nvPr/>
        </p:nvSpPr>
        <p:spPr>
          <a:xfrm>
            <a:off x="548640" y="3840480"/>
            <a:ext cx="329184" cy="329184"/>
          </a:xfrm>
          <a:prstGeom prst="ellipse">
            <a:avLst/>
          </a:prstGeom>
          <a:solidFill>
            <a:srgbClr val="16A34A"/>
          </a:solidFill>
          <a:ln/>
        </p:spPr>
      </p:sp>
      <p:sp>
        <p:nvSpPr>
          <p:cNvPr id="14" name="Text 12"/>
          <p:cNvSpPr txBox="1"/>
          <p:nvPr/>
        </p:nvSpPr>
        <p:spPr>
          <a:xfrm>
            <a:off x="548640" y="38404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5" name="Text 13"/>
          <p:cNvSpPr txBox="1"/>
          <p:nvPr/>
        </p:nvSpPr>
        <p:spPr>
          <a:xfrm>
            <a:off x="1051560" y="381304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8 feature gaps closed in Deliverable 5, plus 8 more in an extended billing engine</a:t>
            </a:r>
            <a:endParaRPr lang="en-US" sz="1400" dirty="0"/>
          </a:p>
        </p:txBody>
      </p:sp>
      <p:sp>
        <p:nvSpPr>
          <p:cNvPr id="16" name="Shape 14"/>
          <p:cNvSpPr/>
          <p:nvPr/>
        </p:nvSpPr>
        <p:spPr>
          <a:xfrm>
            <a:off x="548640" y="4434840"/>
            <a:ext cx="329184" cy="329184"/>
          </a:xfrm>
          <a:prstGeom prst="ellipse">
            <a:avLst/>
          </a:prstGeom>
          <a:solidFill>
            <a:srgbClr val="16A34A"/>
          </a:solidFill>
          <a:ln/>
        </p:spPr>
      </p:sp>
      <p:sp>
        <p:nvSpPr>
          <p:cNvPr id="17" name="Text 15"/>
          <p:cNvSpPr txBox="1"/>
          <p:nvPr/>
        </p:nvSpPr>
        <p:spPr>
          <a:xfrm>
            <a:off x="548640" y="443484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8" name="Text 16"/>
          <p:cNvSpPr txBox="1"/>
          <p:nvPr/>
        </p:nvSpPr>
        <p:spPr>
          <a:xfrm>
            <a:off x="1051560" y="440740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Runs fully offline — zero paid external accounts required to build or test</a:t>
            </a:r>
            <a:endParaRPr lang="en-US" sz="1400" dirty="0"/>
          </a:p>
        </p:txBody>
      </p:sp>
      <p:sp>
        <p:nvSpPr>
          <p:cNvPr id="19" name="Shape 17"/>
          <p:cNvSpPr/>
          <p:nvPr/>
        </p:nvSpPr>
        <p:spPr>
          <a:xfrm>
            <a:off x="548640" y="5074920"/>
            <a:ext cx="11064240" cy="1143000"/>
          </a:xfrm>
          <a:prstGeom prst="roundRect">
            <a:avLst>
              <a:gd name="adj" fmla="val 8000"/>
            </a:avLst>
          </a:prstGeom>
          <a:solidFill>
            <a:srgbClr val="1E293B"/>
          </a:solidFill>
          <a:ln/>
        </p:spPr>
      </p:sp>
      <p:sp>
        <p:nvSpPr>
          <p:cNvPr id="20" name="Text 18"/>
          <p:cNvSpPr txBox="1"/>
          <p:nvPr/>
        </p:nvSpPr>
        <p:spPr>
          <a:xfrm>
            <a:off x="868680" y="5257800"/>
            <a:ext cx="10424160" cy="822960"/>
          </a:xfrm>
          <a:prstGeom prst="rect">
            <a:avLst/>
          </a:prstGeom>
          <a:noFill/>
          <a:ln/>
        </p:spPr>
        <p:txBody>
          <a:bodyPr wrap="square" lIns="0" tIns="0" rIns="0" bIns="0" rtlCol="0" anchor="ctr"/>
          <a:lstStyle/>
          <a:p>
            <a:pPr algn="ctr" indent="0" marL="0">
              <a:buNone/>
            </a:pPr>
            <a:r>
              <a:rPr lang="en-US" sz="1500" i="1" dirty="0">
                <a:solidFill>
                  <a:srgbClr val="CADCFC"/>
                </a:solidFill>
                <a:latin typeface="Cambria" pitchFamily="34" charset="0"/>
                <a:ea typeface="Cambria" pitchFamily="34" charset="-122"/>
                <a:cs typeface="Cambria" pitchFamily="34" charset="-120"/>
              </a:rPr>
              <a:t>“A claim in this project should be a fact about the running system, not a target for it.”</a:t>
            </a:r>
            <a:endParaRPr lang="en-US" sz="15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Conclusion</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14 / 16</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Future Work</a:t>
            </a:r>
            <a:endParaRPr lang="en-US" sz="3200" dirty="0"/>
          </a:p>
        </p:txBody>
      </p:sp>
      <p:sp>
        <p:nvSpPr>
          <p:cNvPr id="3" name="Text 1"/>
          <p:cNvSpPr txBox="1"/>
          <p:nvPr/>
        </p:nvSpPr>
        <p:spPr>
          <a:xfrm>
            <a:off x="548640" y="1097280"/>
            <a:ext cx="8229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Scoped for IT Capstone Part 2 (IT402):</a:t>
            </a:r>
            <a:endParaRPr lang="en-US" sz="1400" dirty="0"/>
          </a:p>
        </p:txBody>
      </p:sp>
      <p:sp>
        <p:nvSpPr>
          <p:cNvPr id="4" name="Shape 2"/>
          <p:cNvSpPr/>
          <p:nvPr/>
        </p:nvSpPr>
        <p:spPr>
          <a:xfrm>
            <a:off x="548640" y="1691640"/>
            <a:ext cx="11064240" cy="960120"/>
          </a:xfrm>
          <a:prstGeom prst="roundRect">
            <a:avLst>
              <a:gd name="adj" fmla="val 7619"/>
            </a:avLst>
          </a:prstGeom>
          <a:solidFill>
            <a:srgbClr val="F1F5F9"/>
          </a:solidFill>
          <a:ln/>
        </p:spPr>
      </p:sp>
      <p:sp>
        <p:nvSpPr>
          <p:cNvPr id="5" name="Shape 3"/>
          <p:cNvSpPr/>
          <p:nvPr/>
        </p:nvSpPr>
        <p:spPr>
          <a:xfrm>
            <a:off x="777240" y="1920240"/>
            <a:ext cx="502920" cy="502920"/>
          </a:xfrm>
          <a:prstGeom prst="ellipse">
            <a:avLst/>
          </a:prstGeom>
          <a:solidFill>
            <a:srgbClr val="2563EB"/>
          </a:solidFill>
          <a:ln/>
        </p:spPr>
      </p:sp>
      <p:sp>
        <p:nvSpPr>
          <p:cNvPr id="6" name="Text 4"/>
          <p:cNvSpPr txBox="1"/>
          <p:nvPr/>
        </p:nvSpPr>
        <p:spPr>
          <a:xfrm>
            <a:off x="777240" y="192024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7" name="Text 5"/>
          <p:cNvSpPr txBox="1"/>
          <p:nvPr/>
        </p:nvSpPr>
        <p:spPr>
          <a:xfrm>
            <a:off x="1554480" y="181051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Cloud file storage</a:t>
            </a:r>
            <a:endParaRPr lang="en-US" sz="1450" dirty="0"/>
          </a:p>
        </p:txBody>
      </p:sp>
      <p:sp>
        <p:nvSpPr>
          <p:cNvPr id="8" name="Text 6"/>
          <p:cNvSpPr txBox="1"/>
          <p:nvPr/>
        </p:nvSpPr>
        <p:spPr>
          <a:xfrm>
            <a:off x="5577840" y="181051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Swap local uploads/ for S3-compatible storage — already isolated behind a storage.py interface</a:t>
            </a:r>
            <a:endParaRPr lang="en-US" sz="1200" dirty="0"/>
          </a:p>
        </p:txBody>
      </p:sp>
      <p:sp>
        <p:nvSpPr>
          <p:cNvPr id="9" name="Shape 7"/>
          <p:cNvSpPr/>
          <p:nvPr/>
        </p:nvSpPr>
        <p:spPr>
          <a:xfrm>
            <a:off x="548640" y="2788920"/>
            <a:ext cx="11064240" cy="960120"/>
          </a:xfrm>
          <a:prstGeom prst="roundRect">
            <a:avLst>
              <a:gd name="adj" fmla="val 7619"/>
            </a:avLst>
          </a:prstGeom>
          <a:solidFill>
            <a:srgbClr val="FFFFFF"/>
          </a:solidFill>
          <a:ln w="12700">
            <a:solidFill>
              <a:srgbClr val="CBD5E1"/>
            </a:solidFill>
            <a:prstDash val="solid"/>
          </a:ln>
        </p:spPr>
      </p:sp>
      <p:sp>
        <p:nvSpPr>
          <p:cNvPr id="10" name="Shape 8"/>
          <p:cNvSpPr/>
          <p:nvPr/>
        </p:nvSpPr>
        <p:spPr>
          <a:xfrm>
            <a:off x="777240" y="3017520"/>
            <a:ext cx="502920" cy="502920"/>
          </a:xfrm>
          <a:prstGeom prst="ellipse">
            <a:avLst/>
          </a:prstGeom>
          <a:solidFill>
            <a:srgbClr val="2563EB"/>
          </a:solidFill>
          <a:ln/>
        </p:spPr>
      </p:sp>
      <p:sp>
        <p:nvSpPr>
          <p:cNvPr id="11" name="Text 9"/>
          <p:cNvSpPr txBox="1"/>
          <p:nvPr/>
        </p:nvSpPr>
        <p:spPr>
          <a:xfrm>
            <a:off x="777240" y="301752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2" name="Text 10"/>
          <p:cNvSpPr txBox="1"/>
          <p:nvPr/>
        </p:nvSpPr>
        <p:spPr>
          <a:xfrm>
            <a:off x="1554480" y="290779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Mobile-optimized tenant portal</a:t>
            </a:r>
            <a:endParaRPr lang="en-US" sz="1450" dirty="0"/>
          </a:p>
        </p:txBody>
      </p:sp>
      <p:sp>
        <p:nvSpPr>
          <p:cNvPr id="13" name="Text 11"/>
          <p:cNvSpPr txBox="1"/>
          <p:nvPr/>
        </p:nvSpPr>
        <p:spPr>
          <a:xfrm>
            <a:off x="5577840" y="290779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are the role most likely to use the system from a phone</a:t>
            </a:r>
            <a:endParaRPr lang="en-US" sz="1200" dirty="0"/>
          </a:p>
        </p:txBody>
      </p:sp>
      <p:sp>
        <p:nvSpPr>
          <p:cNvPr id="14" name="Shape 12"/>
          <p:cNvSpPr/>
          <p:nvPr/>
        </p:nvSpPr>
        <p:spPr>
          <a:xfrm>
            <a:off x="548640" y="3886200"/>
            <a:ext cx="11064240" cy="960120"/>
          </a:xfrm>
          <a:prstGeom prst="roundRect">
            <a:avLst>
              <a:gd name="adj" fmla="val 7619"/>
            </a:avLst>
          </a:prstGeom>
          <a:solidFill>
            <a:srgbClr val="F1F5F9"/>
          </a:solidFill>
          <a:ln/>
        </p:spPr>
      </p:sp>
      <p:sp>
        <p:nvSpPr>
          <p:cNvPr id="15" name="Shape 13"/>
          <p:cNvSpPr/>
          <p:nvPr/>
        </p:nvSpPr>
        <p:spPr>
          <a:xfrm>
            <a:off x="777240" y="4114800"/>
            <a:ext cx="502920" cy="502920"/>
          </a:xfrm>
          <a:prstGeom prst="ellipse">
            <a:avLst/>
          </a:prstGeom>
          <a:solidFill>
            <a:srgbClr val="2563EB"/>
          </a:solidFill>
          <a:ln/>
        </p:spPr>
      </p:sp>
      <p:sp>
        <p:nvSpPr>
          <p:cNvPr id="16" name="Text 14"/>
          <p:cNvSpPr txBox="1"/>
          <p:nvPr/>
        </p:nvSpPr>
        <p:spPr>
          <a:xfrm>
            <a:off x="777240" y="41148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17" name="Text 15"/>
          <p:cNvSpPr txBox="1"/>
          <p:nvPr/>
        </p:nvSpPr>
        <p:spPr>
          <a:xfrm>
            <a:off x="1554480" y="400507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Alembic schema migrations</a:t>
            </a:r>
            <a:endParaRPr lang="en-US" sz="1450" dirty="0"/>
          </a:p>
        </p:txBody>
      </p:sp>
      <p:sp>
        <p:nvSpPr>
          <p:cNvPr id="18" name="Text 16"/>
          <p:cNvSpPr txBox="1"/>
          <p:nvPr/>
        </p:nvSpPr>
        <p:spPr>
          <a:xfrm>
            <a:off x="5577840" y="400507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Replace the create_all() bootstrap with a real migration path for production data</a:t>
            </a:r>
            <a:endParaRPr lang="en-US" sz="1200" dirty="0"/>
          </a:p>
        </p:txBody>
      </p:sp>
      <p:sp>
        <p:nvSpPr>
          <p:cNvPr id="19" name="Shape 17"/>
          <p:cNvSpPr/>
          <p:nvPr/>
        </p:nvSpPr>
        <p:spPr>
          <a:xfrm>
            <a:off x="548640" y="4983480"/>
            <a:ext cx="11064240" cy="960120"/>
          </a:xfrm>
          <a:prstGeom prst="roundRect">
            <a:avLst>
              <a:gd name="adj" fmla="val 7619"/>
            </a:avLst>
          </a:prstGeom>
          <a:solidFill>
            <a:srgbClr val="FFFFFF"/>
          </a:solidFill>
          <a:ln w="12700">
            <a:solidFill>
              <a:srgbClr val="CBD5E1"/>
            </a:solidFill>
            <a:prstDash val="solid"/>
          </a:ln>
        </p:spPr>
      </p:sp>
      <p:sp>
        <p:nvSpPr>
          <p:cNvPr id="20" name="Shape 18"/>
          <p:cNvSpPr/>
          <p:nvPr/>
        </p:nvSpPr>
        <p:spPr>
          <a:xfrm>
            <a:off x="777240" y="5212080"/>
            <a:ext cx="502920" cy="502920"/>
          </a:xfrm>
          <a:prstGeom prst="ellipse">
            <a:avLst/>
          </a:prstGeom>
          <a:solidFill>
            <a:srgbClr val="2563EB"/>
          </a:solidFill>
          <a:ln/>
        </p:spPr>
      </p:sp>
      <p:sp>
        <p:nvSpPr>
          <p:cNvPr id="21" name="Text 19"/>
          <p:cNvSpPr txBox="1"/>
          <p:nvPr/>
        </p:nvSpPr>
        <p:spPr>
          <a:xfrm>
            <a:off x="777240" y="521208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22" name="Text 20"/>
          <p:cNvSpPr txBox="1"/>
          <p:nvPr/>
        </p:nvSpPr>
        <p:spPr>
          <a:xfrm>
            <a:off x="1554480" y="510235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Live third-party verification</a:t>
            </a:r>
            <a:endParaRPr lang="en-US" sz="1450" dirty="0"/>
          </a:p>
        </p:txBody>
      </p:sp>
      <p:sp>
        <p:nvSpPr>
          <p:cNvPr id="23" name="Text 21"/>
          <p:cNvSpPr txBox="1"/>
          <p:nvPr/>
        </p:nvSpPr>
        <p:spPr>
          <a:xfrm>
            <a:off x="5577840" y="510235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End-to-end tests against real Stripe, SendGrid, and Twilio sandbox accounts</a:t>
            </a:r>
            <a:endParaRPr lang="en-US" sz="1200" dirty="0"/>
          </a:p>
        </p:txBody>
      </p:sp>
      <p:sp>
        <p:nvSpPr>
          <p:cNvPr id="24" name="Text 2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Future Work</a:t>
            </a:r>
            <a:endParaRPr lang="en-US" sz="1000" dirty="0"/>
          </a:p>
        </p:txBody>
      </p:sp>
      <p:sp>
        <p:nvSpPr>
          <p:cNvPr id="25" name="Text 2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15 / 16</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828800" y="-1828800"/>
            <a:ext cx="4572000" cy="4572000"/>
          </a:xfrm>
          <a:prstGeom prst="ellipse">
            <a:avLst/>
          </a:prstGeom>
          <a:solidFill>
            <a:srgbClr val="1E293B"/>
          </a:solidFill>
          <a:ln/>
        </p:spPr>
      </p:sp>
      <p:sp>
        <p:nvSpPr>
          <p:cNvPr id="3" name="Shape 1"/>
          <p:cNvSpPr/>
          <p:nvPr/>
        </p:nvSpPr>
        <p:spPr>
          <a:xfrm>
            <a:off x="10058400" y="5029200"/>
            <a:ext cx="4114800" cy="4114800"/>
          </a:xfrm>
          <a:prstGeom prst="ellipse">
            <a:avLst/>
          </a:prstGeom>
          <a:solidFill>
            <a:srgbClr val="1E293B"/>
          </a:solidFill>
          <a:ln/>
        </p:spPr>
      </p:sp>
      <p:sp>
        <p:nvSpPr>
          <p:cNvPr id="4" name="Text 2"/>
          <p:cNvSpPr txBox="1"/>
          <p:nvPr/>
        </p:nvSpPr>
        <p:spPr>
          <a:xfrm>
            <a:off x="822960" y="2377440"/>
            <a:ext cx="91440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5" name="Text 3"/>
          <p:cNvSpPr txBox="1"/>
          <p:nvPr/>
        </p:nvSpPr>
        <p:spPr>
          <a:xfrm>
            <a:off x="868680" y="3337560"/>
            <a:ext cx="91440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Questions?</a:t>
            </a:r>
            <a:endParaRPr lang="en-US" sz="2200" dirty="0"/>
          </a:p>
        </p:txBody>
      </p:sp>
      <p:sp>
        <p:nvSpPr>
          <p:cNvPr id="6" name="Text 4"/>
          <p:cNvSpPr txBox="1"/>
          <p:nvPr/>
        </p:nvSpPr>
        <p:spPr>
          <a:xfrm>
            <a:off x="868680" y="5943600"/>
            <a:ext cx="9144000" cy="3657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RentalPro — Digital Rental Management System  ·  IT401 Capstone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RentalPro — IT401 Capstone Defense</dc:title>
  <dc:subject>PptxGenJS Presentation</dc:subject>
  <dc:creator>RentalPro Capstone Team</dc:creator>
  <cp:lastModifiedBy>RentalPro Capstone Team</cp:lastModifiedBy>
  <cp:revision>1</cp:revision>
  <dcterms:created xsi:type="dcterms:W3CDTF">2026-09-22T20:22:33Z</dcterms:created>
  <dcterms:modified xsi:type="dcterms:W3CDTF">2026-09-22T20:22:33Z</dcterms:modified>
</cp:coreProperties>
</file>