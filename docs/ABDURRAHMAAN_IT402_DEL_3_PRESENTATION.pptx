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2" r:id="rId23"/>
    <p:sldId id="274" r:id="rId25"/>
    <p:sldId id="273" r:id="rId24"/>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0.xml"/><Relationship Id="rId24" Type="http://schemas.openxmlformats.org/officeDocument/2006/relationships/slide" Target="slides/slide12.xml"/><Relationship Id="rId25"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Arial"/>
              </a:defRPr>
            </a:pPr>
            <a:r>
              <a:rPr sz="1300" b="0" i="0" u="none" strike="noStrike">
                <a:solidFill>
                  <a:srgbClr val="0F172A"/>
                </a:solidFill>
                <a:latin typeface="Arial"/>
              </a:rPr>
              <a:t>Tests per Module</a:t>
            </a:r>
          </a:p>
        </c:rich>
      </c:tx>
      <c:layout/>
      <c:overlay val="0"/>
    </c:title>
    <c:autoTitleDeleted val="0"/>
    <c:plotArea>
      <c:layout/>
      <c:barChart>
        <c:barDir val="col"/>
        <c:grouping val="clustered"/>
        <c:varyColors val="0"/>
        <c:ser>
          <c:idx val="0"/>
          <c:order val="0"/>
          <c:tx>
            <c:strRef>
              <c:f>Sheet1!$B$1</c:f>
              <c:strCache>
                <c:ptCount val="1"/>
                <c:pt idx="0">
                  <c:v>Tests</c:v>
                </c:pt>
              </c:strCache>
            </c:strRef>
          </c:tx>
          <c:spPr>
            <a:solidFill>
              <a:srgbClr val="2563EB"/>
            </a:solidFill>
            <a:effectLst/>
          </c:spPr>
          <c:invertIfNegative val="0"/>
          <c:dLbls>
            <c:numFmt formatCode="#,##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cat>
            <c:strRef>
              <c:f>Sheet1!$A$2:$A$12</c:f>
              <c:strCache>
                <c:ptCount val="11"/>
                <c:pt idx="0">
                  <c:v>Models</c:v>
                </c:pt>
                <c:pt idx="1">
                  <c:v>Auth</c:v>
                </c:pt>
                <c:pt idx="2">
                  <c:v>Routes</c:v>
                </c:pt>
                <c:pt idx="3">
                  <c:v>Scheduler</c:v>
                </c:pt>
                <c:pt idx="4">
                  <c:v>Validation</c:v>
                </c:pt>
                <c:pt idx="5">
                  <c:v>IT402 D2</c:v>
                </c:pt>
                <c:pt idx="6">
                  <c:v>Billing</c:v>
                </c:pt>
                <c:pt idx="7">
                  <c:v>Map &amp; i18n</c:v>
                </c:pt>
                <c:pt idx="8">
                  <c:v>History &amp; summary</c:v>
                </c:pt>
                <c:pt idx="9">
                  <c:v>Hardening &amp; Arabic</c:v>
                </c:pt>
                <c:pt idx="10">
                  <c:v>Render</c:v>
                </c:pt>
              </c:strCache>
            </c:strRef>
          </c:cat>
          <c:val>
            <c:numRef>
              <c:f>Sheet1!$B$2:$B$12</c:f>
              <c:numCache>
                <c:formatCode>General</c:formatCode>
                <c:ptCount val="11"/>
                <c:pt idx="0">
                  <c:v>18.0</c:v>
                </c:pt>
                <c:pt idx="1">
                  <c:v>19.0</c:v>
                </c:pt>
                <c:pt idx="2">
                  <c:v>17.0</c:v>
                </c:pt>
                <c:pt idx="3">
                  <c:v>9.0</c:v>
                </c:pt>
                <c:pt idx="4">
                  <c:v>36.0</c:v>
                </c:pt>
                <c:pt idx="5">
                  <c:v>31.0</c:v>
                </c:pt>
                <c:pt idx="6">
                  <c:v>79.0</c:v>
                </c:pt>
                <c:pt idx="7">
                  <c:v>22.0</c:v>
                </c:pt>
                <c:pt idx="8">
                  <c:v>13.0</c:v>
                </c:pt>
                <c:pt idx="9">
                  <c:v>54.0</c:v>
                </c:pt>
                <c:pt idx="10">
                  <c:v>7</c:v>
                </c:pt>
              </c:numCache>
            </c:numRef>
          </c:val>
        </c:ser>
        <c:dLbls>
          <c:numFmt formatCode="#,##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My name is Abdur-Rahmaan Muhammad Ali, and today I'm presenting RentalPro, a Digital Rental Management System built across my IT401 and IT402 capstone courses. Over the next few minutes I'll walk through the problem this system solves, how it was designed and built, and the results of testing it — including a demo of the working application. All six project deliverables — requirements, design, the working prototype, the full project report, 100% feature completion, and the final demo and presentation package — are finished, tested, and documented. Beyond the original requirements, I've also extended the system with a full billing engine, and made it more usable for Harare landlords and tenants, including a choice of English, Shona and Arabic. Most recently, I translated every screen, message and document into Arabic and hardened the system for production — I'll cover all three.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landlords and property managers are still running their business on spreadsheets, paper leases, and sticky notes. That creates four real problems: there's no single source of truth for rent and lease data; nothing proactively catches missed rent or an expiring lease; cash payments and verbal maintenance requests leave no accountability trail; and tenants have no way to self-serve — they have to call or email for a balance or a repair update. RentalPro is built for five kinds of users on one platform: Property Owners, Property Managers, Tenants, Maintenance Staff, and Administrators — replacing the spreadsheet with one accountable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guided the whole project. First, centralize property and lease data into one record instead of scattered spreadsheets. Second, automate the reminders landlords actually miss — lease expiry, rent due, overdue rent, and overdue maintenance all fire from background jobs, not a human remembering. Third, give every one of the five roles a scoped view, enforced by role-based access control plus ownership checks — one Owner literally cannot query another Owner's data. Fourth, make every record auditable: payments are immutable, and every state change writes to an append-only audit log. And fifth — the one I'll spend the most time proving today — ship it fully tested. Not just working, but 100% of the requirements implemented and covered by an automated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IT401 Deliverable 1 was the Software Requirements Specification — 25 use cases across six functional areas: authentication and RBAC, property and unit management, the full tenant lifecycle from onboarding to self-service, rent and payments including automated alerts, the six-stage maintenance lifecycle, and reporting. Every one of these 25 use cases — I'll show this again in the testing section — ended up with a route, a template, and at least one automated test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IT401 Deliverable 2 turned those 25 use cases into a UML class diagram and a 13-table relational schema. Every table uses a UUID string primary key instead of an auto-increment integer, specifically so the identical schema runs unmodified on SQLite in development and test, and PostgreSQL in production. A few other decisions from this design carried straight through into the build: naive UTC timestamps to avoid timezone bugs across environments, soft status fields instead of physical deletes so history is never lost, rent payments that are only ever inserted and never edited, and JSON columns on the audit log so any entity's before-and-after state can be captured without a schema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is a layered Flask monolith — deliberately simplified from IT401 Deliverable 2's more ambitious microservice sketch, because a single developer needed to build and verify it in the time available. Presentation is 40 Jinja2 templates behind a role-aware top navigation bar, with a language menu for English, Shona and Arabic. The application layer is 10 Flask Blueprints — one each for auth, the dashboards, properties, tenants, rent, maintenance, admin, reports, the tenant portal, and the REST API. Below that, the domain and service layer holds security.py for RBAC and IDOR protection, web_security.py for the security headers and the secret-key check, the five scheduler jobs, a small translation module for Shona and Arabic, which also turns Arabic pages right to left, and a services package for PDF generation, Excel export, notifications, and payments. Data is 18 SQLAlchemy models — the 13 from the design plus 5 for the billing engine — with UUID keys, and the schema is managed by Alembic migrations. And infrastructure is Docker Compose running PostgreSQL and Redis, with uploads kept on local disk or in an S3-compatible bucket, with a dev-mode fallback for every paid external service — which is what let me build and test this entire system without a single paid account.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 in RentalPro is scoped to one of five roles. Owners create and edit properties and units, configure late fees, and see the full portfolio report. Managers work within properties an Owner already added — onboarding and, new in IT402 Deliverable 2, blacklisting tenants, and assigning maintenance work. Tenants get a self-service portal: pay rent online, and submit maintenance requests with photos. Staff see only their own assigned work queue — nothing else in the system is visible to them. And Administrators get full data visibility plus, again new in IT402 Deliverable 2, a dedicated console for managing every user's role and account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IT402 Deliverable 2 is where the project went from working to 100% complete against the original requirements. An audit found eleven gaps, grouped on this slide into eight areas: photo uploads for properties, units, and maintenance tickets, all validated by their actual file content, not just the extension; editing a unit after it's created; configurable late fees, fixed or percentage, applied automatically once rent is overdue; tenant blacklisting, which blocks a future lease without touching an existing one; tenant ID documents and lease document downloads; the admin user console, with a safety guard that won't let you remove the last active Owner; self-service staff account creation; and one-click CSV and Excel exports. All eleven are covered by a dedicated 31-test module, which I'll show numbers for next. When I later traced all 44 functional requirements one by one, two were only partly met — the full tenant history of each unit, and a maintenance summary by period — and the interface languages weren't built yet. I built all three, and all 44 requirements are now met.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original requirements, I extended RentalPro with a full billing engine — eight more capabilities, each additive so the existing 124 tests never had to change. Operational and sundry charges bill one-off costs straight to a lease. Electricity metering bills consumption automatically from a configured rate. Pro rata rent prorates a partial first month instead of charging it in full. Variable rent lets a lease's rate change mid-term — an annual escalation — while past periods stay billed at their own rate. A daily scheduler job now bills each period automatically and idempotently. Account statements support a real date range with an opening and closing balance, and tenants can view their own. Every payment gets a real downloadable PDF receipt. And property expenses now feed a true net income estimate, not just rent collected minus maintenance. Seventy-nine new tests back all of it, and they're included in the testing numbers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that backs up every claim in this presentation. 305 automated tests, zero failures, 86 percent statement coverage across the backend, and all 25 use cases from the SRS covered by at least one test. The chart breaks that down by module — 36 validation tests, 31 for IT402 Deliverable 2's feature gaps, 79 for the billing engine alone, the single largest block in the project, 22 for the property map and the three languages, 13 for the tenant history and maintenance summary screens that completed two of the last three requirements, and 54 for the final round — full Arabic, security headers, migrations, currency and cloud storage — and 7 for the Render deployment. Importantly, these aren't unit tests calling isolated functions — they go through Flask's real test client, issuing actual HTTP requests through session handling, CSRF, RBAC, and the ORM. That's how a real security bug like cross-owner data access — one Property Owner querying another Owner's property — gets caught before it ships, not after.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running. The demo video walks through six things. First, the administrator's Harare portfolio: the dashboard, the five properties, and the portfolio map. Second, the tenants list and the rent tracker, where a cash payment clears a tenant's arrears and gets a receipt number and an audit-log entry. Third, an assigned maintenance ticket, and the reports page with rent collected, expenses and net income for each property. Fourth, the language menu: the whole interface switches to Shona, then to Arabic, laid out right to left, and the choice is remembered on the login page and on the account. Fifth, a tenant's portal in Shona, then, as the owner, the tenant history of a unit and the maintenance summary, the two screens added after IT402 Deliverable 2. And finally, the property manager working in Arabic: a tenant profile, a rent statement with charges, the meter and rent revisions, a payment confirmation, and the statement as an Arabic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challenges stand out. The first was reconciling earlier, more ambitious design documents with what one developer could actually build and verify in the time available — I simplified IT401 Deliverable 2's microservice-style sketch into a layered monolith, and when I found IT401 Deliverable 3's original numbers had drifted from reality, I corrected the document rather than leaving the gap in place. Second, getting recurring billing correct at calendar edges — a lease starting on the 31st, or a due day that doesn't exist in February — meant writing the edge-case tests before trusting the calculation, not after. Third, testing payments, email, and SMS without a live paid account of any kind — solved with a dev-mode fallback pattern applied consistently across every external integration, which is also exactly what let this whole demo run offline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wasn't bolted on — these controls run through every request. Passwords are hashed with 600,000 rounds of PBKDF2, and the app refuses to start without a real secret key, since a published one would let anyone forge a login. Every protected route carries a role check, and every sensitive lookup also carries an ownership check at the resource level — the combination is what stops a second Property Owner from viewing the first Owner's data even though they share a role. CSRF protection covers every form, with one deliberate, documented exemption for the Stripe webhook, which instead carries its own manual HMAC verification with a replay window. The session cookie can't be read by scripts or sent on cross-site posts. Every response carries a strict content security policy — no inline code at all — blocks framing, and enables HSTS over HTTPS. Five failed logins locks an account for 15 minutes. Every file upload is validated by its actual magic bytes, not its claimed extension. And every state-changing action writes to an immutable audit log.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wrap up: RentalPro went from a requirements document, through design, to a working prototype, a full seven-chapter project report, 100% feature completion, an extended billing engine, a localised interface for Harare, and finally full Arabic and production hardening — and every number on this slide was produced by actually running the code, not estimated. 25 of 25 use cases, each with a route and a covering test. The 13-table design implemented exactly as specified. 305 tests, zero failures, 86 percent coverage. Eleven feature gaps closed in IT402 Deliverable 2, eight more billing capabilities added since, and an interface in English, Shona and Arabic — with Arabic reaching every screen, message, email and PDF. And the whole thing runs fully offline, with zero paid external accounts required to build or test it. That discipline — that a claim in the report is a fact about the system, not a target for it — is, I'd argue, as much a deliverable of this capstone as the application itself.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Looking beyond IT402. First, native-speaker review: the Arabic now covers everything, and Shona covers the main screens, so the next step is for Arabic and Shona speakers to check the wording and for Shona to reach the rest of the app. Second, a mobile-optimized tenant portal, since tenants are the role most likely to use this from a phone. Third, live production use: render.yaml already deploys the app and its PostgreSQL database to Render over HTTPS, but running it with real tenants still needs uploads in an S3 bucket, since the server's own disk doesn't survive a redeploy, and a database plan that keeps data long term. Fourth, end-to-end verification against live Stripe, SendGrid, and Twilio sandbox accounts, on top of the offline test suite that's carried the project so far. And last, two-factor sign-in for Owners, Managers and Administrators, the roles that can see the most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RentalPro — a fully-implemented, fully-tested digital rental management system covering all six deliverables from requirements through the final demo and presentation package, plus an extended billing engine on top. I'm happy to take any questions — about a specific design decision, the test suite, the security model, or anything you'd like to see demonstrated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recent round of work was about the people who would actually use RentalPro — landlords, managers and tenants in Harare. Every property can now carry map coordinates, set by clicking a map, and there's a portfolio map showing all of them. The interface moved from a sidebar to a horizontal top bar, and the login page and each section of the app now show photographs of Harare. The biggest change is language: a menu in the top bar and on the login page offers English, Shona and Arabic, and the choice sticks when you log in and out. My SRS originally described Arabic and English; both are now in, and because the users are in Harare, I added Shona as well. Arabic is written right to left, so an Arabic page mirrors the whole layout. Only interface text is translated — names and places stay exactly as entered, and a test fails if that ever changes. Tenants now see their unit as 'Avondale Heights, Unit 101' rather than an internal code, a blank-page bug for signed-in users is fixed, and the demo data is now a realistic Harare portfolio: five properties, sixteen units and nine tenants. Twenty-seven new tests cover this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On the left is the login page: a full-screen photograph of the Harare skyline, a translucent sign-in card, and the language menu open in the corner, offering English, ChiShona and Arabic. On the right is a tenant's dashboard in Arabic. The whole layout reads right to left — the navigation starts on the right, and the cards and tables are mirrored — with a welcome, her unit, her balance, and the button to pay rent. Her name and 'Avondale Heights' stay exactly as entered, because they're data, not interface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round of work finished two things: the language support, and readiness for production. Before it, Arabic covered the main screens only. Now every page, form option and message is in Arabic — over six hundred phrases — and a test fails if any new text is added without a translation. Emails and SMS are written in each user's saved language, even when a nightly job sends them. PDFs are fully Arabic too: the letters are joined and read right to left, and tables are mirrored, while names, dates and amounts keep their own order. Every amount in the system now shows its currency. On the production side, every response carries strict security headers — a content policy with no inline code at all — the session cookie is locked down, and the app simply refuses to start with a missing or published secret key. Alembic migrations replace create_all, and existing databases are adopted with their data intact. And uploads can be kept in an S3-compatible bucket, so they survive a redeploy. Fifty-four new tests cover this round, and seven more cover the Render deployment, where render.yaml deploys the app and its PostgreSQL database over HTTPS.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18.xml"/><Relationship Id="rId91" Type="http://schemas.openxmlformats.org/officeDocument/2006/relationships/image" Target="../media/newlook_login.png"/><Relationship Id="rId92" Type="http://schemas.openxmlformats.org/officeDocument/2006/relationships/image" Target="../media/newlook_arabic.png"/></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E293B"/>
          </a:solidFill>
          <a:ln/>
        </p:spPr>
        <p:txBody>
          <a:bodyPr/>
          <a:p/>
        </p:txBody>
      </p:sp>
      <p:sp>
        <p:nvSpPr>
          <p:cNvPr id="3" name="Shape 1"/>
          <p:cNvSpPr/>
          <p:nvPr/>
        </p:nvSpPr>
        <p:spPr>
          <a:xfrm>
            <a:off x="-1645920" y="4754880"/>
            <a:ext cx="3657600" cy="3657600"/>
          </a:xfrm>
          <a:prstGeom prst="ellipse">
            <a:avLst/>
          </a:prstGeom>
          <a:solidFill>
            <a:srgbClr val="1E293B"/>
          </a:solidFill>
          <a:ln/>
        </p:spPr>
        <p:txBody>
          <a:bodyPr/>
          <a:p/>
        </p:txBody>
      </p:sp>
      <p:sp>
        <p:nvSpPr>
          <p:cNvPr id="4" name="Text 2"/>
          <p:cNvSpPr txBox="1"/>
          <p:nvPr/>
        </p:nvSpPr>
        <p:spPr>
          <a:xfrm>
            <a:off x="822960" y="233172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RentalPro</a:t>
            </a:r>
            <a:endParaRPr lang="en-US" sz="5400" dirty="0"/>
          </a:p>
        </p:txBody>
      </p:sp>
      <p:sp>
        <p:nvSpPr>
          <p:cNvPr id="5" name="Text 3"/>
          <p:cNvSpPr txBox="1"/>
          <p:nvPr/>
        </p:nvSpPr>
        <p:spPr>
          <a:xfrm>
            <a:off x="868680" y="3310128"/>
            <a:ext cx="100584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Digital Rental Management System</a:t>
            </a:r>
            <a:endParaRPr lang="en-US" sz="2200" dirty="0"/>
          </a:p>
        </p:txBody>
      </p:sp>
      <p:sp>
        <p:nvSpPr>
          <p:cNvPr id="6" name="Text 4"/>
          <p:cNvSpPr txBox="1"/>
          <p:nvPr/>
        </p:nvSpPr>
        <p:spPr>
          <a:xfrm>
            <a:off x="868680" y="3913632"/>
            <a:ext cx="10058400" cy="45720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IT402 Capstone Project Defense  ·  All Six Deliverables Complete + Billing Engine + Full Arabic + Production Hardening</a:t>
            </a:r>
            <a:endParaRPr lang="en-US" sz="1500" dirty="0"/>
          </a:p>
        </p:txBody>
      </p:sp>
      <p:sp>
        <p:nvSpPr>
          <p:cNvPr id="7" name="Shape 5"/>
          <p:cNvSpPr/>
          <p:nvPr/>
        </p:nvSpPr>
        <p:spPr>
          <a:xfrm>
            <a:off x="868680" y="4663440"/>
            <a:ext cx="0" cy="1005840"/>
          </a:xfrm>
          <a:prstGeom prst="line">
            <a:avLst/>
          </a:prstGeom>
          <a:noFill/>
          <a:ln w="38100">
            <a:solidFill>
              <a:srgbClr val="2563EB"/>
            </a:solidFill>
            <a:prstDash val="solid"/>
          </a:ln>
        </p:spPr>
        <p:txBody>
          <a:bodyPr/>
          <a:p/>
        </p:txBody>
      </p:sp>
      <p:sp>
        <p:nvSpPr>
          <p:cNvPr id="8" name="Text 6"/>
          <p:cNvSpPr txBox="1"/>
          <p:nvPr/>
        </p:nvSpPr>
        <p:spPr>
          <a:xfrm>
            <a:off x="1097280" y="4709160"/>
            <a:ext cx="5486400" cy="8229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Presented by: Abdur-Rahmaan Muhammad Ali</a:t>
            </a:r>
            <a:endParaRPr lang="en-US" sz="1300" dirty="0"/>
          </a:p>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Course: IT402 — IT Capstone II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548640" y="1143000"/>
            <a:ext cx="6035040" cy="82296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Independent landlords and small property managers still run their business on spreadsheets, paper leases, and manual reminders.</a:t>
            </a:r>
            <a:endParaRPr lang="en-US" sz="1500" dirty="0"/>
          </a:p>
        </p:txBody>
      </p:sp>
      <p:sp>
        <p:nvSpPr>
          <p:cNvPr id="4" name="Shape 2"/>
          <p:cNvSpPr/>
          <p:nvPr/>
        </p:nvSpPr>
        <p:spPr>
          <a:xfrm>
            <a:off x="548640" y="2148840"/>
            <a:ext cx="411480" cy="411480"/>
          </a:xfrm>
          <a:prstGeom prst="ellipse">
            <a:avLst/>
          </a:prstGeom>
          <a:solidFill>
            <a:srgbClr val="2563EB"/>
          </a:solidFill>
          <a:ln/>
        </p:spPr>
        <p:txBody>
          <a:bodyPr/>
          <a:p/>
        </p:txBody>
      </p:sp>
      <p:sp>
        <p:nvSpPr>
          <p:cNvPr id="5" name="Text 3"/>
          <p:cNvSpPr txBox="1"/>
          <p:nvPr/>
        </p:nvSpPr>
        <p:spPr>
          <a:xfrm>
            <a:off x="548640" y="21488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143000" y="210312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 single source of truth</a:t>
            </a:r>
            <a:endParaRPr lang="en-US" sz="1500" dirty="0"/>
          </a:p>
        </p:txBody>
      </p:sp>
      <p:sp>
        <p:nvSpPr>
          <p:cNvPr id="7" name="Text 5"/>
          <p:cNvSpPr txBox="1"/>
          <p:nvPr/>
        </p:nvSpPr>
        <p:spPr>
          <a:xfrm>
            <a:off x="1143000" y="242316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Rent, leases, and maintenance history live in different spreadsheets and email threads.</a:t>
            </a:r>
            <a:endParaRPr lang="en-US" sz="1200" dirty="0"/>
          </a:p>
        </p:txBody>
      </p:sp>
      <p:sp>
        <p:nvSpPr>
          <p:cNvPr id="8" name="Shape 6"/>
          <p:cNvSpPr/>
          <p:nvPr/>
        </p:nvSpPr>
        <p:spPr>
          <a:xfrm>
            <a:off x="548640" y="3108960"/>
            <a:ext cx="411480" cy="411480"/>
          </a:xfrm>
          <a:prstGeom prst="ellipse">
            <a:avLst/>
          </a:prstGeom>
          <a:solidFill>
            <a:srgbClr val="2563EB"/>
          </a:solidFill>
          <a:ln/>
        </p:spPr>
        <p:txBody>
          <a:bodyPr/>
          <a:p/>
        </p:txBody>
      </p:sp>
      <p:sp>
        <p:nvSpPr>
          <p:cNvPr id="9" name="Text 7"/>
          <p:cNvSpPr txBox="1"/>
          <p:nvPr/>
        </p:nvSpPr>
        <p:spPr>
          <a:xfrm>
            <a:off x="548640" y="31089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143000" y="306324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Missed rent and renewals</a:t>
            </a:r>
            <a:endParaRPr lang="en-US" sz="1500" dirty="0"/>
          </a:p>
        </p:txBody>
      </p:sp>
      <p:sp>
        <p:nvSpPr>
          <p:cNvPr id="11" name="Text 9"/>
          <p:cNvSpPr txBox="1"/>
          <p:nvPr/>
        </p:nvSpPr>
        <p:spPr>
          <a:xfrm>
            <a:off x="1143000" y="338328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Nothing proactively flags overdue rent or an expiring lease before it becomes a problem.</a:t>
            </a:r>
            <a:endParaRPr lang="en-US" sz="1200" dirty="0"/>
          </a:p>
        </p:txBody>
      </p:sp>
      <p:sp>
        <p:nvSpPr>
          <p:cNvPr id="12" name="Shape 10"/>
          <p:cNvSpPr/>
          <p:nvPr/>
        </p:nvSpPr>
        <p:spPr>
          <a:xfrm>
            <a:off x="548640" y="4069080"/>
            <a:ext cx="411480" cy="411480"/>
          </a:xfrm>
          <a:prstGeom prst="ellipse">
            <a:avLst/>
          </a:prstGeom>
          <a:solidFill>
            <a:srgbClr val="2563EB"/>
          </a:solidFill>
          <a:ln/>
        </p:spPr>
        <p:txBody>
          <a:bodyPr/>
          <a:p/>
        </p:txBody>
      </p:sp>
      <p:sp>
        <p:nvSpPr>
          <p:cNvPr id="13" name="Text 11"/>
          <p:cNvSpPr txBox="1"/>
          <p:nvPr/>
        </p:nvSpPr>
        <p:spPr>
          <a:xfrm>
            <a:off x="548640" y="40690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143000" y="402336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 accountability trail</a:t>
            </a:r>
            <a:endParaRPr lang="en-US" sz="1500" dirty="0"/>
          </a:p>
        </p:txBody>
      </p:sp>
      <p:sp>
        <p:nvSpPr>
          <p:cNvPr id="15" name="Text 13"/>
          <p:cNvSpPr txBox="1"/>
          <p:nvPr/>
        </p:nvSpPr>
        <p:spPr>
          <a:xfrm>
            <a:off x="1143000" y="434340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Verbal maintenance requests and cash payments leave no audit trail for disputes.</a:t>
            </a:r>
            <a:endParaRPr lang="en-US" sz="1200" dirty="0"/>
          </a:p>
        </p:txBody>
      </p:sp>
      <p:sp>
        <p:nvSpPr>
          <p:cNvPr id="16" name="Shape 14"/>
          <p:cNvSpPr/>
          <p:nvPr/>
        </p:nvSpPr>
        <p:spPr>
          <a:xfrm>
            <a:off x="548640" y="5029200"/>
            <a:ext cx="411480" cy="411480"/>
          </a:xfrm>
          <a:prstGeom prst="ellipse">
            <a:avLst/>
          </a:prstGeom>
          <a:solidFill>
            <a:srgbClr val="2563EB"/>
          </a:solidFill>
          <a:ln/>
        </p:spPr>
        <p:txBody>
          <a:bodyPr/>
          <a:p/>
        </p:txBody>
      </p:sp>
      <p:sp>
        <p:nvSpPr>
          <p:cNvPr id="17" name="Text 15"/>
          <p:cNvSpPr txBox="1"/>
          <p:nvPr/>
        </p:nvSpPr>
        <p:spPr>
          <a:xfrm>
            <a:off x="548640" y="50292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143000" y="4983480"/>
            <a:ext cx="539496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No self-service for tenants</a:t>
            </a:r>
            <a:endParaRPr lang="en-US" sz="1500" dirty="0"/>
          </a:p>
        </p:txBody>
      </p:sp>
      <p:sp>
        <p:nvSpPr>
          <p:cNvPr id="19" name="Text 17"/>
          <p:cNvSpPr txBox="1"/>
          <p:nvPr/>
        </p:nvSpPr>
        <p:spPr>
          <a:xfrm>
            <a:off x="1143000" y="5303520"/>
            <a:ext cx="539496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Tenants have to call or email for basics: a balance, a receipt, a repair update.</a:t>
            </a:r>
            <a:endParaRPr lang="en-US" sz="1200" dirty="0"/>
          </a:p>
        </p:txBody>
      </p:sp>
      <p:sp>
        <p:nvSpPr>
          <p:cNvPr id="20" name="Shape 18"/>
          <p:cNvSpPr/>
          <p:nvPr/>
        </p:nvSpPr>
        <p:spPr>
          <a:xfrm>
            <a:off x="7040880" y="1143000"/>
            <a:ext cx="4572000" cy="5074920"/>
          </a:xfrm>
          <a:prstGeom prst="roundRect">
            <a:avLst>
              <a:gd name="adj" fmla="val 2400"/>
            </a:avLst>
          </a:prstGeom>
          <a:solidFill>
            <a:srgbClr val="0F172A"/>
          </a:solidFill>
          <a:ln/>
        </p:spPr>
        <p:txBody>
          <a:bodyPr/>
          <a:p/>
        </p:txBody>
      </p:sp>
      <p:sp>
        <p:nvSpPr>
          <p:cNvPr id="21" name="Text 19"/>
          <p:cNvSpPr txBox="1"/>
          <p:nvPr/>
        </p:nvSpPr>
        <p:spPr>
          <a:xfrm>
            <a:off x="7406640" y="1417320"/>
            <a:ext cx="38404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Target Users</a:t>
            </a:r>
            <a:endParaRPr lang="en-US" sz="1600" dirty="0"/>
          </a:p>
        </p:txBody>
      </p:sp>
      <p:sp>
        <p:nvSpPr>
          <p:cNvPr id="22" name="Shape 20"/>
          <p:cNvSpPr/>
          <p:nvPr/>
        </p:nvSpPr>
        <p:spPr>
          <a:xfrm>
            <a:off x="7406640" y="2020824"/>
            <a:ext cx="109728" cy="109728"/>
          </a:xfrm>
          <a:prstGeom prst="ellipse">
            <a:avLst/>
          </a:prstGeom>
          <a:solidFill>
            <a:srgbClr val="16A34A"/>
          </a:solidFill>
          <a:ln/>
        </p:spPr>
        <p:txBody>
          <a:bodyPr/>
          <a:p/>
        </p:txBody>
      </p:sp>
      <p:sp>
        <p:nvSpPr>
          <p:cNvPr id="23" name="Text 21"/>
          <p:cNvSpPr txBox="1"/>
          <p:nvPr/>
        </p:nvSpPr>
        <p:spPr>
          <a:xfrm>
            <a:off x="7680960" y="187452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Property Owners</a:t>
            </a:r>
            <a:endParaRPr lang="en-US" sz="1400" dirty="0"/>
          </a:p>
        </p:txBody>
      </p:sp>
      <p:sp>
        <p:nvSpPr>
          <p:cNvPr id="24" name="Shape 22"/>
          <p:cNvSpPr/>
          <p:nvPr/>
        </p:nvSpPr>
        <p:spPr>
          <a:xfrm>
            <a:off x="7406640" y="2523744"/>
            <a:ext cx="109728" cy="109728"/>
          </a:xfrm>
          <a:prstGeom prst="ellipse">
            <a:avLst/>
          </a:prstGeom>
          <a:solidFill>
            <a:srgbClr val="16A34A"/>
          </a:solidFill>
          <a:ln/>
        </p:spPr>
        <p:txBody>
          <a:bodyPr/>
          <a:p/>
        </p:txBody>
      </p:sp>
      <p:sp>
        <p:nvSpPr>
          <p:cNvPr id="25" name="Text 23"/>
          <p:cNvSpPr txBox="1"/>
          <p:nvPr/>
        </p:nvSpPr>
        <p:spPr>
          <a:xfrm>
            <a:off x="7680960" y="237744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Property Managers</a:t>
            </a:r>
            <a:endParaRPr lang="en-US" sz="1400" dirty="0"/>
          </a:p>
        </p:txBody>
      </p:sp>
      <p:sp>
        <p:nvSpPr>
          <p:cNvPr id="26" name="Shape 24"/>
          <p:cNvSpPr/>
          <p:nvPr/>
        </p:nvSpPr>
        <p:spPr>
          <a:xfrm>
            <a:off x="7406640" y="3026664"/>
            <a:ext cx="109728" cy="109728"/>
          </a:xfrm>
          <a:prstGeom prst="ellipse">
            <a:avLst/>
          </a:prstGeom>
          <a:solidFill>
            <a:srgbClr val="16A34A"/>
          </a:solidFill>
          <a:ln/>
        </p:spPr>
        <p:txBody>
          <a:bodyPr/>
          <a:p/>
        </p:txBody>
      </p:sp>
      <p:sp>
        <p:nvSpPr>
          <p:cNvPr id="27" name="Text 25"/>
          <p:cNvSpPr txBox="1"/>
          <p:nvPr/>
        </p:nvSpPr>
        <p:spPr>
          <a:xfrm>
            <a:off x="7680960" y="288036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Tenants</a:t>
            </a:r>
            <a:endParaRPr lang="en-US" sz="1400" dirty="0"/>
          </a:p>
        </p:txBody>
      </p:sp>
      <p:sp>
        <p:nvSpPr>
          <p:cNvPr id="28" name="Shape 26"/>
          <p:cNvSpPr/>
          <p:nvPr/>
        </p:nvSpPr>
        <p:spPr>
          <a:xfrm>
            <a:off x="7406640" y="3529584"/>
            <a:ext cx="109728" cy="109728"/>
          </a:xfrm>
          <a:prstGeom prst="ellipse">
            <a:avLst/>
          </a:prstGeom>
          <a:solidFill>
            <a:srgbClr val="16A34A"/>
          </a:solidFill>
          <a:ln/>
        </p:spPr>
        <p:txBody>
          <a:bodyPr/>
          <a:p/>
        </p:txBody>
      </p:sp>
      <p:sp>
        <p:nvSpPr>
          <p:cNvPr id="29" name="Text 27"/>
          <p:cNvSpPr txBox="1"/>
          <p:nvPr/>
        </p:nvSpPr>
        <p:spPr>
          <a:xfrm>
            <a:off x="7680960" y="338328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Maintenance Staff</a:t>
            </a:r>
            <a:endParaRPr lang="en-US" sz="1400" dirty="0"/>
          </a:p>
        </p:txBody>
      </p:sp>
      <p:sp>
        <p:nvSpPr>
          <p:cNvPr id="30" name="Shape 28"/>
          <p:cNvSpPr/>
          <p:nvPr/>
        </p:nvSpPr>
        <p:spPr>
          <a:xfrm>
            <a:off x="7406640" y="4032504"/>
            <a:ext cx="109728" cy="109728"/>
          </a:xfrm>
          <a:prstGeom prst="ellipse">
            <a:avLst/>
          </a:prstGeom>
          <a:solidFill>
            <a:srgbClr val="16A34A"/>
          </a:solidFill>
          <a:ln/>
        </p:spPr>
        <p:txBody>
          <a:bodyPr/>
          <a:p/>
        </p:txBody>
      </p:sp>
      <p:sp>
        <p:nvSpPr>
          <p:cNvPr id="31" name="Text 29"/>
          <p:cNvSpPr txBox="1"/>
          <p:nvPr/>
        </p:nvSpPr>
        <p:spPr>
          <a:xfrm>
            <a:off x="7680960" y="3886200"/>
            <a:ext cx="35661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Administrators</a:t>
            </a:r>
            <a:endParaRPr lang="en-US" sz="1400" dirty="0"/>
          </a:p>
        </p:txBody>
      </p:sp>
      <p:sp>
        <p:nvSpPr>
          <p:cNvPr id="32" name="Text 30"/>
          <p:cNvSpPr txBox="1"/>
          <p:nvPr/>
        </p:nvSpPr>
        <p:spPr>
          <a:xfrm>
            <a:off x="7406640" y="5394960"/>
            <a:ext cx="3840480" cy="640080"/>
          </a:xfrm>
          <a:prstGeom prst="rect">
            <a:avLst/>
          </a:prstGeom>
          <a:noFill/>
          <a:ln/>
        </p:spPr>
        <p:txBody>
          <a:bodyPr wrap="square" lIns="0" tIns="0" rIns="0" bIns="0" rtlCol="0" anchor="ctr"/>
          <a:lstStyle/>
          <a:p>
            <a:pPr indent="0" marL="0">
              <a:buNone/>
            </a:pPr>
            <a:r>
              <a:rPr lang="en-US" sz="1300" i="1" dirty="0">
                <a:solidFill>
                  <a:srgbClr val="CADCFC"/>
                </a:solidFill>
                <a:latin typeface="Cambria" pitchFamily="34" charset="0"/>
                <a:ea typeface="Cambria" pitchFamily="34" charset="-122"/>
                <a:cs typeface="Cambria" pitchFamily="34" charset="-120"/>
              </a:rPr>
              <a:t>“One system, five roles, zero spreadsheets.”</a:t>
            </a:r>
            <a:endParaRPr lang="en-US" sz="1300" dirty="0"/>
          </a:p>
        </p:txBody>
      </p:sp>
      <p:sp>
        <p:nvSpPr>
          <p:cNvPr id="33" name="Text 3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Problem Statement</a:t>
            </a:r>
            <a:endParaRPr lang="en-US" sz="1000" dirty="0"/>
          </a:p>
        </p:txBody>
      </p:sp>
      <p:sp>
        <p:nvSpPr>
          <p:cNvPr id="34" name="Text 3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2 / 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548640" y="1371600"/>
            <a:ext cx="11064240" cy="868680"/>
          </a:xfrm>
          <a:prstGeom prst="roundRect">
            <a:avLst>
              <a:gd name="adj" fmla="val 8421"/>
            </a:avLst>
          </a:prstGeom>
          <a:solidFill>
            <a:srgbClr val="F1F5F9"/>
          </a:solidFill>
          <a:ln/>
        </p:spPr>
        <p:txBody>
          <a:bodyPr/>
          <a:p/>
        </p:txBody>
      </p:sp>
      <p:sp>
        <p:nvSpPr>
          <p:cNvPr id="4" name="Shape 2"/>
          <p:cNvSpPr/>
          <p:nvPr/>
        </p:nvSpPr>
        <p:spPr>
          <a:xfrm>
            <a:off x="777240" y="1572768"/>
            <a:ext cx="457200" cy="457200"/>
          </a:xfrm>
          <a:prstGeom prst="ellipse">
            <a:avLst/>
          </a:prstGeom>
          <a:solidFill>
            <a:srgbClr val="2563EB"/>
          </a:solidFill>
          <a:ln/>
        </p:spPr>
        <p:txBody>
          <a:bodyPr/>
          <a:p/>
        </p:txBody>
      </p:sp>
      <p:sp>
        <p:nvSpPr>
          <p:cNvPr id="5" name="Text 3"/>
          <p:cNvSpPr txBox="1"/>
          <p:nvPr/>
        </p:nvSpPr>
        <p:spPr>
          <a:xfrm>
            <a:off x="777240" y="1572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63040" y="144475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Centralize property &amp; lease data</a:t>
            </a:r>
            <a:endParaRPr lang="en-US" sz="1450" dirty="0"/>
          </a:p>
        </p:txBody>
      </p:sp>
      <p:sp>
        <p:nvSpPr>
          <p:cNvPr id="7" name="Text 5"/>
          <p:cNvSpPr txBox="1"/>
          <p:nvPr/>
        </p:nvSpPr>
        <p:spPr>
          <a:xfrm>
            <a:off x="5760720" y="144475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One record per property, unit, tenant, and lease — no duplicate spreadsheets.</a:t>
            </a:r>
            <a:endParaRPr lang="en-US" sz="1250" dirty="0"/>
          </a:p>
        </p:txBody>
      </p:sp>
      <p:sp>
        <p:nvSpPr>
          <p:cNvPr id="8" name="Shape 6"/>
          <p:cNvSpPr/>
          <p:nvPr/>
        </p:nvSpPr>
        <p:spPr>
          <a:xfrm>
            <a:off x="548640" y="2331720"/>
            <a:ext cx="11064240" cy="868680"/>
          </a:xfrm>
          <a:prstGeom prst="roundRect">
            <a:avLst>
              <a:gd name="adj" fmla="val 8421"/>
            </a:avLst>
          </a:prstGeom>
          <a:solidFill>
            <a:srgbClr val="FFFFFF"/>
          </a:solidFill>
          <a:ln/>
        </p:spPr>
        <p:txBody>
          <a:bodyPr/>
          <a:p/>
        </p:txBody>
      </p:sp>
      <p:sp>
        <p:nvSpPr>
          <p:cNvPr id="9" name="Shape 7"/>
          <p:cNvSpPr/>
          <p:nvPr/>
        </p:nvSpPr>
        <p:spPr>
          <a:xfrm>
            <a:off x="777240" y="2532888"/>
            <a:ext cx="457200" cy="457200"/>
          </a:xfrm>
          <a:prstGeom prst="ellipse">
            <a:avLst/>
          </a:prstGeom>
          <a:solidFill>
            <a:srgbClr val="2563EB"/>
          </a:solidFill>
          <a:ln/>
        </p:spPr>
        <p:txBody>
          <a:bodyPr/>
          <a:p/>
        </p:txBody>
      </p:sp>
      <p:sp>
        <p:nvSpPr>
          <p:cNvPr id="10" name="Text 8"/>
          <p:cNvSpPr txBox="1"/>
          <p:nvPr/>
        </p:nvSpPr>
        <p:spPr>
          <a:xfrm>
            <a:off x="777240" y="25328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463040" y="240487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Automate the reminders that get missed</a:t>
            </a:r>
            <a:endParaRPr lang="en-US" sz="1450" dirty="0"/>
          </a:p>
        </p:txBody>
      </p:sp>
      <p:sp>
        <p:nvSpPr>
          <p:cNvPr id="12" name="Text 10"/>
          <p:cNvSpPr txBox="1"/>
          <p:nvPr/>
        </p:nvSpPr>
        <p:spPr>
          <a:xfrm>
            <a:off x="5760720" y="240487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Background jobs alert on lease expiry, rent due, overdue rent, and overdue maintenance.</a:t>
            </a:r>
            <a:endParaRPr lang="en-US" sz="1250" dirty="0"/>
          </a:p>
        </p:txBody>
      </p:sp>
      <p:sp>
        <p:nvSpPr>
          <p:cNvPr id="13" name="Shape 11"/>
          <p:cNvSpPr/>
          <p:nvPr/>
        </p:nvSpPr>
        <p:spPr>
          <a:xfrm>
            <a:off x="548640" y="3291840"/>
            <a:ext cx="11064240" cy="868680"/>
          </a:xfrm>
          <a:prstGeom prst="roundRect">
            <a:avLst>
              <a:gd name="adj" fmla="val 8421"/>
            </a:avLst>
          </a:prstGeom>
          <a:solidFill>
            <a:srgbClr val="F1F5F9"/>
          </a:solidFill>
          <a:ln/>
        </p:spPr>
        <p:txBody>
          <a:bodyPr/>
          <a:p/>
        </p:txBody>
      </p:sp>
      <p:sp>
        <p:nvSpPr>
          <p:cNvPr id="14" name="Shape 12"/>
          <p:cNvSpPr/>
          <p:nvPr/>
        </p:nvSpPr>
        <p:spPr>
          <a:xfrm>
            <a:off x="777240" y="3493008"/>
            <a:ext cx="457200" cy="457200"/>
          </a:xfrm>
          <a:prstGeom prst="ellipse">
            <a:avLst/>
          </a:prstGeom>
          <a:solidFill>
            <a:srgbClr val="2563EB"/>
          </a:solidFill>
          <a:ln/>
        </p:spPr>
        <p:txBody>
          <a:bodyPr/>
          <a:p/>
        </p:txBody>
      </p:sp>
      <p:sp>
        <p:nvSpPr>
          <p:cNvPr id="15" name="Text 13"/>
          <p:cNvSpPr txBox="1"/>
          <p:nvPr/>
        </p:nvSpPr>
        <p:spPr>
          <a:xfrm>
            <a:off x="77724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463040" y="336499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Give every role a role-scoped view</a:t>
            </a:r>
            <a:endParaRPr lang="en-US" sz="1450" dirty="0"/>
          </a:p>
        </p:txBody>
      </p:sp>
      <p:sp>
        <p:nvSpPr>
          <p:cNvPr id="17" name="Text 15"/>
          <p:cNvSpPr txBox="1"/>
          <p:nvPr/>
        </p:nvSpPr>
        <p:spPr>
          <a:xfrm>
            <a:off x="5760720" y="336499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RBAC + ownership checks so an Owner never sees another Owner’s portfolio.</a:t>
            </a:r>
            <a:endParaRPr lang="en-US" sz="1250" dirty="0"/>
          </a:p>
        </p:txBody>
      </p:sp>
      <p:sp>
        <p:nvSpPr>
          <p:cNvPr id="18" name="Shape 16"/>
          <p:cNvSpPr/>
          <p:nvPr/>
        </p:nvSpPr>
        <p:spPr>
          <a:xfrm>
            <a:off x="548640" y="4251960"/>
            <a:ext cx="11064240" cy="868680"/>
          </a:xfrm>
          <a:prstGeom prst="roundRect">
            <a:avLst>
              <a:gd name="adj" fmla="val 8421"/>
            </a:avLst>
          </a:prstGeom>
          <a:solidFill>
            <a:srgbClr val="FFFFFF"/>
          </a:solidFill>
          <a:ln/>
        </p:spPr>
        <p:txBody>
          <a:bodyPr/>
          <a:p/>
        </p:txBody>
      </p:sp>
      <p:sp>
        <p:nvSpPr>
          <p:cNvPr id="19" name="Shape 17"/>
          <p:cNvSpPr/>
          <p:nvPr/>
        </p:nvSpPr>
        <p:spPr>
          <a:xfrm>
            <a:off x="777240" y="4453128"/>
            <a:ext cx="457200" cy="457200"/>
          </a:xfrm>
          <a:prstGeom prst="ellipse">
            <a:avLst/>
          </a:prstGeom>
          <a:solidFill>
            <a:srgbClr val="2563EB"/>
          </a:solidFill>
          <a:ln/>
        </p:spPr>
        <p:txBody>
          <a:bodyPr/>
          <a:p/>
        </p:txBody>
      </p:sp>
      <p:sp>
        <p:nvSpPr>
          <p:cNvPr id="20" name="Text 18"/>
          <p:cNvSpPr txBox="1"/>
          <p:nvPr/>
        </p:nvSpPr>
        <p:spPr>
          <a:xfrm>
            <a:off x="777240" y="4453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1463040" y="432511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Make every record auditable</a:t>
            </a:r>
            <a:endParaRPr lang="en-US" sz="1450" dirty="0"/>
          </a:p>
        </p:txBody>
      </p:sp>
      <p:sp>
        <p:nvSpPr>
          <p:cNvPr id="22" name="Text 20"/>
          <p:cNvSpPr txBox="1"/>
          <p:nvPr/>
        </p:nvSpPr>
        <p:spPr>
          <a:xfrm>
            <a:off x="5760720" y="432511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Immutable payments and an append-only audit log — no silent edits.</a:t>
            </a:r>
            <a:endParaRPr lang="en-US" sz="1250" dirty="0"/>
          </a:p>
        </p:txBody>
      </p:sp>
      <p:sp>
        <p:nvSpPr>
          <p:cNvPr id="23" name="Shape 21"/>
          <p:cNvSpPr/>
          <p:nvPr/>
        </p:nvSpPr>
        <p:spPr>
          <a:xfrm>
            <a:off x="548640" y="5212080"/>
            <a:ext cx="11064240" cy="868680"/>
          </a:xfrm>
          <a:prstGeom prst="roundRect">
            <a:avLst>
              <a:gd name="adj" fmla="val 8421"/>
            </a:avLst>
          </a:prstGeom>
          <a:solidFill>
            <a:srgbClr val="F1F5F9"/>
          </a:solidFill>
          <a:ln/>
        </p:spPr>
        <p:txBody>
          <a:bodyPr/>
          <a:p/>
        </p:txBody>
      </p:sp>
      <p:sp>
        <p:nvSpPr>
          <p:cNvPr id="24" name="Shape 22"/>
          <p:cNvSpPr/>
          <p:nvPr/>
        </p:nvSpPr>
        <p:spPr>
          <a:xfrm>
            <a:off x="777240" y="5413248"/>
            <a:ext cx="457200" cy="457200"/>
          </a:xfrm>
          <a:prstGeom prst="ellipse">
            <a:avLst/>
          </a:prstGeom>
          <a:solidFill>
            <a:srgbClr val="16A34A"/>
          </a:solidFill>
          <a:ln/>
        </p:spPr>
        <p:txBody>
          <a:bodyPr/>
          <a:p/>
        </p:txBody>
      </p:sp>
      <p:sp>
        <p:nvSpPr>
          <p:cNvPr id="25" name="Text 23"/>
          <p:cNvSpPr txBox="1"/>
          <p:nvPr/>
        </p:nvSpPr>
        <p:spPr>
          <a:xfrm>
            <a:off x="777240" y="5413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1463040" y="5285232"/>
            <a:ext cx="420624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Ship it fully tested, not just working</a:t>
            </a:r>
            <a:endParaRPr lang="en-US" sz="1450" dirty="0"/>
          </a:p>
        </p:txBody>
      </p:sp>
      <p:sp>
        <p:nvSpPr>
          <p:cNvPr id="27" name="Text 25"/>
          <p:cNvSpPr txBox="1"/>
          <p:nvPr/>
        </p:nvSpPr>
        <p:spPr>
          <a:xfrm>
            <a:off x="5760720" y="5285232"/>
            <a:ext cx="566928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100% of SRS requirements implemented and covered by an automated test.</a:t>
            </a:r>
            <a:endParaRPr lang="en-US" sz="1250" dirty="0"/>
          </a:p>
        </p:txBody>
      </p:sp>
      <p:sp>
        <p:nvSpPr>
          <p:cNvPr id="28" name="Text 26"/>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Objectives</a:t>
            </a:r>
            <a:endParaRPr lang="en-US" sz="1000" dirty="0"/>
          </a:p>
        </p:txBody>
      </p:sp>
      <p:sp>
        <p:nvSpPr>
          <p:cNvPr id="29" name="Text 27"/>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3 / 19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Requirements — IT401 Deliverable 1</a:t>
            </a:r>
            <a:endParaRPr lang="en-US" sz="30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The Software Requirements Specification defined 25 use cases across six functional areas.</a:t>
            </a:r>
            <a:endParaRPr lang="en-US" sz="1400" dirty="0"/>
          </a:p>
        </p:txBody>
      </p:sp>
      <p:sp>
        <p:nvSpPr>
          <p:cNvPr id="4" name="Shape 2"/>
          <p:cNvSpPr/>
          <p:nvPr/>
        </p:nvSpPr>
        <p:spPr>
          <a:xfrm>
            <a:off x="548640" y="16916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txBody>
          <a:bodyPr/>
          <a:p/>
        </p:txBody>
      </p:sp>
      <p:sp>
        <p:nvSpPr>
          <p:cNvPr id="5" name="Text 3"/>
          <p:cNvSpPr txBox="1"/>
          <p:nvPr/>
        </p:nvSpPr>
        <p:spPr>
          <a:xfrm>
            <a:off x="777240" y="18745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Auth &amp; RBAC</a:t>
            </a:r>
            <a:endParaRPr lang="en-US" sz="1450" dirty="0"/>
          </a:p>
        </p:txBody>
      </p:sp>
      <p:sp>
        <p:nvSpPr>
          <p:cNvPr id="6" name="Text 4"/>
          <p:cNvSpPr txBox="1"/>
          <p:nvPr/>
        </p:nvSpPr>
        <p:spPr>
          <a:xfrm>
            <a:off x="777240" y="22585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2 use cases</a:t>
            </a:r>
            <a:endParaRPr lang="en-US" sz="1800" dirty="0"/>
          </a:p>
        </p:txBody>
      </p:sp>
      <p:sp>
        <p:nvSpPr>
          <p:cNvPr id="7" name="Text 5"/>
          <p:cNvSpPr txBox="1"/>
          <p:nvPr/>
        </p:nvSpPr>
        <p:spPr>
          <a:xfrm>
            <a:off x="777240" y="26791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Login, role-based access for 5 roles</a:t>
            </a:r>
            <a:endParaRPr lang="en-US" sz="1100" dirty="0"/>
          </a:p>
        </p:txBody>
      </p:sp>
      <p:sp>
        <p:nvSpPr>
          <p:cNvPr id="8" name="Shape 6"/>
          <p:cNvSpPr/>
          <p:nvPr/>
        </p:nvSpPr>
        <p:spPr>
          <a:xfrm>
            <a:off x="4343400" y="16916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txBody>
          <a:bodyPr/>
          <a:p/>
        </p:txBody>
      </p:sp>
      <p:sp>
        <p:nvSpPr>
          <p:cNvPr id="9" name="Text 7"/>
          <p:cNvSpPr txBox="1"/>
          <p:nvPr/>
        </p:nvSpPr>
        <p:spPr>
          <a:xfrm>
            <a:off x="4572000" y="18745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Property &amp; Unit Mgmt</a:t>
            </a:r>
            <a:endParaRPr lang="en-US" sz="1450" dirty="0"/>
          </a:p>
        </p:txBody>
      </p:sp>
      <p:sp>
        <p:nvSpPr>
          <p:cNvPr id="10" name="Text 8"/>
          <p:cNvSpPr txBox="1"/>
          <p:nvPr/>
        </p:nvSpPr>
        <p:spPr>
          <a:xfrm>
            <a:off x="4572000" y="22585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4 use cases</a:t>
            </a:r>
            <a:endParaRPr lang="en-US" sz="1800" dirty="0"/>
          </a:p>
        </p:txBody>
      </p:sp>
      <p:sp>
        <p:nvSpPr>
          <p:cNvPr id="11" name="Text 9"/>
          <p:cNvSpPr txBox="1"/>
          <p:nvPr/>
        </p:nvSpPr>
        <p:spPr>
          <a:xfrm>
            <a:off x="4572000" y="26791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Add/edit properties, units, dashboard</a:t>
            </a:r>
            <a:endParaRPr lang="en-US" sz="1100" dirty="0"/>
          </a:p>
        </p:txBody>
      </p:sp>
      <p:sp>
        <p:nvSpPr>
          <p:cNvPr id="12" name="Shape 10"/>
          <p:cNvSpPr/>
          <p:nvPr/>
        </p:nvSpPr>
        <p:spPr>
          <a:xfrm>
            <a:off x="8138160" y="16916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txBody>
          <a:bodyPr/>
          <a:p/>
        </p:txBody>
      </p:sp>
      <p:sp>
        <p:nvSpPr>
          <p:cNvPr id="13" name="Text 11"/>
          <p:cNvSpPr txBox="1"/>
          <p:nvPr/>
        </p:nvSpPr>
        <p:spPr>
          <a:xfrm>
            <a:off x="8366760" y="18745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Tenant Lifecycle</a:t>
            </a:r>
            <a:endParaRPr lang="en-US" sz="1450" dirty="0"/>
          </a:p>
        </p:txBody>
      </p:sp>
      <p:sp>
        <p:nvSpPr>
          <p:cNvPr id="14" name="Text 12"/>
          <p:cNvSpPr txBox="1"/>
          <p:nvPr/>
        </p:nvSpPr>
        <p:spPr>
          <a:xfrm>
            <a:off x="8366760" y="22585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5 use cases</a:t>
            </a:r>
            <a:endParaRPr lang="en-US" sz="1800" dirty="0"/>
          </a:p>
        </p:txBody>
      </p:sp>
      <p:sp>
        <p:nvSpPr>
          <p:cNvPr id="15" name="Text 13"/>
          <p:cNvSpPr txBox="1"/>
          <p:nvPr/>
        </p:nvSpPr>
        <p:spPr>
          <a:xfrm>
            <a:off x="8366760" y="26791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Onboarding, invites, leases, portal</a:t>
            </a:r>
            <a:endParaRPr lang="en-US" sz="1100" dirty="0"/>
          </a:p>
        </p:txBody>
      </p:sp>
      <p:sp>
        <p:nvSpPr>
          <p:cNvPr id="16" name="Shape 14"/>
          <p:cNvSpPr/>
          <p:nvPr/>
        </p:nvSpPr>
        <p:spPr>
          <a:xfrm>
            <a:off x="548640" y="35204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txBody>
          <a:bodyPr/>
          <a:p/>
        </p:txBody>
      </p:sp>
      <p:sp>
        <p:nvSpPr>
          <p:cNvPr id="17" name="Text 15"/>
          <p:cNvSpPr txBox="1"/>
          <p:nvPr/>
        </p:nvSpPr>
        <p:spPr>
          <a:xfrm>
            <a:off x="777240" y="37033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Rent &amp; Payments</a:t>
            </a:r>
            <a:endParaRPr lang="en-US" sz="1450" dirty="0"/>
          </a:p>
        </p:txBody>
      </p:sp>
      <p:sp>
        <p:nvSpPr>
          <p:cNvPr id="18" name="Text 16"/>
          <p:cNvSpPr txBox="1"/>
          <p:nvPr/>
        </p:nvSpPr>
        <p:spPr>
          <a:xfrm>
            <a:off x="777240" y="40873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6 use cases</a:t>
            </a:r>
            <a:endParaRPr lang="en-US" sz="1800" dirty="0"/>
          </a:p>
        </p:txBody>
      </p:sp>
      <p:sp>
        <p:nvSpPr>
          <p:cNvPr id="19" name="Text 17"/>
          <p:cNvSpPr txBox="1"/>
          <p:nvPr/>
        </p:nvSpPr>
        <p:spPr>
          <a:xfrm>
            <a:off x="777240" y="45079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Recording, statements, alerts, history</a:t>
            </a:r>
            <a:endParaRPr lang="en-US" sz="1100" dirty="0"/>
          </a:p>
        </p:txBody>
      </p:sp>
      <p:sp>
        <p:nvSpPr>
          <p:cNvPr id="20" name="Shape 18"/>
          <p:cNvSpPr/>
          <p:nvPr/>
        </p:nvSpPr>
        <p:spPr>
          <a:xfrm>
            <a:off x="4343400" y="35204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txBody>
          <a:bodyPr/>
          <a:p/>
        </p:txBody>
      </p:sp>
      <p:sp>
        <p:nvSpPr>
          <p:cNvPr id="21" name="Text 19"/>
          <p:cNvSpPr txBox="1"/>
          <p:nvPr/>
        </p:nvSpPr>
        <p:spPr>
          <a:xfrm>
            <a:off x="4572000" y="37033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Maintenance</a:t>
            </a:r>
            <a:endParaRPr lang="en-US" sz="1450" dirty="0"/>
          </a:p>
        </p:txBody>
      </p:sp>
      <p:sp>
        <p:nvSpPr>
          <p:cNvPr id="22" name="Text 20"/>
          <p:cNvSpPr txBox="1"/>
          <p:nvPr/>
        </p:nvSpPr>
        <p:spPr>
          <a:xfrm>
            <a:off x="4572000" y="40873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6 use cases</a:t>
            </a:r>
            <a:endParaRPr lang="en-US" sz="1800" dirty="0"/>
          </a:p>
        </p:txBody>
      </p:sp>
      <p:sp>
        <p:nvSpPr>
          <p:cNvPr id="23" name="Text 21"/>
          <p:cNvSpPr txBox="1"/>
          <p:nvPr/>
        </p:nvSpPr>
        <p:spPr>
          <a:xfrm>
            <a:off x="4572000" y="45079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Submit through close, cost tracking</a:t>
            </a:r>
            <a:endParaRPr lang="en-US" sz="1100" dirty="0"/>
          </a:p>
        </p:txBody>
      </p:sp>
      <p:sp>
        <p:nvSpPr>
          <p:cNvPr id="24" name="Shape 22"/>
          <p:cNvSpPr/>
          <p:nvPr/>
        </p:nvSpPr>
        <p:spPr>
          <a:xfrm>
            <a:off x="8138160" y="3520440"/>
            <a:ext cx="3566160" cy="1600200"/>
          </a:xfrm>
          <a:prstGeom prst="roundRect">
            <a:avLst>
              <a:gd name="adj" fmla="val 5714"/>
            </a:avLst>
          </a:prstGeom>
          <a:solidFill>
            <a:srgbClr val="FFFFFF"/>
          </a:solidFill>
          <a:ln w="12700">
            <a:solidFill>
              <a:srgbClr val="CBD5E1"/>
            </a:solidFill>
            <a:prstDash val="solid"/>
          </a:ln>
          <a:effectLst>
            <a:outerShdw sx="100000" sy="100000" kx="0" ky="0" algn="bl" rotWithShape="0" blurRad="76200" dist="25400" dir="5400000">
              <a:srgbClr val="64748B">
                <a:alpha val="25000"/>
              </a:srgbClr>
            </a:outerShdw>
          </a:effectLst>
        </p:spPr>
        <p:txBody>
          <a:bodyPr/>
          <a:p/>
        </p:txBody>
      </p:sp>
      <p:sp>
        <p:nvSpPr>
          <p:cNvPr id="25" name="Text 23"/>
          <p:cNvSpPr txBox="1"/>
          <p:nvPr/>
        </p:nvSpPr>
        <p:spPr>
          <a:xfrm>
            <a:off x="8366760" y="3703320"/>
            <a:ext cx="310896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Reporting</a:t>
            </a:r>
            <a:endParaRPr lang="en-US" sz="1450" dirty="0"/>
          </a:p>
        </p:txBody>
      </p:sp>
      <p:sp>
        <p:nvSpPr>
          <p:cNvPr id="26" name="Text 24"/>
          <p:cNvSpPr txBox="1"/>
          <p:nvPr/>
        </p:nvSpPr>
        <p:spPr>
          <a:xfrm>
            <a:off x="8366760" y="4087368"/>
            <a:ext cx="310896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2 use cases</a:t>
            </a:r>
            <a:endParaRPr lang="en-US" sz="1800" dirty="0"/>
          </a:p>
        </p:txBody>
      </p:sp>
      <p:sp>
        <p:nvSpPr>
          <p:cNvPr id="27" name="Text 25"/>
          <p:cNvSpPr txBox="1"/>
          <p:nvPr/>
        </p:nvSpPr>
        <p:spPr>
          <a:xfrm>
            <a:off x="8366760" y="4507992"/>
            <a:ext cx="3108960" cy="5486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Performance reports, PDF/JSON export</a:t>
            </a:r>
            <a:endParaRPr lang="en-US" sz="1100" dirty="0"/>
          </a:p>
        </p:txBody>
      </p:sp>
      <p:sp>
        <p:nvSpPr>
          <p:cNvPr id="28" name="Text 26"/>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Requirements (IT401 D1)</a:t>
            </a:r>
            <a:endParaRPr lang="en-US" sz="1000" dirty="0"/>
          </a:p>
        </p:txBody>
      </p:sp>
      <p:sp>
        <p:nvSpPr>
          <p:cNvPr id="29" name="Text 27"/>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4 / 19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Design — IT401 Deliverable 2</a:t>
            </a:r>
            <a:endParaRPr lang="en-US" sz="30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UML class model and a normalized relational schema — 13 tables, all linked by UUID foreign keys.</a:t>
            </a:r>
            <a:endParaRPr lang="en-US" sz="1400" dirty="0"/>
          </a:p>
        </p:txBody>
      </p:sp>
      <p:sp>
        <p:nvSpPr>
          <p:cNvPr id="4" name="Shape 2"/>
          <p:cNvSpPr/>
          <p:nvPr/>
        </p:nvSpPr>
        <p:spPr>
          <a:xfrm>
            <a:off x="548640" y="1783080"/>
            <a:ext cx="2606040" cy="566928"/>
          </a:xfrm>
          <a:prstGeom prst="roundRect">
            <a:avLst>
              <a:gd name="adj" fmla="val 9677"/>
            </a:avLst>
          </a:prstGeom>
          <a:solidFill>
            <a:srgbClr val="1E293B"/>
          </a:solidFill>
          <a:ln w="12700">
            <a:solidFill>
              <a:srgbClr val="334155"/>
            </a:solidFill>
            <a:prstDash val="solid"/>
          </a:ln>
        </p:spPr>
        <p:txBody>
          <a:bodyPr/>
          <a:p/>
        </p:txBody>
      </p:sp>
      <p:sp>
        <p:nvSpPr>
          <p:cNvPr id="5" name="Text 3"/>
          <p:cNvSpPr txBox="1"/>
          <p:nvPr/>
        </p:nvSpPr>
        <p:spPr>
          <a:xfrm>
            <a:off x="54864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users</a:t>
            </a:r>
            <a:endParaRPr lang="en-US" sz="1150" dirty="0"/>
          </a:p>
        </p:txBody>
      </p:sp>
      <p:sp>
        <p:nvSpPr>
          <p:cNvPr id="6" name="Shape 4"/>
          <p:cNvSpPr/>
          <p:nvPr/>
        </p:nvSpPr>
        <p:spPr>
          <a:xfrm>
            <a:off x="3337560" y="1783080"/>
            <a:ext cx="2606040" cy="566928"/>
          </a:xfrm>
          <a:prstGeom prst="roundRect">
            <a:avLst>
              <a:gd name="adj" fmla="val 9677"/>
            </a:avLst>
          </a:prstGeom>
          <a:solidFill>
            <a:srgbClr val="1E293B"/>
          </a:solidFill>
          <a:ln w="12700">
            <a:solidFill>
              <a:srgbClr val="334155"/>
            </a:solidFill>
            <a:prstDash val="solid"/>
          </a:ln>
        </p:spPr>
        <p:txBody>
          <a:bodyPr/>
          <a:p/>
        </p:txBody>
      </p:sp>
      <p:sp>
        <p:nvSpPr>
          <p:cNvPr id="7" name="Text 5"/>
          <p:cNvSpPr txBox="1"/>
          <p:nvPr/>
        </p:nvSpPr>
        <p:spPr>
          <a:xfrm>
            <a:off x="333756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properties</a:t>
            </a:r>
            <a:endParaRPr lang="en-US" sz="1150" dirty="0"/>
          </a:p>
        </p:txBody>
      </p:sp>
      <p:sp>
        <p:nvSpPr>
          <p:cNvPr id="8" name="Shape 6"/>
          <p:cNvSpPr/>
          <p:nvPr/>
        </p:nvSpPr>
        <p:spPr>
          <a:xfrm>
            <a:off x="6126480" y="1783080"/>
            <a:ext cx="2606040" cy="566928"/>
          </a:xfrm>
          <a:prstGeom prst="roundRect">
            <a:avLst>
              <a:gd name="adj" fmla="val 9677"/>
            </a:avLst>
          </a:prstGeom>
          <a:solidFill>
            <a:srgbClr val="1E293B"/>
          </a:solidFill>
          <a:ln w="12700">
            <a:solidFill>
              <a:srgbClr val="334155"/>
            </a:solidFill>
            <a:prstDash val="solid"/>
          </a:ln>
        </p:spPr>
        <p:txBody>
          <a:bodyPr/>
          <a:p/>
        </p:txBody>
      </p:sp>
      <p:sp>
        <p:nvSpPr>
          <p:cNvPr id="9" name="Text 7"/>
          <p:cNvSpPr txBox="1"/>
          <p:nvPr/>
        </p:nvSpPr>
        <p:spPr>
          <a:xfrm>
            <a:off x="612648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units</a:t>
            </a:r>
            <a:endParaRPr lang="en-US" sz="1150" dirty="0"/>
          </a:p>
        </p:txBody>
      </p:sp>
      <p:sp>
        <p:nvSpPr>
          <p:cNvPr id="10" name="Shape 8"/>
          <p:cNvSpPr/>
          <p:nvPr/>
        </p:nvSpPr>
        <p:spPr>
          <a:xfrm>
            <a:off x="8915400" y="1783080"/>
            <a:ext cx="2606040" cy="566928"/>
          </a:xfrm>
          <a:prstGeom prst="roundRect">
            <a:avLst>
              <a:gd name="adj" fmla="val 9677"/>
            </a:avLst>
          </a:prstGeom>
          <a:solidFill>
            <a:srgbClr val="1E293B"/>
          </a:solidFill>
          <a:ln w="12700">
            <a:solidFill>
              <a:srgbClr val="334155"/>
            </a:solidFill>
            <a:prstDash val="solid"/>
          </a:ln>
        </p:spPr>
        <p:txBody>
          <a:bodyPr/>
          <a:p/>
        </p:txBody>
      </p:sp>
      <p:sp>
        <p:nvSpPr>
          <p:cNvPr id="11" name="Text 9"/>
          <p:cNvSpPr txBox="1"/>
          <p:nvPr/>
        </p:nvSpPr>
        <p:spPr>
          <a:xfrm>
            <a:off x="8915400" y="178308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tenants</a:t>
            </a:r>
            <a:endParaRPr lang="en-US" sz="1150" dirty="0"/>
          </a:p>
        </p:txBody>
      </p:sp>
      <p:sp>
        <p:nvSpPr>
          <p:cNvPr id="12" name="Shape 10"/>
          <p:cNvSpPr/>
          <p:nvPr/>
        </p:nvSpPr>
        <p:spPr>
          <a:xfrm>
            <a:off x="548640" y="2514600"/>
            <a:ext cx="2606040" cy="566928"/>
          </a:xfrm>
          <a:prstGeom prst="roundRect">
            <a:avLst>
              <a:gd name="adj" fmla="val 9677"/>
            </a:avLst>
          </a:prstGeom>
          <a:solidFill>
            <a:srgbClr val="1E293B"/>
          </a:solidFill>
          <a:ln w="12700">
            <a:solidFill>
              <a:srgbClr val="334155"/>
            </a:solidFill>
            <a:prstDash val="solid"/>
          </a:ln>
        </p:spPr>
        <p:txBody>
          <a:bodyPr/>
          <a:p/>
        </p:txBody>
      </p:sp>
      <p:sp>
        <p:nvSpPr>
          <p:cNvPr id="13" name="Text 11"/>
          <p:cNvSpPr txBox="1"/>
          <p:nvPr/>
        </p:nvSpPr>
        <p:spPr>
          <a:xfrm>
            <a:off x="54864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tenant_invitations</a:t>
            </a:r>
            <a:endParaRPr lang="en-US" sz="1150" dirty="0"/>
          </a:p>
        </p:txBody>
      </p:sp>
      <p:sp>
        <p:nvSpPr>
          <p:cNvPr id="14" name="Shape 12"/>
          <p:cNvSpPr/>
          <p:nvPr/>
        </p:nvSpPr>
        <p:spPr>
          <a:xfrm>
            <a:off x="3337560" y="2514600"/>
            <a:ext cx="2606040" cy="566928"/>
          </a:xfrm>
          <a:prstGeom prst="roundRect">
            <a:avLst>
              <a:gd name="adj" fmla="val 9677"/>
            </a:avLst>
          </a:prstGeom>
          <a:solidFill>
            <a:srgbClr val="1E293B"/>
          </a:solidFill>
          <a:ln w="12700">
            <a:solidFill>
              <a:srgbClr val="334155"/>
            </a:solidFill>
            <a:prstDash val="solid"/>
          </a:ln>
        </p:spPr>
        <p:txBody>
          <a:bodyPr/>
          <a:p/>
        </p:txBody>
      </p:sp>
      <p:sp>
        <p:nvSpPr>
          <p:cNvPr id="15" name="Text 13"/>
          <p:cNvSpPr txBox="1"/>
          <p:nvPr/>
        </p:nvSpPr>
        <p:spPr>
          <a:xfrm>
            <a:off x="333756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password_resets</a:t>
            </a:r>
            <a:endParaRPr lang="en-US" sz="1150" dirty="0"/>
          </a:p>
        </p:txBody>
      </p:sp>
      <p:sp>
        <p:nvSpPr>
          <p:cNvPr id="16" name="Shape 14"/>
          <p:cNvSpPr/>
          <p:nvPr/>
        </p:nvSpPr>
        <p:spPr>
          <a:xfrm>
            <a:off x="6126480" y="2514600"/>
            <a:ext cx="2606040" cy="566928"/>
          </a:xfrm>
          <a:prstGeom prst="roundRect">
            <a:avLst>
              <a:gd name="adj" fmla="val 9677"/>
            </a:avLst>
          </a:prstGeom>
          <a:solidFill>
            <a:srgbClr val="1E293B"/>
          </a:solidFill>
          <a:ln w="12700">
            <a:solidFill>
              <a:srgbClr val="334155"/>
            </a:solidFill>
            <a:prstDash val="solid"/>
          </a:ln>
        </p:spPr>
        <p:txBody>
          <a:bodyPr/>
          <a:p/>
        </p:txBody>
      </p:sp>
      <p:sp>
        <p:nvSpPr>
          <p:cNvPr id="17" name="Text 15"/>
          <p:cNvSpPr txBox="1"/>
          <p:nvPr/>
        </p:nvSpPr>
        <p:spPr>
          <a:xfrm>
            <a:off x="612648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leases</a:t>
            </a:r>
            <a:endParaRPr lang="en-US" sz="1150" dirty="0"/>
          </a:p>
        </p:txBody>
      </p:sp>
      <p:sp>
        <p:nvSpPr>
          <p:cNvPr id="18" name="Shape 16"/>
          <p:cNvSpPr/>
          <p:nvPr/>
        </p:nvSpPr>
        <p:spPr>
          <a:xfrm>
            <a:off x="8915400" y="2514600"/>
            <a:ext cx="2606040" cy="566928"/>
          </a:xfrm>
          <a:prstGeom prst="roundRect">
            <a:avLst>
              <a:gd name="adj" fmla="val 9677"/>
            </a:avLst>
          </a:prstGeom>
          <a:solidFill>
            <a:srgbClr val="1E293B"/>
          </a:solidFill>
          <a:ln w="12700">
            <a:solidFill>
              <a:srgbClr val="334155"/>
            </a:solidFill>
            <a:prstDash val="solid"/>
          </a:ln>
        </p:spPr>
        <p:txBody>
          <a:bodyPr/>
          <a:p/>
        </p:txBody>
      </p:sp>
      <p:sp>
        <p:nvSpPr>
          <p:cNvPr id="19" name="Text 17"/>
          <p:cNvSpPr txBox="1"/>
          <p:nvPr/>
        </p:nvSpPr>
        <p:spPr>
          <a:xfrm>
            <a:off x="8915400" y="251460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rent_payments</a:t>
            </a:r>
            <a:endParaRPr lang="en-US" sz="1150" dirty="0"/>
          </a:p>
        </p:txBody>
      </p:sp>
      <p:sp>
        <p:nvSpPr>
          <p:cNvPr id="20" name="Shape 18"/>
          <p:cNvSpPr/>
          <p:nvPr/>
        </p:nvSpPr>
        <p:spPr>
          <a:xfrm>
            <a:off x="548640" y="3246120"/>
            <a:ext cx="2606040" cy="566928"/>
          </a:xfrm>
          <a:prstGeom prst="roundRect">
            <a:avLst>
              <a:gd name="adj" fmla="val 9677"/>
            </a:avLst>
          </a:prstGeom>
          <a:solidFill>
            <a:srgbClr val="1E293B"/>
          </a:solidFill>
          <a:ln w="12700">
            <a:solidFill>
              <a:srgbClr val="334155"/>
            </a:solidFill>
            <a:prstDash val="solid"/>
          </a:ln>
        </p:spPr>
        <p:txBody>
          <a:bodyPr/>
          <a:p/>
        </p:txBody>
      </p:sp>
      <p:sp>
        <p:nvSpPr>
          <p:cNvPr id="21" name="Text 19"/>
          <p:cNvSpPr txBox="1"/>
          <p:nvPr/>
        </p:nvSpPr>
        <p:spPr>
          <a:xfrm>
            <a:off x="54864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maintenance_requests</a:t>
            </a:r>
            <a:endParaRPr lang="en-US" sz="1150" dirty="0"/>
          </a:p>
        </p:txBody>
      </p:sp>
      <p:sp>
        <p:nvSpPr>
          <p:cNvPr id="22" name="Shape 20"/>
          <p:cNvSpPr/>
          <p:nvPr/>
        </p:nvSpPr>
        <p:spPr>
          <a:xfrm>
            <a:off x="3337560" y="3246120"/>
            <a:ext cx="2606040" cy="566928"/>
          </a:xfrm>
          <a:prstGeom prst="roundRect">
            <a:avLst>
              <a:gd name="adj" fmla="val 9677"/>
            </a:avLst>
          </a:prstGeom>
          <a:solidFill>
            <a:srgbClr val="1E293B"/>
          </a:solidFill>
          <a:ln w="12700">
            <a:solidFill>
              <a:srgbClr val="334155"/>
            </a:solidFill>
            <a:prstDash val="solid"/>
          </a:ln>
        </p:spPr>
        <p:txBody>
          <a:bodyPr/>
          <a:p/>
        </p:txBody>
      </p:sp>
      <p:sp>
        <p:nvSpPr>
          <p:cNvPr id="23" name="Text 21"/>
          <p:cNvSpPr txBox="1"/>
          <p:nvPr/>
        </p:nvSpPr>
        <p:spPr>
          <a:xfrm>
            <a:off x="333756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maintenance_costs</a:t>
            </a:r>
            <a:endParaRPr lang="en-US" sz="1150" dirty="0"/>
          </a:p>
        </p:txBody>
      </p:sp>
      <p:sp>
        <p:nvSpPr>
          <p:cNvPr id="24" name="Shape 22"/>
          <p:cNvSpPr/>
          <p:nvPr/>
        </p:nvSpPr>
        <p:spPr>
          <a:xfrm>
            <a:off x="6126480" y="3246120"/>
            <a:ext cx="2606040" cy="566928"/>
          </a:xfrm>
          <a:prstGeom prst="roundRect">
            <a:avLst>
              <a:gd name="adj" fmla="val 9677"/>
            </a:avLst>
          </a:prstGeom>
          <a:solidFill>
            <a:srgbClr val="1E293B"/>
          </a:solidFill>
          <a:ln w="12700">
            <a:solidFill>
              <a:srgbClr val="334155"/>
            </a:solidFill>
            <a:prstDash val="solid"/>
          </a:ln>
        </p:spPr>
        <p:txBody>
          <a:bodyPr/>
          <a:p/>
        </p:txBody>
      </p:sp>
      <p:sp>
        <p:nvSpPr>
          <p:cNvPr id="25" name="Text 23"/>
          <p:cNvSpPr txBox="1"/>
          <p:nvPr/>
        </p:nvSpPr>
        <p:spPr>
          <a:xfrm>
            <a:off x="612648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maintenance_notes</a:t>
            </a:r>
            <a:endParaRPr lang="en-US" sz="1150" dirty="0"/>
          </a:p>
        </p:txBody>
      </p:sp>
      <p:sp>
        <p:nvSpPr>
          <p:cNvPr id="26" name="Shape 24"/>
          <p:cNvSpPr/>
          <p:nvPr/>
        </p:nvSpPr>
        <p:spPr>
          <a:xfrm>
            <a:off x="8915400" y="3246120"/>
            <a:ext cx="2606040" cy="566928"/>
          </a:xfrm>
          <a:prstGeom prst="roundRect">
            <a:avLst>
              <a:gd name="adj" fmla="val 9677"/>
            </a:avLst>
          </a:prstGeom>
          <a:solidFill>
            <a:srgbClr val="1E293B"/>
          </a:solidFill>
          <a:ln w="12700">
            <a:solidFill>
              <a:srgbClr val="334155"/>
            </a:solidFill>
            <a:prstDash val="solid"/>
          </a:ln>
        </p:spPr>
        <p:txBody>
          <a:bodyPr/>
          <a:p/>
        </p:txBody>
      </p:sp>
      <p:sp>
        <p:nvSpPr>
          <p:cNvPr id="27" name="Text 25"/>
          <p:cNvSpPr txBox="1"/>
          <p:nvPr/>
        </p:nvSpPr>
        <p:spPr>
          <a:xfrm>
            <a:off x="8915400" y="324612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notifications</a:t>
            </a:r>
            <a:endParaRPr lang="en-US" sz="1150" dirty="0"/>
          </a:p>
        </p:txBody>
      </p:sp>
      <p:sp>
        <p:nvSpPr>
          <p:cNvPr id="28" name="Shape 26"/>
          <p:cNvSpPr/>
          <p:nvPr/>
        </p:nvSpPr>
        <p:spPr>
          <a:xfrm>
            <a:off x="548640" y="3977640"/>
            <a:ext cx="2606040" cy="566928"/>
          </a:xfrm>
          <a:prstGeom prst="roundRect">
            <a:avLst>
              <a:gd name="adj" fmla="val 9677"/>
            </a:avLst>
          </a:prstGeom>
          <a:solidFill>
            <a:srgbClr val="1E293B"/>
          </a:solidFill>
          <a:ln w="12700">
            <a:solidFill>
              <a:srgbClr val="334155"/>
            </a:solidFill>
            <a:prstDash val="solid"/>
          </a:ln>
        </p:spPr>
        <p:txBody>
          <a:bodyPr/>
          <a:p/>
        </p:txBody>
      </p:sp>
      <p:sp>
        <p:nvSpPr>
          <p:cNvPr id="29" name="Text 27"/>
          <p:cNvSpPr txBox="1"/>
          <p:nvPr/>
        </p:nvSpPr>
        <p:spPr>
          <a:xfrm>
            <a:off x="548640" y="3977640"/>
            <a:ext cx="260604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Courier New" pitchFamily="34" charset="0"/>
                <a:ea typeface="Courier New" pitchFamily="34" charset="-122"/>
                <a:cs typeface="Courier New" pitchFamily="34" charset="-120"/>
              </a:rPr>
              <a:t>audit_logs</a:t>
            </a:r>
            <a:endParaRPr lang="en-US" sz="1150" dirty="0"/>
          </a:p>
        </p:txBody>
      </p:sp>
      <p:sp>
        <p:nvSpPr>
          <p:cNvPr id="30" name="Shape 28"/>
          <p:cNvSpPr/>
          <p:nvPr/>
        </p:nvSpPr>
        <p:spPr>
          <a:xfrm>
            <a:off x="548640" y="5074920"/>
            <a:ext cx="11064240" cy="1234440"/>
          </a:xfrm>
          <a:prstGeom prst="roundRect">
            <a:avLst>
              <a:gd name="adj" fmla="val 7407"/>
            </a:avLst>
          </a:prstGeom>
          <a:solidFill>
            <a:srgbClr val="1E293B"/>
          </a:solidFill>
          <a:ln/>
        </p:spPr>
        <p:txBody>
          <a:bodyPr/>
          <a:p/>
        </p:txBody>
      </p:sp>
      <p:sp>
        <p:nvSpPr>
          <p:cNvPr id="31" name="Text 29"/>
          <p:cNvSpPr txBox="1"/>
          <p:nvPr/>
        </p:nvSpPr>
        <p:spPr>
          <a:xfrm>
            <a:off x="822960" y="5193792"/>
            <a:ext cx="105156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Design decisions carried through to the build</a:t>
            </a:r>
            <a:endParaRPr lang="en-US" sz="1250" dirty="0"/>
          </a:p>
        </p:txBody>
      </p:sp>
      <p:sp>
        <p:nvSpPr>
          <p:cNvPr id="32" name="Text 30"/>
          <p:cNvSpPr txBox="1"/>
          <p:nvPr/>
        </p:nvSpPr>
        <p:spPr>
          <a:xfrm>
            <a:off x="822960" y="5486400"/>
            <a:ext cx="10515600" cy="731520"/>
          </a:xfrm>
          <a:prstGeom prst="rect">
            <a:avLst/>
          </a:prstGeom>
          <a:noFill/>
          <a:ln/>
        </p:spPr>
        <p:txBody>
          <a:bodyPr wrap="square" lIns="0" tIns="0" rIns="0" bIns="0" rtlCol="0" anchor="ctr"/>
          <a:lstStyle/>
          <a:p>
            <a:pPr indent="0" marL="0">
              <a:lnSpc>
                <a:spcPct val="130000"/>
              </a:lnSpc>
              <a:buNone/>
            </a:pPr>
            <a:r>
              <a:rPr lang="en-US" sz="1150" dirty="0">
                <a:solidFill>
                  <a:srgbClr val="CADCFC"/>
                </a:solidFill>
                <a:latin typeface="Calibri" pitchFamily="34" charset="0"/>
                <a:ea typeface="Calibri" pitchFamily="34" charset="-122"/>
                <a:cs typeface="Calibri" pitchFamily="34" charset="-120"/>
              </a:rPr>
              <a:t>UUID primary keys (identical schema on SQLite and PostgreSQL)   •   Naive UTC datetimes   •   Soft-status fields, never physical deletes   •   Immutable payments   •   JSON audit diffs</a:t>
            </a:r>
            <a:endParaRPr lang="en-US" sz="1150" dirty="0"/>
          </a:p>
        </p:txBody>
      </p:sp>
      <p:sp>
        <p:nvSpPr>
          <p:cNvPr id="33" name="Text 3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System Design (IT401 D2)</a:t>
            </a:r>
            <a:endParaRPr lang="en-US" sz="1000" dirty="0"/>
          </a:p>
        </p:txBody>
      </p:sp>
      <p:sp>
        <p:nvSpPr>
          <p:cNvPr id="34" name="Text 3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5 / 19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59436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Architecture</a:t>
            </a:r>
            <a:endParaRPr lang="en-US" sz="3200" dirty="0"/>
          </a:p>
        </p:txBody>
      </p:sp>
      <p:sp>
        <p:nvSpPr>
          <p:cNvPr id="3" name="Text 1"/>
          <p:cNvSpPr txBox="1"/>
          <p:nvPr/>
        </p:nvSpPr>
        <p:spPr>
          <a:xfrm>
            <a:off x="548640" y="1005840"/>
            <a:ext cx="10058400" cy="36576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A layered Flask application — five layers, each with a single responsibility.</a:t>
            </a:r>
            <a:endParaRPr lang="en-US" sz="1400" dirty="0"/>
          </a:p>
        </p:txBody>
      </p:sp>
      <p:sp>
        <p:nvSpPr>
          <p:cNvPr id="4" name="Shape 2"/>
          <p:cNvSpPr/>
          <p:nvPr/>
        </p:nvSpPr>
        <p:spPr>
          <a:xfrm>
            <a:off x="548640" y="1600200"/>
            <a:ext cx="11064240" cy="731520"/>
          </a:xfrm>
          <a:prstGeom prst="roundRect">
            <a:avLst>
              <a:gd name="adj" fmla="val 10000"/>
            </a:avLst>
          </a:prstGeom>
          <a:solidFill>
            <a:srgbClr val="2563EB"/>
          </a:solidFill>
          <a:ln/>
        </p:spPr>
        <p:txBody>
          <a:bodyPr/>
          <a:p/>
        </p:txBody>
      </p:sp>
      <p:sp>
        <p:nvSpPr>
          <p:cNvPr id="5" name="Text 3"/>
          <p:cNvSpPr txBox="1"/>
          <p:nvPr/>
        </p:nvSpPr>
        <p:spPr>
          <a:xfrm>
            <a:off x="822960" y="160020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PRESENTATION</a:t>
            </a:r>
            <a:endParaRPr lang="en-US" sz="1400" dirty="0"/>
          </a:p>
        </p:txBody>
      </p:sp>
      <p:sp>
        <p:nvSpPr>
          <p:cNvPr id="6" name="Text 4"/>
          <p:cNvSpPr txBox="1"/>
          <p:nvPr/>
        </p:nvSpPr>
        <p:spPr>
          <a:xfrm>
            <a:off x="3291840" y="160020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40 Jinja2 templates, role-aware top navigation, English/Shona/Arabic menu</a:t>
            </a:r>
            <a:endParaRPr lang="en-US" sz="1150" dirty="0"/>
          </a:p>
        </p:txBody>
      </p:sp>
      <p:sp>
        <p:nvSpPr>
          <p:cNvPr id="7" name="Shape 5"/>
          <p:cNvSpPr/>
          <p:nvPr/>
        </p:nvSpPr>
        <p:spPr>
          <a:xfrm>
            <a:off x="548640" y="2468880"/>
            <a:ext cx="11064240" cy="731520"/>
          </a:xfrm>
          <a:prstGeom prst="roundRect">
            <a:avLst>
              <a:gd name="adj" fmla="val 10000"/>
            </a:avLst>
          </a:prstGeom>
          <a:solidFill>
            <a:srgbClr val="16A34A"/>
          </a:solidFill>
          <a:ln/>
        </p:spPr>
        <p:txBody>
          <a:bodyPr/>
          <a:p/>
        </p:txBody>
      </p:sp>
      <p:sp>
        <p:nvSpPr>
          <p:cNvPr id="8" name="Text 6"/>
          <p:cNvSpPr txBox="1"/>
          <p:nvPr/>
        </p:nvSpPr>
        <p:spPr>
          <a:xfrm>
            <a:off x="822960" y="246888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APPLICATION</a:t>
            </a:r>
            <a:endParaRPr lang="en-US" sz="1400" dirty="0"/>
          </a:p>
        </p:txBody>
      </p:sp>
      <p:sp>
        <p:nvSpPr>
          <p:cNvPr id="9" name="Text 7"/>
          <p:cNvSpPr txBox="1"/>
          <p:nvPr/>
        </p:nvSpPr>
        <p:spPr>
          <a:xfrm>
            <a:off x="3291840" y="246888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10 Blueprints — auth, dashboard, properties, tenants, rent, maintenance, admin, reports, portal, api</a:t>
            </a:r>
            <a:endParaRPr lang="en-US" sz="1150" dirty="0"/>
          </a:p>
        </p:txBody>
      </p:sp>
      <p:sp>
        <p:nvSpPr>
          <p:cNvPr id="10" name="Shape 8"/>
          <p:cNvSpPr/>
          <p:nvPr/>
        </p:nvSpPr>
        <p:spPr>
          <a:xfrm>
            <a:off x="548640" y="3337560"/>
            <a:ext cx="11064240" cy="731520"/>
          </a:xfrm>
          <a:prstGeom prst="roundRect">
            <a:avLst>
              <a:gd name="adj" fmla="val 10000"/>
            </a:avLst>
          </a:prstGeom>
          <a:solidFill>
            <a:srgbClr val="7C3AED"/>
          </a:solidFill>
          <a:ln/>
        </p:spPr>
        <p:txBody>
          <a:bodyPr/>
          <a:p/>
        </p:txBody>
      </p:sp>
      <p:sp>
        <p:nvSpPr>
          <p:cNvPr id="11" name="Text 9"/>
          <p:cNvSpPr txBox="1"/>
          <p:nvPr/>
        </p:nvSpPr>
        <p:spPr>
          <a:xfrm>
            <a:off x="822960" y="333756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DOMAIN / SERVICE</a:t>
            </a:r>
            <a:endParaRPr lang="en-US" sz="1400" dirty="0"/>
          </a:p>
        </p:txBody>
      </p:sp>
      <p:sp>
        <p:nvSpPr>
          <p:cNvPr id="12" name="Text 10"/>
          <p:cNvSpPr txBox="1"/>
          <p:nvPr/>
        </p:nvSpPr>
        <p:spPr>
          <a:xfrm>
            <a:off x="3291840" y="333756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security.py (RBAC, IDOR), web_security.py (headers, secret key), i18n.py (English/Shona/Arabic), scheduler_jobs.py, services/ (pdf, excel, notifications, payments, storage)</a:t>
            </a:r>
            <a:endParaRPr lang="en-US" sz="1150" dirty="0"/>
          </a:p>
        </p:txBody>
      </p:sp>
      <p:sp>
        <p:nvSpPr>
          <p:cNvPr id="13" name="Shape 11"/>
          <p:cNvSpPr/>
          <p:nvPr/>
        </p:nvSpPr>
        <p:spPr>
          <a:xfrm>
            <a:off x="548640" y="4206240"/>
            <a:ext cx="11064240" cy="731520"/>
          </a:xfrm>
          <a:prstGeom prst="roundRect">
            <a:avLst>
              <a:gd name="adj" fmla="val 10000"/>
            </a:avLst>
          </a:prstGeom>
          <a:solidFill>
            <a:srgbClr val="0F172A"/>
          </a:solidFill>
          <a:ln/>
        </p:spPr>
        <p:txBody>
          <a:bodyPr/>
          <a:p/>
        </p:txBody>
      </p:sp>
      <p:sp>
        <p:nvSpPr>
          <p:cNvPr id="14" name="Text 12"/>
          <p:cNvSpPr txBox="1"/>
          <p:nvPr/>
        </p:nvSpPr>
        <p:spPr>
          <a:xfrm>
            <a:off x="822960" y="420624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DATA</a:t>
            </a:r>
            <a:endParaRPr lang="en-US" sz="1400" dirty="0"/>
          </a:p>
        </p:txBody>
      </p:sp>
      <p:sp>
        <p:nvSpPr>
          <p:cNvPr id="15" name="Text 13"/>
          <p:cNvSpPr txBox="1"/>
          <p:nvPr/>
        </p:nvSpPr>
        <p:spPr>
          <a:xfrm>
            <a:off x="3291840" y="420624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18 SQLAlchemy models (13 designed + 5 billing), UUID keys, schema managed by Alembic migrations</a:t>
            </a:r>
            <a:endParaRPr lang="en-US" sz="1150" dirty="0"/>
          </a:p>
        </p:txBody>
      </p:sp>
      <p:sp>
        <p:nvSpPr>
          <p:cNvPr id="16" name="Shape 14"/>
          <p:cNvSpPr/>
          <p:nvPr/>
        </p:nvSpPr>
        <p:spPr>
          <a:xfrm>
            <a:off x="548640" y="5074920"/>
            <a:ext cx="11064240" cy="731520"/>
          </a:xfrm>
          <a:prstGeom prst="roundRect">
            <a:avLst>
              <a:gd name="adj" fmla="val 10000"/>
            </a:avLst>
          </a:prstGeom>
          <a:solidFill>
            <a:srgbClr val="D97706"/>
          </a:solidFill>
          <a:ln/>
        </p:spPr>
        <p:txBody>
          <a:bodyPr/>
          <a:p/>
        </p:txBody>
      </p:sp>
      <p:sp>
        <p:nvSpPr>
          <p:cNvPr id="17" name="Text 15"/>
          <p:cNvSpPr txBox="1"/>
          <p:nvPr/>
        </p:nvSpPr>
        <p:spPr>
          <a:xfrm>
            <a:off x="822960" y="5074920"/>
            <a:ext cx="2377440" cy="7315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INFRASTRUCTURE</a:t>
            </a:r>
            <a:endParaRPr lang="en-US" sz="1400" dirty="0"/>
          </a:p>
        </p:txBody>
      </p:sp>
      <p:sp>
        <p:nvSpPr>
          <p:cNvPr id="18" name="Text 16"/>
          <p:cNvSpPr txBox="1"/>
          <p:nvPr/>
        </p:nvSpPr>
        <p:spPr>
          <a:xfrm>
            <a:off x="3291840" y="5074920"/>
            <a:ext cx="8138160" cy="7315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PostgreSQL/SQLite · Redis · Docker Compose · local or S3-compatible file storage · dev-mode fallback for SendGrid/Twilio/Stripe</a:t>
            </a:r>
            <a:endParaRPr lang="en-US" sz="1150" dirty="0"/>
          </a:p>
        </p:txBody>
      </p:sp>
      <p:sp>
        <p:nvSpPr>
          <p:cNvPr id="19" name="Text 17"/>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Architecture</a:t>
            </a:r>
            <a:endParaRPr lang="en-US" sz="1000" dirty="0"/>
          </a:p>
        </p:txBody>
      </p:sp>
      <p:sp>
        <p:nvSpPr>
          <p:cNvPr id="20" name="Text 18"/>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Key Features by Role</a:t>
            </a:r>
            <a:endParaRPr lang="en-US" sz="3200" dirty="0"/>
          </a:p>
        </p:txBody>
      </p:sp>
      <p:sp>
        <p:nvSpPr>
          <p:cNvPr id="3" name="Shape 1"/>
          <p:cNvSpPr/>
          <p:nvPr/>
        </p:nvSpPr>
        <p:spPr>
          <a:xfrm>
            <a:off x="548640" y="1371600"/>
            <a:ext cx="2121408" cy="4480560"/>
          </a:xfrm>
          <a:prstGeom prst="roundRect">
            <a:avLst>
              <a:gd name="adj" fmla="val 4310"/>
            </a:avLst>
          </a:prstGeom>
          <a:solidFill>
            <a:srgbClr val="F1F5F9"/>
          </a:solidFill>
          <a:ln/>
        </p:spPr>
        <p:txBody>
          <a:bodyPr/>
          <a:p/>
        </p:txBody>
      </p:sp>
      <p:sp>
        <p:nvSpPr>
          <p:cNvPr id="4" name="Shape 2"/>
          <p:cNvSpPr/>
          <p:nvPr/>
        </p:nvSpPr>
        <p:spPr>
          <a:xfrm>
            <a:off x="548640" y="1371600"/>
            <a:ext cx="2121408" cy="777240"/>
          </a:xfrm>
          <a:prstGeom prst="roundRect">
            <a:avLst>
              <a:gd name="adj" fmla="val 11765"/>
            </a:avLst>
          </a:prstGeom>
          <a:solidFill>
            <a:srgbClr val="2563EB"/>
          </a:solidFill>
          <a:ln/>
        </p:spPr>
        <p:txBody>
          <a:bodyPr/>
          <a:p/>
        </p:txBody>
      </p:sp>
      <p:sp>
        <p:nvSpPr>
          <p:cNvPr id="5" name="Shape 3"/>
          <p:cNvSpPr/>
          <p:nvPr/>
        </p:nvSpPr>
        <p:spPr>
          <a:xfrm>
            <a:off x="548640" y="1755648"/>
            <a:ext cx="2121408" cy="393192"/>
          </a:xfrm>
          <a:prstGeom prst="rect">
            <a:avLst/>
          </a:prstGeom>
          <a:solidFill>
            <a:srgbClr val="2563EB"/>
          </a:solidFill>
          <a:ln/>
        </p:spPr>
        <p:txBody>
          <a:bodyPr/>
          <a:p/>
        </p:txBody>
      </p:sp>
      <p:sp>
        <p:nvSpPr>
          <p:cNvPr id="6" name="Text 4"/>
          <p:cNvSpPr txBox="1"/>
          <p:nvPr/>
        </p:nvSpPr>
        <p:spPr>
          <a:xfrm>
            <a:off x="548640"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Owner</a:t>
            </a:r>
            <a:endParaRPr lang="en-US" sz="1700" dirty="0"/>
          </a:p>
        </p:txBody>
      </p:sp>
      <p:sp>
        <p:nvSpPr>
          <p:cNvPr id="7" name="Text 5"/>
          <p:cNvSpPr txBox="1"/>
          <p:nvPr/>
        </p:nvSpPr>
        <p:spPr>
          <a:xfrm>
            <a:off x="713232"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Create &amp; edit properties/units</a:t>
            </a:r>
            <a:endParaRPr lang="en-US" sz="1100" dirty="0"/>
          </a:p>
        </p:txBody>
      </p:sp>
      <p:sp>
        <p:nvSpPr>
          <p:cNvPr id="8" name="Text 6"/>
          <p:cNvSpPr txBox="1"/>
          <p:nvPr/>
        </p:nvSpPr>
        <p:spPr>
          <a:xfrm>
            <a:off x="713232"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Configure late fees</a:t>
            </a:r>
            <a:endParaRPr lang="en-US" sz="1100" dirty="0"/>
          </a:p>
        </p:txBody>
      </p:sp>
      <p:sp>
        <p:nvSpPr>
          <p:cNvPr id="9" name="Text 7"/>
          <p:cNvSpPr txBox="1"/>
          <p:nvPr/>
        </p:nvSpPr>
        <p:spPr>
          <a:xfrm>
            <a:off x="713232"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Full portfolio reports</a:t>
            </a:r>
            <a:endParaRPr lang="en-US" sz="1100" dirty="0"/>
          </a:p>
        </p:txBody>
      </p:sp>
      <p:sp>
        <p:nvSpPr>
          <p:cNvPr id="10" name="Shape 8"/>
          <p:cNvSpPr/>
          <p:nvPr/>
        </p:nvSpPr>
        <p:spPr>
          <a:xfrm>
            <a:off x="2807208" y="1371600"/>
            <a:ext cx="2121408" cy="4480560"/>
          </a:xfrm>
          <a:prstGeom prst="roundRect">
            <a:avLst>
              <a:gd name="adj" fmla="val 4310"/>
            </a:avLst>
          </a:prstGeom>
          <a:solidFill>
            <a:srgbClr val="F1F5F9"/>
          </a:solidFill>
          <a:ln/>
        </p:spPr>
        <p:txBody>
          <a:bodyPr/>
          <a:p/>
        </p:txBody>
      </p:sp>
      <p:sp>
        <p:nvSpPr>
          <p:cNvPr id="11" name="Shape 9"/>
          <p:cNvSpPr/>
          <p:nvPr/>
        </p:nvSpPr>
        <p:spPr>
          <a:xfrm>
            <a:off x="2807208" y="1371600"/>
            <a:ext cx="2121408" cy="777240"/>
          </a:xfrm>
          <a:prstGeom prst="roundRect">
            <a:avLst>
              <a:gd name="adj" fmla="val 11765"/>
            </a:avLst>
          </a:prstGeom>
          <a:solidFill>
            <a:srgbClr val="16A34A"/>
          </a:solidFill>
          <a:ln/>
        </p:spPr>
        <p:txBody>
          <a:bodyPr/>
          <a:p/>
        </p:txBody>
      </p:sp>
      <p:sp>
        <p:nvSpPr>
          <p:cNvPr id="12" name="Shape 10"/>
          <p:cNvSpPr/>
          <p:nvPr/>
        </p:nvSpPr>
        <p:spPr>
          <a:xfrm>
            <a:off x="2807208" y="1755648"/>
            <a:ext cx="2121408" cy="393192"/>
          </a:xfrm>
          <a:prstGeom prst="rect">
            <a:avLst/>
          </a:prstGeom>
          <a:solidFill>
            <a:srgbClr val="16A34A"/>
          </a:solidFill>
          <a:ln/>
        </p:spPr>
        <p:txBody>
          <a:bodyPr/>
          <a:p/>
        </p:txBody>
      </p:sp>
      <p:sp>
        <p:nvSpPr>
          <p:cNvPr id="13" name="Text 11"/>
          <p:cNvSpPr txBox="1"/>
          <p:nvPr/>
        </p:nvSpPr>
        <p:spPr>
          <a:xfrm>
            <a:off x="2807208"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Manager</a:t>
            </a:r>
            <a:endParaRPr lang="en-US" sz="1700" dirty="0"/>
          </a:p>
        </p:txBody>
      </p:sp>
      <p:sp>
        <p:nvSpPr>
          <p:cNvPr id="14" name="Text 12"/>
          <p:cNvSpPr txBox="1"/>
          <p:nvPr/>
        </p:nvSpPr>
        <p:spPr>
          <a:xfrm>
            <a:off x="2971800"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Manage assigned properties</a:t>
            </a:r>
            <a:endParaRPr lang="en-US" sz="1100" dirty="0"/>
          </a:p>
        </p:txBody>
      </p:sp>
      <p:sp>
        <p:nvSpPr>
          <p:cNvPr id="15" name="Text 13"/>
          <p:cNvSpPr txBox="1"/>
          <p:nvPr/>
        </p:nvSpPr>
        <p:spPr>
          <a:xfrm>
            <a:off x="2971800"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Onboard &amp; blacklist tenants</a:t>
            </a:r>
            <a:endParaRPr lang="en-US" sz="1100" dirty="0"/>
          </a:p>
        </p:txBody>
      </p:sp>
      <p:sp>
        <p:nvSpPr>
          <p:cNvPr id="16" name="Text 14"/>
          <p:cNvSpPr txBox="1"/>
          <p:nvPr/>
        </p:nvSpPr>
        <p:spPr>
          <a:xfrm>
            <a:off x="2971800"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Assign maintenance work</a:t>
            </a:r>
            <a:endParaRPr lang="en-US" sz="1100" dirty="0"/>
          </a:p>
        </p:txBody>
      </p:sp>
      <p:sp>
        <p:nvSpPr>
          <p:cNvPr id="17" name="Shape 15"/>
          <p:cNvSpPr/>
          <p:nvPr/>
        </p:nvSpPr>
        <p:spPr>
          <a:xfrm>
            <a:off x="5065776" y="1371600"/>
            <a:ext cx="2121408" cy="4480560"/>
          </a:xfrm>
          <a:prstGeom prst="roundRect">
            <a:avLst>
              <a:gd name="adj" fmla="val 4310"/>
            </a:avLst>
          </a:prstGeom>
          <a:solidFill>
            <a:srgbClr val="F1F5F9"/>
          </a:solidFill>
          <a:ln/>
        </p:spPr>
        <p:txBody>
          <a:bodyPr/>
          <a:p/>
        </p:txBody>
      </p:sp>
      <p:sp>
        <p:nvSpPr>
          <p:cNvPr id="18" name="Shape 16"/>
          <p:cNvSpPr/>
          <p:nvPr/>
        </p:nvSpPr>
        <p:spPr>
          <a:xfrm>
            <a:off x="5065776" y="1371600"/>
            <a:ext cx="2121408" cy="777240"/>
          </a:xfrm>
          <a:prstGeom prst="roundRect">
            <a:avLst>
              <a:gd name="adj" fmla="val 11765"/>
            </a:avLst>
          </a:prstGeom>
          <a:solidFill>
            <a:srgbClr val="7C3AED"/>
          </a:solidFill>
          <a:ln/>
        </p:spPr>
        <p:txBody>
          <a:bodyPr/>
          <a:p/>
        </p:txBody>
      </p:sp>
      <p:sp>
        <p:nvSpPr>
          <p:cNvPr id="19" name="Shape 17"/>
          <p:cNvSpPr/>
          <p:nvPr/>
        </p:nvSpPr>
        <p:spPr>
          <a:xfrm>
            <a:off x="5065776" y="1755648"/>
            <a:ext cx="2121408" cy="393192"/>
          </a:xfrm>
          <a:prstGeom prst="rect">
            <a:avLst/>
          </a:prstGeom>
          <a:solidFill>
            <a:srgbClr val="7C3AED"/>
          </a:solidFill>
          <a:ln/>
        </p:spPr>
        <p:txBody>
          <a:bodyPr/>
          <a:p/>
        </p:txBody>
      </p:sp>
      <p:sp>
        <p:nvSpPr>
          <p:cNvPr id="20" name="Text 18"/>
          <p:cNvSpPr txBox="1"/>
          <p:nvPr/>
        </p:nvSpPr>
        <p:spPr>
          <a:xfrm>
            <a:off x="5065776"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Tenant</a:t>
            </a:r>
            <a:endParaRPr lang="en-US" sz="1700" dirty="0"/>
          </a:p>
        </p:txBody>
      </p:sp>
      <p:sp>
        <p:nvSpPr>
          <p:cNvPr id="21" name="Text 19"/>
          <p:cNvSpPr txBox="1"/>
          <p:nvPr/>
        </p:nvSpPr>
        <p:spPr>
          <a:xfrm>
            <a:off x="5230368"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Self-service portal</a:t>
            </a:r>
            <a:endParaRPr lang="en-US" sz="1100" dirty="0"/>
          </a:p>
        </p:txBody>
      </p:sp>
      <p:sp>
        <p:nvSpPr>
          <p:cNvPr id="22" name="Text 20"/>
          <p:cNvSpPr txBox="1"/>
          <p:nvPr/>
        </p:nvSpPr>
        <p:spPr>
          <a:xfrm>
            <a:off x="5230368"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Pay rent online</a:t>
            </a:r>
            <a:endParaRPr lang="en-US" sz="1100" dirty="0"/>
          </a:p>
        </p:txBody>
      </p:sp>
      <p:sp>
        <p:nvSpPr>
          <p:cNvPr id="23" name="Text 21"/>
          <p:cNvSpPr txBox="1"/>
          <p:nvPr/>
        </p:nvSpPr>
        <p:spPr>
          <a:xfrm>
            <a:off x="5230368"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Submit requests with photos</a:t>
            </a:r>
            <a:endParaRPr lang="en-US" sz="1100" dirty="0"/>
          </a:p>
        </p:txBody>
      </p:sp>
      <p:sp>
        <p:nvSpPr>
          <p:cNvPr id="24" name="Shape 22"/>
          <p:cNvSpPr/>
          <p:nvPr/>
        </p:nvSpPr>
        <p:spPr>
          <a:xfrm>
            <a:off x="7324344" y="1371600"/>
            <a:ext cx="2121408" cy="4480560"/>
          </a:xfrm>
          <a:prstGeom prst="roundRect">
            <a:avLst>
              <a:gd name="adj" fmla="val 4310"/>
            </a:avLst>
          </a:prstGeom>
          <a:solidFill>
            <a:srgbClr val="F1F5F9"/>
          </a:solidFill>
          <a:ln/>
        </p:spPr>
        <p:txBody>
          <a:bodyPr/>
          <a:p/>
        </p:txBody>
      </p:sp>
      <p:sp>
        <p:nvSpPr>
          <p:cNvPr id="25" name="Shape 23"/>
          <p:cNvSpPr/>
          <p:nvPr/>
        </p:nvSpPr>
        <p:spPr>
          <a:xfrm>
            <a:off x="7324344" y="1371600"/>
            <a:ext cx="2121408" cy="777240"/>
          </a:xfrm>
          <a:prstGeom prst="roundRect">
            <a:avLst>
              <a:gd name="adj" fmla="val 11765"/>
            </a:avLst>
          </a:prstGeom>
          <a:solidFill>
            <a:srgbClr val="D97706"/>
          </a:solidFill>
          <a:ln/>
        </p:spPr>
        <p:txBody>
          <a:bodyPr/>
          <a:p/>
        </p:txBody>
      </p:sp>
      <p:sp>
        <p:nvSpPr>
          <p:cNvPr id="26" name="Shape 24"/>
          <p:cNvSpPr/>
          <p:nvPr/>
        </p:nvSpPr>
        <p:spPr>
          <a:xfrm>
            <a:off x="7324344" y="1755648"/>
            <a:ext cx="2121408" cy="393192"/>
          </a:xfrm>
          <a:prstGeom prst="rect">
            <a:avLst/>
          </a:prstGeom>
          <a:solidFill>
            <a:srgbClr val="D97706"/>
          </a:solidFill>
          <a:ln/>
        </p:spPr>
        <p:txBody>
          <a:bodyPr/>
          <a:p/>
        </p:txBody>
      </p:sp>
      <p:sp>
        <p:nvSpPr>
          <p:cNvPr id="27" name="Text 25"/>
          <p:cNvSpPr txBox="1"/>
          <p:nvPr/>
        </p:nvSpPr>
        <p:spPr>
          <a:xfrm>
            <a:off x="7324344"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Staff</a:t>
            </a:r>
            <a:endParaRPr lang="en-US" sz="1700" dirty="0"/>
          </a:p>
        </p:txBody>
      </p:sp>
      <p:sp>
        <p:nvSpPr>
          <p:cNvPr id="28" name="Text 26"/>
          <p:cNvSpPr txBox="1"/>
          <p:nvPr/>
        </p:nvSpPr>
        <p:spPr>
          <a:xfrm>
            <a:off x="7488936"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Personal work queue only</a:t>
            </a:r>
            <a:endParaRPr lang="en-US" sz="1100" dirty="0"/>
          </a:p>
        </p:txBody>
      </p:sp>
      <p:sp>
        <p:nvSpPr>
          <p:cNvPr id="29" name="Text 27"/>
          <p:cNvSpPr txBox="1"/>
          <p:nvPr/>
        </p:nvSpPr>
        <p:spPr>
          <a:xfrm>
            <a:off x="7488936"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Update ticket status</a:t>
            </a:r>
            <a:endParaRPr lang="en-US" sz="1100" dirty="0"/>
          </a:p>
        </p:txBody>
      </p:sp>
      <p:sp>
        <p:nvSpPr>
          <p:cNvPr id="30" name="Text 28"/>
          <p:cNvSpPr txBox="1"/>
          <p:nvPr/>
        </p:nvSpPr>
        <p:spPr>
          <a:xfrm>
            <a:off x="7488936"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Attach completion photos</a:t>
            </a:r>
            <a:endParaRPr lang="en-US" sz="1100" dirty="0"/>
          </a:p>
        </p:txBody>
      </p:sp>
      <p:sp>
        <p:nvSpPr>
          <p:cNvPr id="31" name="Shape 29"/>
          <p:cNvSpPr/>
          <p:nvPr/>
        </p:nvSpPr>
        <p:spPr>
          <a:xfrm>
            <a:off x="9582912" y="1371600"/>
            <a:ext cx="2121408" cy="4480560"/>
          </a:xfrm>
          <a:prstGeom prst="roundRect">
            <a:avLst>
              <a:gd name="adj" fmla="val 4310"/>
            </a:avLst>
          </a:prstGeom>
          <a:solidFill>
            <a:srgbClr val="F1F5F9"/>
          </a:solidFill>
          <a:ln/>
        </p:spPr>
        <p:txBody>
          <a:bodyPr/>
          <a:p/>
        </p:txBody>
      </p:sp>
      <p:sp>
        <p:nvSpPr>
          <p:cNvPr id="32" name="Shape 30"/>
          <p:cNvSpPr/>
          <p:nvPr/>
        </p:nvSpPr>
        <p:spPr>
          <a:xfrm>
            <a:off x="9582912" y="1371600"/>
            <a:ext cx="2121408" cy="777240"/>
          </a:xfrm>
          <a:prstGeom prst="roundRect">
            <a:avLst>
              <a:gd name="adj" fmla="val 11765"/>
            </a:avLst>
          </a:prstGeom>
          <a:solidFill>
            <a:srgbClr val="DC2626"/>
          </a:solidFill>
          <a:ln/>
        </p:spPr>
        <p:txBody>
          <a:bodyPr/>
          <a:p/>
        </p:txBody>
      </p:sp>
      <p:sp>
        <p:nvSpPr>
          <p:cNvPr id="33" name="Shape 31"/>
          <p:cNvSpPr/>
          <p:nvPr/>
        </p:nvSpPr>
        <p:spPr>
          <a:xfrm>
            <a:off x="9582912" y="1755648"/>
            <a:ext cx="2121408" cy="393192"/>
          </a:xfrm>
          <a:prstGeom prst="rect">
            <a:avLst/>
          </a:prstGeom>
          <a:solidFill>
            <a:srgbClr val="DC2626"/>
          </a:solidFill>
          <a:ln/>
        </p:spPr>
        <p:txBody>
          <a:bodyPr/>
          <a:p/>
        </p:txBody>
      </p:sp>
      <p:sp>
        <p:nvSpPr>
          <p:cNvPr id="34" name="Text 32"/>
          <p:cNvSpPr txBox="1"/>
          <p:nvPr/>
        </p:nvSpPr>
        <p:spPr>
          <a:xfrm>
            <a:off x="9582912" y="1371600"/>
            <a:ext cx="2121408"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Admin</a:t>
            </a:r>
            <a:endParaRPr lang="en-US" sz="1700" dirty="0"/>
          </a:p>
        </p:txBody>
      </p:sp>
      <p:sp>
        <p:nvSpPr>
          <p:cNvPr id="35" name="Text 33"/>
          <p:cNvSpPr txBox="1"/>
          <p:nvPr/>
        </p:nvSpPr>
        <p:spPr>
          <a:xfrm>
            <a:off x="9747504" y="237744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User &amp; role management</a:t>
            </a:r>
            <a:endParaRPr lang="en-US" sz="1100" dirty="0"/>
          </a:p>
        </p:txBody>
      </p:sp>
      <p:sp>
        <p:nvSpPr>
          <p:cNvPr id="36" name="Text 34"/>
          <p:cNvSpPr txBox="1"/>
          <p:nvPr/>
        </p:nvSpPr>
        <p:spPr>
          <a:xfrm>
            <a:off x="9747504" y="333756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Create staff accounts</a:t>
            </a:r>
            <a:endParaRPr lang="en-US" sz="1100" dirty="0"/>
          </a:p>
        </p:txBody>
      </p:sp>
      <p:sp>
        <p:nvSpPr>
          <p:cNvPr id="37" name="Text 35"/>
          <p:cNvSpPr txBox="1"/>
          <p:nvPr/>
        </p:nvSpPr>
        <p:spPr>
          <a:xfrm>
            <a:off x="9747504" y="4297680"/>
            <a:ext cx="1792224" cy="82296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Full data visibility</a:t>
            </a:r>
            <a:endParaRPr lang="en-US" sz="1100" dirty="0"/>
          </a:p>
        </p:txBody>
      </p:sp>
      <p:sp>
        <p:nvSpPr>
          <p:cNvPr id="38" name="Text 36"/>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Features by Role</a:t>
            </a:r>
            <a:endParaRPr lang="en-US" sz="1000" dirty="0"/>
          </a:p>
        </p:txBody>
      </p:sp>
      <p:sp>
        <p:nvSpPr>
          <p:cNvPr id="39" name="Text 37"/>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7 / 19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IT402 Deliverable 2 — 100% Feature Completion</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Eleven gaps closed against the SRS after the IT401 Deliverable 3 prototype, grouped here into eight areas — every one covered by an automated test.</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txBody>
          <a:bodyPr/>
          <a:p/>
        </p:txBody>
      </p:sp>
      <p:sp>
        <p:nvSpPr>
          <p:cNvPr id="5" name="Shape 3"/>
          <p:cNvSpPr/>
          <p:nvPr/>
        </p:nvSpPr>
        <p:spPr>
          <a:xfrm>
            <a:off x="713232" y="1856232"/>
            <a:ext cx="365760" cy="365760"/>
          </a:xfrm>
          <a:prstGeom prst="ellipse">
            <a:avLst/>
          </a:prstGeom>
          <a:solidFill>
            <a:srgbClr val="16A34A"/>
          </a:solidFill>
          <a:ln/>
        </p:spPr>
        <p:txBody>
          <a:bodyPr/>
          <a:p/>
        </p:txBody>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Photo uploads</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Property (≤10), unit (≤5), and maintenance (≤3) photos — JPEG/PNG validated by magic bytes, not extension</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txBody>
          <a:bodyPr/>
          <a:p/>
        </p:txBody>
      </p:sp>
      <p:sp>
        <p:nvSpPr>
          <p:cNvPr id="10" name="Shape 8"/>
          <p:cNvSpPr/>
          <p:nvPr/>
        </p:nvSpPr>
        <p:spPr>
          <a:xfrm>
            <a:off x="6382512" y="1856232"/>
            <a:ext cx="365760" cy="365760"/>
          </a:xfrm>
          <a:prstGeom prst="ellipse">
            <a:avLst/>
          </a:prstGeom>
          <a:solidFill>
            <a:srgbClr val="16A34A"/>
          </a:solidFill>
          <a:ln/>
        </p:spPr>
        <p:txBody>
          <a:bodyPr/>
          <a:p/>
        </p:txBody>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Unit editing</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Edit a unit’s details and status after it is created — previously units could only be added</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txBody>
          <a:bodyPr/>
          <a:p/>
        </p:txBody>
      </p:sp>
      <p:sp>
        <p:nvSpPr>
          <p:cNvPr id="15" name="Shape 13"/>
          <p:cNvSpPr/>
          <p:nvPr/>
        </p:nvSpPr>
        <p:spPr>
          <a:xfrm>
            <a:off x="713232" y="3072384"/>
            <a:ext cx="365760" cy="365760"/>
          </a:xfrm>
          <a:prstGeom prst="ellipse">
            <a:avLst/>
          </a:prstGeom>
          <a:solidFill>
            <a:srgbClr val="16A34A"/>
          </a:solidFill>
          <a:ln/>
        </p:spPr>
        <p:txBody>
          <a:bodyPr/>
          <a:p/>
        </p:txBody>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Configurable late fees</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Fixed or percentage, applied automatically once rent is overdue</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txBody>
          <a:bodyPr/>
          <a:p/>
        </p:txBody>
      </p:sp>
      <p:sp>
        <p:nvSpPr>
          <p:cNvPr id="20" name="Shape 18"/>
          <p:cNvSpPr/>
          <p:nvPr/>
        </p:nvSpPr>
        <p:spPr>
          <a:xfrm>
            <a:off x="6382512" y="3072384"/>
            <a:ext cx="365760" cy="365760"/>
          </a:xfrm>
          <a:prstGeom prst="ellipse">
            <a:avLst/>
          </a:prstGeom>
          <a:solidFill>
            <a:srgbClr val="16A34A"/>
          </a:solidFill>
          <a:ln/>
        </p:spPr>
        <p:txBody>
          <a:bodyPr/>
          <a:p/>
        </p:txBody>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Tenant blacklisting</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Flag a tenant to block future leases without touching an existing one</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txBody>
          <a:bodyPr/>
          <a:p/>
        </p:txBody>
      </p:sp>
      <p:sp>
        <p:nvSpPr>
          <p:cNvPr id="25" name="Shape 23"/>
          <p:cNvSpPr/>
          <p:nvPr/>
        </p:nvSpPr>
        <p:spPr>
          <a:xfrm>
            <a:off x="713232" y="4288536"/>
            <a:ext cx="365760" cy="365760"/>
          </a:xfrm>
          <a:prstGeom prst="ellipse">
            <a:avLst/>
          </a:prstGeom>
          <a:solidFill>
            <a:srgbClr val="16A34A"/>
          </a:solidFill>
          <a:ln/>
        </p:spPr>
        <p:txBody>
          <a:bodyPr/>
          <a:p/>
        </p:txBody>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Tenant &amp; lease documents</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Upload a tenant’s ID; download a lease PDF as management or as the tenant</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txBody>
          <a:bodyPr/>
          <a:p/>
        </p:txBody>
      </p:sp>
      <p:sp>
        <p:nvSpPr>
          <p:cNvPr id="30" name="Shape 28"/>
          <p:cNvSpPr/>
          <p:nvPr/>
        </p:nvSpPr>
        <p:spPr>
          <a:xfrm>
            <a:off x="6382512" y="4288536"/>
            <a:ext cx="365760" cy="365760"/>
          </a:xfrm>
          <a:prstGeom prst="ellipse">
            <a:avLst/>
          </a:prstGeom>
          <a:solidFill>
            <a:srgbClr val="16A34A"/>
          </a:solidFill>
          <a:ln/>
        </p:spPr>
        <p:txBody>
          <a:bodyPr/>
          <a:p/>
        </p:txBody>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Admin user console</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Role &amp; status management with an “at least one active Owner” guard</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txBody>
          <a:bodyPr/>
          <a:p/>
        </p:txBody>
      </p:sp>
      <p:sp>
        <p:nvSpPr>
          <p:cNvPr id="35" name="Shape 33"/>
          <p:cNvSpPr/>
          <p:nvPr/>
        </p:nvSpPr>
        <p:spPr>
          <a:xfrm>
            <a:off x="713232" y="5504688"/>
            <a:ext cx="365760" cy="365760"/>
          </a:xfrm>
          <a:prstGeom prst="ellipse">
            <a:avLst/>
          </a:prstGeom>
          <a:solidFill>
            <a:srgbClr val="16A34A"/>
          </a:solidFill>
          <a:ln/>
        </p:spPr>
        <p:txBody>
          <a:bodyPr/>
          <a:p/>
        </p:txBody>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Staff self-service accounts</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Owner/Manager/Admin can create a Maintenance Staff login directly</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txBody>
          <a:bodyPr/>
          <a:p/>
        </p:txBody>
      </p:sp>
      <p:sp>
        <p:nvSpPr>
          <p:cNvPr id="40" name="Shape 38"/>
          <p:cNvSpPr/>
          <p:nvPr/>
        </p:nvSpPr>
        <p:spPr>
          <a:xfrm>
            <a:off x="6382512" y="5504688"/>
            <a:ext cx="365760" cy="365760"/>
          </a:xfrm>
          <a:prstGeom prst="ellipse">
            <a:avLst/>
          </a:prstGeom>
          <a:solidFill>
            <a:srgbClr val="16A34A"/>
          </a:solidFill>
          <a:ln/>
        </p:spPr>
        <p:txBody>
          <a:bodyPr/>
          <a:p/>
        </p:txBody>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CSV &amp; Excel exports</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lease’s payment history as CSV; a two-sheet .xlsx portfolio workbook</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IT402 Deliverable 2 Highlights</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8 /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Extended Scope — The Billing Engine</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Eight further billing capabilities going beyond the original SRS — 79 additional tests, all passing.</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txBody>
          <a:bodyPr/>
          <a:p/>
        </p:txBody>
      </p:sp>
      <p:sp>
        <p:nvSpPr>
          <p:cNvPr id="5" name="Shape 3"/>
          <p:cNvSpPr/>
          <p:nvPr/>
        </p:nvSpPr>
        <p:spPr>
          <a:xfrm>
            <a:off x="713232" y="1856232"/>
            <a:ext cx="365760" cy="365760"/>
          </a:xfrm>
          <a:prstGeom prst="ellipse">
            <a:avLst/>
          </a:prstGeom>
          <a:solidFill>
            <a:srgbClr val="16A34A"/>
          </a:solidFill>
          <a:ln/>
        </p:spPr>
        <p:txBody>
          <a:bodyPr/>
          <a:p/>
        </p:txBody>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Operational &amp; sundry charges</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One-off charges beyond rent — cleaning, call-outs — billed straight to the lease</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txBody>
          <a:bodyPr/>
          <a:p/>
        </p:txBody>
      </p:sp>
      <p:sp>
        <p:nvSpPr>
          <p:cNvPr id="10" name="Shape 8"/>
          <p:cNvSpPr/>
          <p:nvPr/>
        </p:nvSpPr>
        <p:spPr>
          <a:xfrm>
            <a:off x="6382512" y="1856232"/>
            <a:ext cx="365760" cy="365760"/>
          </a:xfrm>
          <a:prstGeom prst="ellipse">
            <a:avLst/>
          </a:prstGeom>
          <a:solidFill>
            <a:srgbClr val="16A34A"/>
          </a:solidFill>
          <a:ln/>
        </p:spPr>
        <p:txBody>
          <a:bodyPr/>
          <a:p/>
        </p:txBody>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Electricity metering</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per-property rate plus manual meter readings; consumption bills itself automatically</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txBody>
          <a:bodyPr/>
          <a:p/>
        </p:txBody>
      </p:sp>
      <p:sp>
        <p:nvSpPr>
          <p:cNvPr id="15" name="Shape 13"/>
          <p:cNvSpPr/>
          <p:nvPr/>
        </p:nvSpPr>
        <p:spPr>
          <a:xfrm>
            <a:off x="713232" y="3072384"/>
            <a:ext cx="365760" cy="365760"/>
          </a:xfrm>
          <a:prstGeom prst="ellipse">
            <a:avLst/>
          </a:prstGeom>
          <a:solidFill>
            <a:srgbClr val="16A34A"/>
          </a:solidFill>
          <a:ln/>
        </p:spPr>
        <p:txBody>
          <a:bodyPr/>
          <a:p/>
        </p:txBody>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 rata rent</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The first month prorates to a daily rate when a tenant moves in mid-month</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txBody>
          <a:bodyPr/>
          <a:p/>
        </p:txBody>
      </p:sp>
      <p:sp>
        <p:nvSpPr>
          <p:cNvPr id="20" name="Shape 18"/>
          <p:cNvSpPr/>
          <p:nvPr/>
        </p:nvSpPr>
        <p:spPr>
          <a:xfrm>
            <a:off x="6382512" y="3072384"/>
            <a:ext cx="365760" cy="365760"/>
          </a:xfrm>
          <a:prstGeom prst="ellipse">
            <a:avLst/>
          </a:prstGeom>
          <a:solidFill>
            <a:srgbClr val="16A34A"/>
          </a:solidFill>
          <a:ln/>
        </p:spPr>
        <p:txBody>
          <a:bodyPr/>
          <a:p/>
        </p:txBody>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Variable / escalating rent</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scheduled rent revision takes effect from a chosen date — past periods stay untouched</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txBody>
          <a:bodyPr/>
          <a:p/>
        </p:txBody>
      </p:sp>
      <p:sp>
        <p:nvSpPr>
          <p:cNvPr id="25" name="Shape 23"/>
          <p:cNvSpPr/>
          <p:nvPr/>
        </p:nvSpPr>
        <p:spPr>
          <a:xfrm>
            <a:off x="713232" y="4288536"/>
            <a:ext cx="365760" cy="365760"/>
          </a:xfrm>
          <a:prstGeom prst="ellipse">
            <a:avLst/>
          </a:prstGeom>
          <a:solidFill>
            <a:srgbClr val="16A34A"/>
          </a:solidFill>
          <a:ln/>
        </p:spPr>
        <p:txBody>
          <a:bodyPr/>
          <a:p/>
        </p:txBody>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Automated recurring billing</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daily scheduler job invoices every elapsed period exactly once, with a full paper trail</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txBody>
          <a:bodyPr/>
          <a:p/>
        </p:txBody>
      </p:sp>
      <p:sp>
        <p:nvSpPr>
          <p:cNvPr id="30" name="Shape 28"/>
          <p:cNvSpPr/>
          <p:nvPr/>
        </p:nvSpPr>
        <p:spPr>
          <a:xfrm>
            <a:off x="6382512" y="4288536"/>
            <a:ext cx="365760" cy="365760"/>
          </a:xfrm>
          <a:prstGeom prst="ellipse">
            <a:avLst/>
          </a:prstGeom>
          <a:solidFill>
            <a:srgbClr val="16A34A"/>
          </a:solidFill>
          <a:ln/>
        </p:spPr>
        <p:txBody>
          <a:bodyPr/>
          <a:p/>
        </p:txBody>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Account statements by period</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Opening balance, in-period activity, closing balance — plus full tenant self-service access</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txBody>
          <a:bodyPr/>
          <a:p/>
        </p:txBody>
      </p:sp>
      <p:sp>
        <p:nvSpPr>
          <p:cNvPr id="35" name="Shape 33"/>
          <p:cNvSpPr/>
          <p:nvPr/>
        </p:nvSpPr>
        <p:spPr>
          <a:xfrm>
            <a:off x="713232" y="5504688"/>
            <a:ext cx="365760" cy="365760"/>
          </a:xfrm>
          <a:prstGeom prst="ellipse">
            <a:avLst/>
          </a:prstGeom>
          <a:solidFill>
            <a:srgbClr val="16A34A"/>
          </a:solidFill>
          <a:ln/>
        </p:spPr>
        <p:txBody>
          <a:bodyPr/>
          <a:p/>
        </p:txBody>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receipts</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Every payment now has a real, downloadable PDF receipt, not just a receipt number</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txBody>
          <a:bodyPr/>
          <a:p/>
        </p:txBody>
      </p:sp>
      <p:sp>
        <p:nvSpPr>
          <p:cNvPr id="40" name="Shape 38"/>
          <p:cNvSpPr/>
          <p:nvPr/>
        </p:nvSpPr>
        <p:spPr>
          <a:xfrm>
            <a:off x="6382512" y="5504688"/>
            <a:ext cx="365760" cy="365760"/>
          </a:xfrm>
          <a:prstGeom prst="ellipse">
            <a:avLst/>
          </a:prstGeom>
          <a:solidFill>
            <a:srgbClr val="16A34A"/>
          </a:solidFill>
          <a:ln/>
        </p:spPr>
        <p:txBody>
          <a:bodyPr/>
          <a:p/>
        </p:txBody>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Property expenses &amp; net income</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Owner-side operating costs feed a true net income estimate, not just rent collected</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Extended Scope — Billing Engine</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9 / 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Extended Scope — Usability &amp; Localisation</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Built for Harare: a clearer interface, two more languages and realistic local data — 27 more tests, all passing.</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txBody>
          <a:bodyPr/>
          <a:p/>
        </p:txBody>
      </p:sp>
      <p:sp>
        <p:nvSpPr>
          <p:cNvPr id="5" name="Shape 3"/>
          <p:cNvSpPr/>
          <p:nvPr/>
        </p:nvSpPr>
        <p:spPr>
          <a:xfrm>
            <a:off x="713232" y="1856232"/>
            <a:ext cx="365760" cy="365760"/>
          </a:xfrm>
          <a:prstGeom prst="ellipse">
            <a:avLst/>
          </a:prstGeom>
          <a:solidFill>
            <a:srgbClr val="16A34A"/>
          </a:solidFill>
          <a:ln/>
        </p:spPr>
        <p:txBody>
          <a:bodyPr/>
          <a:p/>
        </p:txBody>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Property map</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Click-to-pin coordinates on every property, plus a portfolio map of all of them</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txBody>
          <a:bodyPr/>
          <a:p/>
        </p:txBody>
      </p:sp>
      <p:sp>
        <p:nvSpPr>
          <p:cNvPr id="10" name="Shape 8"/>
          <p:cNvSpPr/>
          <p:nvPr/>
        </p:nvSpPr>
        <p:spPr>
          <a:xfrm>
            <a:off x="6382512" y="1856232"/>
            <a:ext cx="365760" cy="365760"/>
          </a:xfrm>
          <a:prstGeom prst="ellipse">
            <a:avLst/>
          </a:prstGeom>
          <a:solidFill>
            <a:srgbClr val="16A34A"/>
          </a:solidFill>
          <a:ln/>
        </p:spPr>
        <p:txBody>
          <a:bodyPr/>
          <a:p/>
        </p:txBody>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Top-bar redesign</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The sidebar became a horizontal top bar with a soft blue-to-burgundy gradient</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txBody>
          <a:bodyPr/>
          <a:p/>
        </p:txBody>
      </p:sp>
      <p:sp>
        <p:nvSpPr>
          <p:cNvPr id="15" name="Shape 13"/>
          <p:cNvSpPr/>
          <p:nvPr/>
        </p:nvSpPr>
        <p:spPr>
          <a:xfrm>
            <a:off x="713232" y="3072384"/>
            <a:ext cx="365760" cy="365760"/>
          </a:xfrm>
          <a:prstGeom prst="ellipse">
            <a:avLst/>
          </a:prstGeom>
          <a:solidFill>
            <a:srgbClr val="16A34A"/>
          </a:solidFill>
          <a:ln/>
        </p:spPr>
        <p:txBody>
          <a:bodyPr/>
          <a:p/>
        </p:txBody>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Harare photography</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full-screen Harare skyline login, and a Harare photo behind each section of the app</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txBody>
          <a:bodyPr/>
          <a:p/>
        </p:txBody>
      </p:sp>
      <p:sp>
        <p:nvSpPr>
          <p:cNvPr id="20" name="Shape 18"/>
          <p:cNvSpPr/>
          <p:nvPr/>
        </p:nvSpPr>
        <p:spPr>
          <a:xfrm>
            <a:off x="6382512" y="3072384"/>
            <a:ext cx="365760" cy="365760"/>
          </a:xfrm>
          <a:prstGeom prst="ellipse">
            <a:avLst/>
          </a:prstGeom>
          <a:solidFill>
            <a:srgbClr val="16A34A"/>
          </a:solidFill>
          <a:ln/>
        </p:spPr>
        <p:txBody>
          <a:bodyPr/>
          <a:p/>
        </p:txBody>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English, Shona &amp; Arabic</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language menu in the top bar and on login; Arabic reads right to left; the choice is remembered</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txBody>
          <a:bodyPr/>
          <a:p/>
        </p:txBody>
      </p:sp>
      <p:sp>
        <p:nvSpPr>
          <p:cNvPr id="25" name="Shape 23"/>
          <p:cNvSpPr/>
          <p:nvPr/>
        </p:nvSpPr>
        <p:spPr>
          <a:xfrm>
            <a:off x="713232" y="4288536"/>
            <a:ext cx="365760" cy="365760"/>
          </a:xfrm>
          <a:prstGeom prst="ellipse">
            <a:avLst/>
          </a:prstGeom>
          <a:solidFill>
            <a:srgbClr val="16A34A"/>
          </a:solidFill>
          <a:ln/>
        </p:spPr>
        <p:txBody>
          <a:bodyPr/>
          <a:p/>
        </p:txBody>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Place names stay as entered</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Only interface text is translated — a test fails if a Harare place name is ever altered</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txBody>
          <a:bodyPr/>
          <a:p/>
        </p:txBody>
      </p:sp>
      <p:sp>
        <p:nvSpPr>
          <p:cNvPr id="30" name="Shape 28"/>
          <p:cNvSpPr/>
          <p:nvPr/>
        </p:nvSpPr>
        <p:spPr>
          <a:xfrm>
            <a:off x="6382512" y="4288536"/>
            <a:ext cx="365760" cy="365760"/>
          </a:xfrm>
          <a:prstGeom prst="ellipse">
            <a:avLst/>
          </a:prstGeom>
          <a:solidFill>
            <a:srgbClr val="16A34A"/>
          </a:solidFill>
          <a:ln/>
        </p:spPr>
        <p:txBody>
          <a:bodyPr/>
          <a:p/>
        </p:txBody>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Tenant-friendly unit labels</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Tenants see “Avondale Heights · Unit 101”, not an internal unit code</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txBody>
          <a:bodyPr/>
          <a:p/>
        </p:txBody>
      </p:sp>
      <p:sp>
        <p:nvSpPr>
          <p:cNvPr id="35" name="Shape 33"/>
          <p:cNvSpPr/>
          <p:nvPr/>
        </p:nvSpPr>
        <p:spPr>
          <a:xfrm>
            <a:off x="713232" y="5504688"/>
            <a:ext cx="365760" cy="365760"/>
          </a:xfrm>
          <a:prstGeom prst="ellipse">
            <a:avLst/>
          </a:prstGeom>
          <a:solidFill>
            <a:srgbClr val="16A34A"/>
          </a:solidFill>
          <a:ln/>
        </p:spPr>
        <p:txBody>
          <a:bodyPr/>
          <a:p/>
        </p:txBody>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Logged-in redirect fix</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Opening the login page while signed in now goes to your dashboard, not a blank page</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txBody>
          <a:bodyPr/>
          <a:p/>
        </p:txBody>
      </p:sp>
      <p:sp>
        <p:nvSpPr>
          <p:cNvPr id="40" name="Shape 38"/>
          <p:cNvSpPr/>
          <p:nvPr/>
        </p:nvSpPr>
        <p:spPr>
          <a:xfrm>
            <a:off x="6382512" y="5504688"/>
            <a:ext cx="365760" cy="365760"/>
          </a:xfrm>
          <a:prstGeom prst="ellipse">
            <a:avLst/>
          </a:prstGeom>
          <a:solidFill>
            <a:srgbClr val="16A34A"/>
          </a:solidFill>
          <a:ln/>
        </p:spPr>
        <p:txBody>
          <a:bodyPr/>
          <a:p/>
        </p:txBody>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Harare demo portfolio</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5 properties in Avondale, the CBD, Eastlea and Vainona — 16 units and 9 tenants</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Extended Scope — Usability &amp; Localisation</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10 / 19</a:t>
            </a:r>
            <a:endParaRPr lang="en-US" sz="10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p:bgPr>
    </p:bg>
    <p:spTree>
      <p:nvGrpSpPr>
        <p:cNvPr id="1" name=""/>
        <p:cNvGrpSpPr/>
        <p:nvPr/>
      </p:nvGrpSpPr>
      <p:grpSpPr/>
      <p:sp>
        <p:nvSpPr>
          <p:cNvPr id="2" name="Text 0"/>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Extended Scope — Full Arabic &amp; Production Hardening</a:t>
            </a:r>
            <a:endParaRPr lang="en-US" sz="2800" dirty="0"/>
          </a:p>
        </p:txBody>
      </p:sp>
      <p:sp>
        <p:nvSpPr>
          <p:cNvPr id="3" name="Text 1"/>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The final round: every word in Arabic, a stricter security posture and production-ready data handling — 54 more tests, all passing.</a:t>
            </a:r>
            <a:endParaRPr lang="en-US" sz="1350" dirty="0"/>
          </a:p>
        </p:txBody>
      </p:sp>
      <p:sp>
        <p:nvSpPr>
          <p:cNvPr id="4" name="Shape 2"/>
          <p:cNvSpPr/>
          <p:nvPr/>
        </p:nvSpPr>
        <p:spPr>
          <a:xfrm>
            <a:off x="548640" y="1691640"/>
            <a:ext cx="5394960" cy="1051560"/>
          </a:xfrm>
          <a:prstGeom prst="roundRect">
            <a:avLst>
              <a:gd name="adj" fmla="val 6957"/>
            </a:avLst>
          </a:prstGeom>
          <a:solidFill>
            <a:srgbClr val="1E293B"/>
          </a:solidFill>
          <a:ln/>
        </p:spPr>
        <p:txBody>
          <a:bodyPr/>
          <a:p/>
        </p:txBody>
      </p:sp>
      <p:sp>
        <p:nvSpPr>
          <p:cNvPr id="5" name="Shape 3"/>
          <p:cNvSpPr/>
          <p:nvPr/>
        </p:nvSpPr>
        <p:spPr>
          <a:xfrm>
            <a:off x="713232" y="1856232"/>
            <a:ext cx="365760" cy="365760"/>
          </a:xfrm>
          <a:prstGeom prst="ellipse">
            <a:avLst/>
          </a:prstGeom>
          <a:solidFill>
            <a:srgbClr val="16A34A"/>
          </a:solidFill>
          <a:ln/>
        </p:spPr>
        <p:txBody>
          <a:bodyPr/>
          <a:p/>
        </p:txBody>
      </p:sp>
      <p:sp>
        <p:nvSpPr>
          <p:cNvPr id="6" name="Text 4"/>
          <p:cNvSpPr txBox="1"/>
          <p:nvPr/>
        </p:nvSpPr>
        <p:spPr>
          <a:xfrm>
            <a:off x="71323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23444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Arabic on every screen</a:t>
            </a:r>
            <a:endParaRPr lang="en-US" sz="1300" dirty="0"/>
          </a:p>
        </p:txBody>
      </p:sp>
      <p:sp>
        <p:nvSpPr>
          <p:cNvPr id="8" name="Text 6"/>
          <p:cNvSpPr txBox="1"/>
          <p:nvPr/>
        </p:nvSpPr>
        <p:spPr>
          <a:xfrm>
            <a:off x="123444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Every page, form option and message — over 600 phrases; a test fails if one is missing</a:t>
            </a:r>
            <a:endParaRPr lang="en-US" sz="1000" dirty="0"/>
          </a:p>
        </p:txBody>
      </p:sp>
      <p:sp>
        <p:nvSpPr>
          <p:cNvPr id="9" name="Shape 7"/>
          <p:cNvSpPr/>
          <p:nvPr/>
        </p:nvSpPr>
        <p:spPr>
          <a:xfrm>
            <a:off x="6217920" y="1691640"/>
            <a:ext cx="5394960" cy="1051560"/>
          </a:xfrm>
          <a:prstGeom prst="roundRect">
            <a:avLst>
              <a:gd name="adj" fmla="val 6957"/>
            </a:avLst>
          </a:prstGeom>
          <a:solidFill>
            <a:srgbClr val="1E293B"/>
          </a:solidFill>
          <a:ln/>
        </p:spPr>
        <p:txBody>
          <a:bodyPr/>
          <a:p/>
        </p:txBody>
      </p:sp>
      <p:sp>
        <p:nvSpPr>
          <p:cNvPr id="10" name="Shape 8"/>
          <p:cNvSpPr/>
          <p:nvPr/>
        </p:nvSpPr>
        <p:spPr>
          <a:xfrm>
            <a:off x="6382512" y="1856232"/>
            <a:ext cx="365760" cy="365760"/>
          </a:xfrm>
          <a:prstGeom prst="ellipse">
            <a:avLst/>
          </a:prstGeom>
          <a:solidFill>
            <a:srgbClr val="16A34A"/>
          </a:solidFill>
          <a:ln/>
        </p:spPr>
        <p:txBody>
          <a:bodyPr/>
          <a:p/>
        </p:txBody>
      </p:sp>
      <p:sp>
        <p:nvSpPr>
          <p:cNvPr id="11" name="Text 9"/>
          <p:cNvSpPr txBox="1"/>
          <p:nvPr/>
        </p:nvSpPr>
        <p:spPr>
          <a:xfrm>
            <a:off x="6382512" y="18562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6903720" y="1783080"/>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Emails &amp; SMS in each user’s language</a:t>
            </a:r>
            <a:endParaRPr lang="en-US" sz="1300" dirty="0"/>
          </a:p>
        </p:txBody>
      </p:sp>
      <p:sp>
        <p:nvSpPr>
          <p:cNvPr id="13" name="Text 11"/>
          <p:cNvSpPr txBox="1"/>
          <p:nvPr/>
        </p:nvSpPr>
        <p:spPr>
          <a:xfrm>
            <a:off x="6903720" y="2112264"/>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Sent in the language the user last chose, including by the nightly jobs</a:t>
            </a:r>
            <a:endParaRPr lang="en-US" sz="1000" dirty="0"/>
          </a:p>
        </p:txBody>
      </p:sp>
      <p:sp>
        <p:nvSpPr>
          <p:cNvPr id="14" name="Shape 12"/>
          <p:cNvSpPr/>
          <p:nvPr/>
        </p:nvSpPr>
        <p:spPr>
          <a:xfrm>
            <a:off x="548640" y="2907792"/>
            <a:ext cx="5394960" cy="1051560"/>
          </a:xfrm>
          <a:prstGeom prst="roundRect">
            <a:avLst>
              <a:gd name="adj" fmla="val 6957"/>
            </a:avLst>
          </a:prstGeom>
          <a:solidFill>
            <a:srgbClr val="1E293B"/>
          </a:solidFill>
          <a:ln/>
        </p:spPr>
        <p:txBody>
          <a:bodyPr/>
          <a:p/>
        </p:txBody>
      </p:sp>
      <p:sp>
        <p:nvSpPr>
          <p:cNvPr id="15" name="Shape 13"/>
          <p:cNvSpPr/>
          <p:nvPr/>
        </p:nvSpPr>
        <p:spPr>
          <a:xfrm>
            <a:off x="713232" y="3072384"/>
            <a:ext cx="365760" cy="365760"/>
          </a:xfrm>
          <a:prstGeom prst="ellipse">
            <a:avLst/>
          </a:prstGeom>
          <a:solidFill>
            <a:srgbClr val="16A34A"/>
          </a:solidFill>
          <a:ln/>
        </p:spPr>
        <p:txBody>
          <a:bodyPr/>
          <a:p/>
        </p:txBody>
      </p:sp>
      <p:sp>
        <p:nvSpPr>
          <p:cNvPr id="16" name="Text 14"/>
          <p:cNvSpPr txBox="1"/>
          <p:nvPr/>
        </p:nvSpPr>
        <p:spPr>
          <a:xfrm>
            <a:off x="71323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txBox="1"/>
          <p:nvPr/>
        </p:nvSpPr>
        <p:spPr>
          <a:xfrm>
            <a:off x="123444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Arabic PDFs &amp; spreadsheets</a:t>
            </a:r>
            <a:endParaRPr lang="en-US" sz="1300" dirty="0"/>
          </a:p>
        </p:txBody>
      </p:sp>
      <p:sp>
        <p:nvSpPr>
          <p:cNvPr id="18" name="Text 16"/>
          <p:cNvSpPr txBox="1"/>
          <p:nvPr/>
        </p:nvSpPr>
        <p:spPr>
          <a:xfrm>
            <a:off x="123444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PDF letters joined and right to left, tables mirrored; Excel sheets open right to left</a:t>
            </a:r>
            <a:endParaRPr lang="en-US" sz="1000" dirty="0"/>
          </a:p>
        </p:txBody>
      </p:sp>
      <p:sp>
        <p:nvSpPr>
          <p:cNvPr id="19" name="Shape 17"/>
          <p:cNvSpPr/>
          <p:nvPr/>
        </p:nvSpPr>
        <p:spPr>
          <a:xfrm>
            <a:off x="6217920" y="2907792"/>
            <a:ext cx="5394960" cy="1051560"/>
          </a:xfrm>
          <a:prstGeom prst="roundRect">
            <a:avLst>
              <a:gd name="adj" fmla="val 6957"/>
            </a:avLst>
          </a:prstGeom>
          <a:solidFill>
            <a:srgbClr val="1E293B"/>
          </a:solidFill>
          <a:ln/>
        </p:spPr>
        <p:txBody>
          <a:bodyPr/>
          <a:p/>
        </p:txBody>
      </p:sp>
      <p:sp>
        <p:nvSpPr>
          <p:cNvPr id="20" name="Shape 18"/>
          <p:cNvSpPr/>
          <p:nvPr/>
        </p:nvSpPr>
        <p:spPr>
          <a:xfrm>
            <a:off x="6382512" y="3072384"/>
            <a:ext cx="365760" cy="365760"/>
          </a:xfrm>
          <a:prstGeom prst="ellipse">
            <a:avLst/>
          </a:prstGeom>
          <a:solidFill>
            <a:srgbClr val="16A34A"/>
          </a:solidFill>
          <a:ln/>
        </p:spPr>
        <p:txBody>
          <a:bodyPr/>
          <a:p/>
        </p:txBody>
      </p:sp>
      <p:sp>
        <p:nvSpPr>
          <p:cNvPr id="21" name="Text 19"/>
          <p:cNvSpPr txBox="1"/>
          <p:nvPr/>
        </p:nvSpPr>
        <p:spPr>
          <a:xfrm>
            <a:off x="6382512" y="30723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2" name="Text 20"/>
          <p:cNvSpPr txBox="1"/>
          <p:nvPr/>
        </p:nvSpPr>
        <p:spPr>
          <a:xfrm>
            <a:off x="6903720" y="29992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Currency everywhere</a:t>
            </a:r>
            <a:endParaRPr lang="en-US" sz="1300" dirty="0"/>
          </a:p>
        </p:txBody>
      </p:sp>
      <p:sp>
        <p:nvSpPr>
          <p:cNvPr id="23" name="Text 21"/>
          <p:cNvSpPr txBox="1"/>
          <p:nvPr/>
        </p:nvSpPr>
        <p:spPr>
          <a:xfrm>
            <a:off x="6903720" y="3328416"/>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Every amount shown as “USD 1,250.00” — screens, messages, emails and PDFs</a:t>
            </a:r>
            <a:endParaRPr lang="en-US" sz="1000" dirty="0"/>
          </a:p>
        </p:txBody>
      </p:sp>
      <p:sp>
        <p:nvSpPr>
          <p:cNvPr id="24" name="Shape 22"/>
          <p:cNvSpPr/>
          <p:nvPr/>
        </p:nvSpPr>
        <p:spPr>
          <a:xfrm>
            <a:off x="548640" y="4123944"/>
            <a:ext cx="5394960" cy="1051560"/>
          </a:xfrm>
          <a:prstGeom prst="roundRect">
            <a:avLst>
              <a:gd name="adj" fmla="val 6957"/>
            </a:avLst>
          </a:prstGeom>
          <a:solidFill>
            <a:srgbClr val="1E293B"/>
          </a:solidFill>
          <a:ln/>
        </p:spPr>
        <p:txBody>
          <a:bodyPr/>
          <a:p/>
        </p:txBody>
      </p:sp>
      <p:sp>
        <p:nvSpPr>
          <p:cNvPr id="25" name="Shape 23"/>
          <p:cNvSpPr/>
          <p:nvPr/>
        </p:nvSpPr>
        <p:spPr>
          <a:xfrm>
            <a:off x="713232" y="4288536"/>
            <a:ext cx="365760" cy="365760"/>
          </a:xfrm>
          <a:prstGeom prst="ellipse">
            <a:avLst/>
          </a:prstGeom>
          <a:solidFill>
            <a:srgbClr val="16A34A"/>
          </a:solidFill>
          <a:ln/>
        </p:spPr>
        <p:txBody>
          <a:bodyPr/>
          <a:p/>
        </p:txBody>
      </p:sp>
      <p:sp>
        <p:nvSpPr>
          <p:cNvPr id="26" name="Text 24"/>
          <p:cNvSpPr txBox="1"/>
          <p:nvPr/>
        </p:nvSpPr>
        <p:spPr>
          <a:xfrm>
            <a:off x="71323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txBox="1"/>
          <p:nvPr/>
        </p:nvSpPr>
        <p:spPr>
          <a:xfrm>
            <a:off x="123444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Security headers &amp; cookies</a:t>
            </a:r>
            <a:endParaRPr lang="en-US" sz="1300" dirty="0"/>
          </a:p>
        </p:txBody>
      </p:sp>
      <p:sp>
        <p:nvSpPr>
          <p:cNvPr id="28" name="Text 26"/>
          <p:cNvSpPr txBox="1"/>
          <p:nvPr/>
        </p:nvSpPr>
        <p:spPr>
          <a:xfrm>
            <a:off x="123444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Strict Content-Security-Policy with no inline code, no framing, HSTS, HttpOnly cookies</a:t>
            </a:r>
            <a:endParaRPr lang="en-US" sz="1000" dirty="0"/>
          </a:p>
        </p:txBody>
      </p:sp>
      <p:sp>
        <p:nvSpPr>
          <p:cNvPr id="29" name="Shape 27"/>
          <p:cNvSpPr/>
          <p:nvPr/>
        </p:nvSpPr>
        <p:spPr>
          <a:xfrm>
            <a:off x="6217920" y="4123944"/>
            <a:ext cx="5394960" cy="1051560"/>
          </a:xfrm>
          <a:prstGeom prst="roundRect">
            <a:avLst>
              <a:gd name="adj" fmla="val 6957"/>
            </a:avLst>
          </a:prstGeom>
          <a:solidFill>
            <a:srgbClr val="1E293B"/>
          </a:solidFill>
          <a:ln/>
        </p:spPr>
        <p:txBody>
          <a:bodyPr/>
          <a:p/>
        </p:txBody>
      </p:sp>
      <p:sp>
        <p:nvSpPr>
          <p:cNvPr id="30" name="Shape 28"/>
          <p:cNvSpPr/>
          <p:nvPr/>
        </p:nvSpPr>
        <p:spPr>
          <a:xfrm>
            <a:off x="6382512" y="4288536"/>
            <a:ext cx="365760" cy="365760"/>
          </a:xfrm>
          <a:prstGeom prst="ellipse">
            <a:avLst/>
          </a:prstGeom>
          <a:solidFill>
            <a:srgbClr val="16A34A"/>
          </a:solidFill>
          <a:ln/>
        </p:spPr>
        <p:txBody>
          <a:bodyPr/>
          <a:p/>
        </p:txBody>
      </p:sp>
      <p:sp>
        <p:nvSpPr>
          <p:cNvPr id="31" name="Text 29"/>
          <p:cNvSpPr txBox="1"/>
          <p:nvPr/>
        </p:nvSpPr>
        <p:spPr>
          <a:xfrm>
            <a:off x="6382512" y="428853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2" name="Text 30"/>
          <p:cNvSpPr txBox="1"/>
          <p:nvPr/>
        </p:nvSpPr>
        <p:spPr>
          <a:xfrm>
            <a:off x="6903720" y="421538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default secret key</a:t>
            </a:r>
            <a:endParaRPr lang="en-US" sz="1300" dirty="0"/>
          </a:p>
        </p:txBody>
      </p:sp>
      <p:sp>
        <p:nvSpPr>
          <p:cNvPr id="33" name="Text 31"/>
          <p:cNvSpPr txBox="1"/>
          <p:nvPr/>
        </p:nvSpPr>
        <p:spPr>
          <a:xfrm>
            <a:off x="6903720" y="4544568"/>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The app refuses to start with a missing or published SECRET_KEY</a:t>
            </a:r>
            <a:endParaRPr lang="en-US" sz="1000" dirty="0"/>
          </a:p>
        </p:txBody>
      </p:sp>
      <p:sp>
        <p:nvSpPr>
          <p:cNvPr id="34" name="Shape 32"/>
          <p:cNvSpPr/>
          <p:nvPr/>
        </p:nvSpPr>
        <p:spPr>
          <a:xfrm>
            <a:off x="548640" y="5340096"/>
            <a:ext cx="5394960" cy="1051560"/>
          </a:xfrm>
          <a:prstGeom prst="roundRect">
            <a:avLst>
              <a:gd name="adj" fmla="val 6957"/>
            </a:avLst>
          </a:prstGeom>
          <a:solidFill>
            <a:srgbClr val="1E293B"/>
          </a:solidFill>
          <a:ln/>
        </p:spPr>
        <p:txBody>
          <a:bodyPr/>
          <a:p/>
        </p:txBody>
      </p:sp>
      <p:sp>
        <p:nvSpPr>
          <p:cNvPr id="35" name="Shape 33"/>
          <p:cNvSpPr/>
          <p:nvPr/>
        </p:nvSpPr>
        <p:spPr>
          <a:xfrm>
            <a:off x="713232" y="5504688"/>
            <a:ext cx="365760" cy="365760"/>
          </a:xfrm>
          <a:prstGeom prst="ellipse">
            <a:avLst/>
          </a:prstGeom>
          <a:solidFill>
            <a:srgbClr val="16A34A"/>
          </a:solidFill>
          <a:ln/>
        </p:spPr>
        <p:txBody>
          <a:bodyPr/>
          <a:p/>
        </p:txBody>
      </p:sp>
      <p:sp>
        <p:nvSpPr>
          <p:cNvPr id="36" name="Text 34"/>
          <p:cNvSpPr txBox="1"/>
          <p:nvPr/>
        </p:nvSpPr>
        <p:spPr>
          <a:xfrm>
            <a:off x="71323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37" name="Text 35"/>
          <p:cNvSpPr txBox="1"/>
          <p:nvPr/>
        </p:nvSpPr>
        <p:spPr>
          <a:xfrm>
            <a:off x="123444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Database migrations</a:t>
            </a:r>
            <a:endParaRPr lang="en-US" sz="1300" dirty="0"/>
          </a:p>
        </p:txBody>
      </p:sp>
      <p:sp>
        <p:nvSpPr>
          <p:cNvPr id="38" name="Text 36"/>
          <p:cNvSpPr txBox="1"/>
          <p:nvPr/>
        </p:nvSpPr>
        <p:spPr>
          <a:xfrm>
            <a:off x="123444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Alembic replaces create_all(); older databases are adopted with their data</a:t>
            </a:r>
            <a:endParaRPr lang="en-US" sz="1000" dirty="0"/>
          </a:p>
        </p:txBody>
      </p:sp>
      <p:sp>
        <p:nvSpPr>
          <p:cNvPr id="39" name="Shape 37"/>
          <p:cNvSpPr/>
          <p:nvPr/>
        </p:nvSpPr>
        <p:spPr>
          <a:xfrm>
            <a:off x="6217920" y="5340096"/>
            <a:ext cx="5394960" cy="1051560"/>
          </a:xfrm>
          <a:prstGeom prst="roundRect">
            <a:avLst>
              <a:gd name="adj" fmla="val 6957"/>
            </a:avLst>
          </a:prstGeom>
          <a:solidFill>
            <a:srgbClr val="1E293B"/>
          </a:solidFill>
          <a:ln/>
        </p:spPr>
        <p:txBody>
          <a:bodyPr/>
          <a:p/>
        </p:txBody>
      </p:sp>
      <p:sp>
        <p:nvSpPr>
          <p:cNvPr id="40" name="Shape 38"/>
          <p:cNvSpPr/>
          <p:nvPr/>
        </p:nvSpPr>
        <p:spPr>
          <a:xfrm>
            <a:off x="6382512" y="5504688"/>
            <a:ext cx="365760" cy="365760"/>
          </a:xfrm>
          <a:prstGeom prst="ellipse">
            <a:avLst/>
          </a:prstGeom>
          <a:solidFill>
            <a:srgbClr val="16A34A"/>
          </a:solidFill>
          <a:ln/>
        </p:spPr>
        <p:txBody>
          <a:bodyPr/>
          <a:p/>
        </p:txBody>
      </p:sp>
      <p:sp>
        <p:nvSpPr>
          <p:cNvPr id="41" name="Text 39"/>
          <p:cNvSpPr txBox="1"/>
          <p:nvPr/>
        </p:nvSpPr>
        <p:spPr>
          <a:xfrm>
            <a:off x="6382512" y="550468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42" name="Text 40"/>
          <p:cNvSpPr txBox="1"/>
          <p:nvPr/>
        </p:nvSpPr>
        <p:spPr>
          <a:xfrm>
            <a:off x="6903720" y="543153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Cloud file storage</a:t>
            </a:r>
            <a:endParaRPr lang="en-US" sz="1300" dirty="0"/>
          </a:p>
        </p:txBody>
      </p:sp>
      <p:sp>
        <p:nvSpPr>
          <p:cNvPr id="43" name="Text 41"/>
          <p:cNvSpPr txBox="1"/>
          <p:nvPr/>
        </p:nvSpPr>
        <p:spPr>
          <a:xfrm>
            <a:off x="6903720" y="5760720"/>
            <a:ext cx="4526280" cy="5486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Uploads can live in an S3-compatible bucket and survive redeploys</a:t>
            </a:r>
            <a:endParaRPr lang="en-US" sz="1000" dirty="0"/>
          </a:p>
        </p:txBody>
      </p:sp>
      <p:sp>
        <p:nvSpPr>
          <p:cNvPr id="44" name="Text 4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Extended Scope — Full Arabic &amp; Hardening</a:t>
            </a:r>
            <a:endParaRPr lang="en-US" sz="1000" dirty="0"/>
          </a:p>
        </p:txBody>
      </p:sp>
      <p:sp>
        <p:nvSpPr>
          <p:cNvPr id="45" name="Text 4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11 / 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3" name="Text 1"/>
          <p:cNvSpPr txBox="1"/>
          <p:nvPr/>
        </p:nvSpPr>
        <p:spPr>
          <a:xfrm>
            <a:off x="548640" y="45720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New Look — Harare, Shona &amp; Arabic</a:t>
            </a:r>
            <a:endParaRPr lang="en-US" sz="4800" dirty="0"/>
          </a:p>
        </p:txBody>
      </p:sp>
      <p:sp>
        <p:nvSpPr>
          <p:cNvPr id="4" name="Text 2"/>
          <p:cNvSpPr txBox="1"/>
          <p:nvPr/>
        </p:nvSpPr>
        <p:spPr>
          <a:xfrm>
            <a:off x="548640" y="1097280"/>
            <a:ext cx="105156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 Harare login page with its language menu, and the tenant portal in Arabic</a:t>
            </a:r>
            <a:endParaRPr lang="en-US" sz="1600" dirty="0"/>
          </a:p>
        </p:txBody>
      </p:sp>
      <p:sp>
        <p:nvSpPr>
          <p:cNvPr id="23" name="Text 2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The New Look</a:t>
            </a:r>
            <a:endParaRPr lang="en-US" sz="1000" dirty="0"/>
          </a:p>
        </p:txBody>
      </p:sp>
      <p:sp>
        <p:nvSpPr>
          <p:cNvPr id="24" name="Text 2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12 / 19</a:t>
            </a:r>
            <a:endParaRPr lang="en-US" sz="1000" dirty="0"/>
          </a:p>
        </p:txBody>
      </p:sp>
      <p:pic>
        <p:nvPicPr>
          <p:cNvPr id="60" name="Login screenshot" descr="RentalPro login page over a photo of the Harare skyline, with the language menu open"/>
          <p:cNvPicPr>
            <a:picLocks noChangeAspect="1"/>
          </p:cNvPicPr>
          <p:nvPr/>
        </p:nvPicPr>
        <p:blipFill>
          <a:blip r:embed="rId91"/>
          <a:stretch>
            <a:fillRect/>
          </a:stretch>
        </p:blipFill>
        <p:spPr>
          <a:xfrm>
            <a:off x="548640" y="1737360"/>
            <a:ext cx="5394960" cy="3371850"/>
          </a:xfrm>
          <a:prstGeom prst="rect">
            <a:avLst/>
          </a:prstGeom>
          <a:ln w="12700">
            <a:solidFill>
              <a:srgbClr val="334155"/>
            </a:solidFill>
          </a:ln>
        </p:spPr>
      </p:pic>
      <p:pic>
        <p:nvPicPr>
          <p:cNvPr id="61" name="Arabic tenant portal screenshot" descr="Tenant dashboard in Arabic, right to left, for Chipo Mutasa"/>
          <p:cNvPicPr>
            <a:picLocks noChangeAspect="1"/>
          </p:cNvPicPr>
          <p:nvPr/>
        </p:nvPicPr>
        <p:blipFill>
          <a:blip r:embed="rId92"/>
          <a:stretch>
            <a:fillRect/>
          </a:stretch>
        </p:blipFill>
        <p:spPr>
          <a:xfrm>
            <a:off x="6217920" y="1737360"/>
            <a:ext cx="5394960" cy="3371850"/>
          </a:xfrm>
          <a:prstGeom prst="rect">
            <a:avLst/>
          </a:prstGeom>
          <a:ln w="12700">
            <a:solidFill>
              <a:srgbClr val="334155"/>
            </a:solidFill>
          </a:ln>
        </p:spPr>
      </p:pic>
      <p:sp>
        <p:nvSpPr>
          <p:cNvPr id="62" name="Login caption"/>
          <p:cNvSpPr txBox="1"/>
          <p:nvPr/>
        </p:nvSpPr>
        <p:spPr>
          <a:xfrm>
            <a:off x="548640" y="5273802"/>
            <a:ext cx="5394960" cy="640080"/>
          </a:xfrm>
          <a:prstGeom prst="rect">
            <a:avLst/>
          </a:prstGeom>
          <a:noFill/>
        </p:spPr>
        <p:txBody>
          <a:bodyPr wrap="square" lIns="0" tIns="0" rIns="0" bIns="0" rtlCol="0" anchor="t"/>
          <a:lstStyle/>
          <a:p>
            <a:r>
              <a:rPr lang="en-US" sz="1500" b="1" dirty="0">
                <a:solidFill>
                  <a:srgbClr val="FFFFFF"/>
                </a:solidFill>
                <a:latin typeface="Calibri"/>
              </a:rPr>
              <a:t>Login</a:t>
            </a:r>
          </a:p>
          <a:p>
            <a:r>
              <a:rPr lang="en-US" sz="1250" dirty="0">
                <a:solidFill>
                  <a:srgbClr val="CADCFC"/>
                </a:solidFill>
                <a:latin typeface="Calibri"/>
              </a:rPr>
              <a:t>A full-screen Harare skyline, a translucent card, and the language menu open top-right</a:t>
            </a:r>
          </a:p>
        </p:txBody>
      </p:sp>
      <p:sp>
        <p:nvSpPr>
          <p:cNvPr id="63" name="Arabic caption"/>
          <p:cNvSpPr txBox="1"/>
          <p:nvPr/>
        </p:nvSpPr>
        <p:spPr>
          <a:xfrm>
            <a:off x="6217920" y="5273802"/>
            <a:ext cx="5394960" cy="640080"/>
          </a:xfrm>
          <a:prstGeom prst="rect">
            <a:avLst/>
          </a:prstGeom>
          <a:noFill/>
        </p:spPr>
        <p:txBody>
          <a:bodyPr wrap="square" lIns="0" tIns="0" rIns="0" bIns="0" rtlCol="0" anchor="t"/>
          <a:lstStyle/>
          <a:p>
            <a:r>
              <a:rPr lang="en-US" sz="1500" b="1" dirty="0">
                <a:solidFill>
                  <a:srgbClr val="FFFFFF"/>
                </a:solidFill>
                <a:latin typeface="Calibri"/>
              </a:rPr>
              <a:t>Tenant portal in Arabic</a:t>
            </a:r>
          </a:p>
          <a:p>
            <a:r>
              <a:rPr lang="en-US" sz="1250" dirty="0">
                <a:solidFill>
                  <a:srgbClr val="CADCFC"/>
                </a:solidFill>
                <a:latin typeface="Calibri"/>
              </a:rPr>
              <a:t>Laid out right to left — her name and “Avondale Heights” stay exactly as entered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Testing &amp; Quality</a:t>
            </a:r>
            <a:endParaRPr lang="en-US" sz="3200" dirty="0"/>
          </a:p>
        </p:txBody>
      </p:sp>
      <p:sp>
        <p:nvSpPr>
          <p:cNvPr id="3" name="Shape 1"/>
          <p:cNvSpPr/>
          <p:nvPr/>
        </p:nvSpPr>
        <p:spPr>
          <a:xfrm>
            <a:off x="548640" y="1280160"/>
            <a:ext cx="2606040" cy="1371600"/>
          </a:xfrm>
          <a:prstGeom prst="roundRect">
            <a:avLst>
              <a:gd name="adj" fmla="val 6667"/>
            </a:avLst>
          </a:prstGeom>
          <a:solidFill>
            <a:srgbClr val="EFF6FF"/>
          </a:solidFill>
          <a:ln/>
        </p:spPr>
        <p:txBody>
          <a:bodyPr/>
          <a:p/>
        </p:txBody>
      </p:sp>
      <p:sp>
        <p:nvSpPr>
          <p:cNvPr id="4" name="Text 2"/>
          <p:cNvSpPr txBox="1"/>
          <p:nvPr/>
        </p:nvSpPr>
        <p:spPr>
          <a:xfrm>
            <a:off x="548640" y="1389888"/>
            <a:ext cx="2606040" cy="777240"/>
          </a:xfrm>
          <a:prstGeom prst="rect">
            <a:avLst/>
          </a:prstGeom>
          <a:noFill/>
          <a:ln/>
        </p:spPr>
        <p:txBody>
          <a:bodyPr wrap="square" lIns="0" tIns="0" rIns="0" bIns="0" rtlCol="0" anchor="ctr"/>
          <a:lstStyle/>
          <a:p>
            <a:pPr algn="ctr" indent="0" marL="0">
              <a:buNone/>
            </a:pPr>
            <a:r>
              <a:rPr lang="en-US" sz="3400" b="1" dirty="0">
                <a:solidFill>
                  <a:srgbClr val="0F172A"/>
                </a:solidFill>
                <a:latin typeface="Cambria" pitchFamily="34" charset="0"/>
                <a:ea typeface="Cambria" pitchFamily="34" charset="-122"/>
                <a:cs typeface="Cambria" pitchFamily="34" charset="-120"/>
              </a:rPr>
              <a:t>305</a:t>
            </a:r>
            <a:endParaRPr lang="en-US" sz="3400" dirty="0"/>
          </a:p>
        </p:txBody>
      </p:sp>
      <p:sp>
        <p:nvSpPr>
          <p:cNvPr id="5" name="Text 3"/>
          <p:cNvSpPr txBox="1"/>
          <p:nvPr/>
        </p:nvSpPr>
        <p:spPr>
          <a:xfrm>
            <a:off x="548640" y="2176272"/>
            <a:ext cx="260604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Automated Tests</a:t>
            </a:r>
            <a:endParaRPr lang="en-US" sz="1200" dirty="0"/>
          </a:p>
        </p:txBody>
      </p:sp>
      <p:sp>
        <p:nvSpPr>
          <p:cNvPr id="6" name="Shape 4"/>
          <p:cNvSpPr/>
          <p:nvPr/>
        </p:nvSpPr>
        <p:spPr>
          <a:xfrm>
            <a:off x="3337560" y="1280160"/>
            <a:ext cx="2606040" cy="1371600"/>
          </a:xfrm>
          <a:prstGeom prst="roundRect">
            <a:avLst>
              <a:gd name="adj" fmla="val 6667"/>
            </a:avLst>
          </a:prstGeom>
          <a:solidFill>
            <a:srgbClr val="16A34A"/>
          </a:solidFill>
          <a:ln/>
        </p:spPr>
        <p:txBody>
          <a:bodyPr/>
          <a:p/>
        </p:txBody>
      </p:sp>
      <p:sp>
        <p:nvSpPr>
          <p:cNvPr id="7" name="Text 5"/>
          <p:cNvSpPr txBox="1"/>
          <p:nvPr/>
        </p:nvSpPr>
        <p:spPr>
          <a:xfrm>
            <a:off x="3337560" y="1389888"/>
            <a:ext cx="260604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8" name="Text 6"/>
          <p:cNvSpPr txBox="1"/>
          <p:nvPr/>
        </p:nvSpPr>
        <p:spPr>
          <a:xfrm>
            <a:off x="3337560" y="2176272"/>
            <a:ext cx="26060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Failures</a:t>
            </a:r>
            <a:endParaRPr lang="en-US" sz="1200" dirty="0"/>
          </a:p>
        </p:txBody>
      </p:sp>
      <p:sp>
        <p:nvSpPr>
          <p:cNvPr id="9" name="Shape 7"/>
          <p:cNvSpPr/>
          <p:nvPr/>
        </p:nvSpPr>
        <p:spPr>
          <a:xfrm>
            <a:off x="6126480" y="1280160"/>
            <a:ext cx="2606040" cy="1371600"/>
          </a:xfrm>
          <a:prstGeom prst="roundRect">
            <a:avLst>
              <a:gd name="adj" fmla="val 6667"/>
            </a:avLst>
          </a:prstGeom>
          <a:solidFill>
            <a:srgbClr val="EFF6FF"/>
          </a:solidFill>
          <a:ln/>
        </p:spPr>
        <p:txBody>
          <a:bodyPr/>
          <a:p/>
        </p:txBody>
      </p:sp>
      <p:sp>
        <p:nvSpPr>
          <p:cNvPr id="10" name="Text 8"/>
          <p:cNvSpPr txBox="1"/>
          <p:nvPr/>
        </p:nvSpPr>
        <p:spPr>
          <a:xfrm>
            <a:off x="6126480" y="1389888"/>
            <a:ext cx="2606040" cy="777240"/>
          </a:xfrm>
          <a:prstGeom prst="rect">
            <a:avLst/>
          </a:prstGeom>
          <a:noFill/>
          <a:ln/>
        </p:spPr>
        <p:txBody>
          <a:bodyPr wrap="square" lIns="0" tIns="0" rIns="0" bIns="0" rtlCol="0" anchor="ctr"/>
          <a:lstStyle/>
          <a:p>
            <a:pPr algn="ctr" indent="0" marL="0">
              <a:buNone/>
            </a:pPr>
            <a:r>
              <a:rPr lang="en-US" sz="3400" b="1" dirty="0">
                <a:solidFill>
                  <a:srgbClr val="0F172A"/>
                </a:solidFill>
                <a:latin typeface="Cambria" pitchFamily="34" charset="0"/>
                <a:ea typeface="Cambria" pitchFamily="34" charset="-122"/>
                <a:cs typeface="Cambria" pitchFamily="34" charset="-120"/>
              </a:rPr>
              <a:t>86%</a:t>
            </a:r>
            <a:endParaRPr lang="en-US" sz="3400" dirty="0"/>
          </a:p>
        </p:txBody>
      </p:sp>
      <p:sp>
        <p:nvSpPr>
          <p:cNvPr id="11" name="Text 9"/>
          <p:cNvSpPr txBox="1"/>
          <p:nvPr/>
        </p:nvSpPr>
        <p:spPr>
          <a:xfrm>
            <a:off x="6126480" y="2176272"/>
            <a:ext cx="260604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Statement Coverage</a:t>
            </a:r>
            <a:endParaRPr lang="en-US" sz="1200" dirty="0"/>
          </a:p>
        </p:txBody>
      </p:sp>
      <p:sp>
        <p:nvSpPr>
          <p:cNvPr id="12" name="Shape 10"/>
          <p:cNvSpPr/>
          <p:nvPr/>
        </p:nvSpPr>
        <p:spPr>
          <a:xfrm>
            <a:off x="8915400" y="1280160"/>
            <a:ext cx="2606040" cy="1371600"/>
          </a:xfrm>
          <a:prstGeom prst="roundRect">
            <a:avLst>
              <a:gd name="adj" fmla="val 6667"/>
            </a:avLst>
          </a:prstGeom>
          <a:solidFill>
            <a:srgbClr val="EFF6FF"/>
          </a:solidFill>
          <a:ln/>
        </p:spPr>
        <p:txBody>
          <a:bodyPr/>
          <a:p/>
        </p:txBody>
      </p:sp>
      <p:sp>
        <p:nvSpPr>
          <p:cNvPr id="13" name="Text 11"/>
          <p:cNvSpPr txBox="1"/>
          <p:nvPr/>
        </p:nvSpPr>
        <p:spPr>
          <a:xfrm>
            <a:off x="8915400" y="1389888"/>
            <a:ext cx="2606040" cy="777240"/>
          </a:xfrm>
          <a:prstGeom prst="rect">
            <a:avLst/>
          </a:prstGeom>
          <a:noFill/>
          <a:ln/>
        </p:spPr>
        <p:txBody>
          <a:bodyPr wrap="square" lIns="0" tIns="0" rIns="0" bIns="0" rtlCol="0" anchor="ctr"/>
          <a:lstStyle/>
          <a:p>
            <a:pPr algn="ctr" indent="0" marL="0">
              <a:buNone/>
            </a:pPr>
            <a:r>
              <a:rPr lang="en-US" sz="3400" b="1" dirty="0">
                <a:solidFill>
                  <a:srgbClr val="0F172A"/>
                </a:solidFill>
                <a:latin typeface="Cambria" pitchFamily="34" charset="0"/>
                <a:ea typeface="Cambria" pitchFamily="34" charset="-122"/>
                <a:cs typeface="Cambria" pitchFamily="34" charset="-120"/>
              </a:rPr>
              <a:t>25/25</a:t>
            </a:r>
            <a:endParaRPr lang="en-US" sz="3400" dirty="0"/>
          </a:p>
        </p:txBody>
      </p:sp>
      <p:sp>
        <p:nvSpPr>
          <p:cNvPr id="14" name="Text 12"/>
          <p:cNvSpPr txBox="1"/>
          <p:nvPr/>
        </p:nvSpPr>
        <p:spPr>
          <a:xfrm>
            <a:off x="8915400" y="2176272"/>
            <a:ext cx="260604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Use Cases Covered</a:t>
            </a:r>
            <a:endParaRPr lang="en-US" sz="1200" dirty="0"/>
          </a:p>
        </p:txBody>
      </p:sp>
      <p:graphicFrame>
        <p:nvGraphicFramePr>
          <p:cNvPr id="15" name="Chart 0" descr=""/>
          <p:cNvGraphicFramePr/>
          <p:nvPr/>
        </p:nvGraphicFramePr>
        <p:xfrm>
          <a:off x="548640" y="2971800"/>
          <a:ext cx="6492240" cy="338328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15200" y="2971800"/>
            <a:ext cx="4297680" cy="3383280"/>
          </a:xfrm>
          <a:prstGeom prst="roundRect">
            <a:avLst>
              <a:gd name="adj" fmla="val 2703"/>
            </a:avLst>
          </a:prstGeom>
          <a:solidFill>
            <a:srgbClr val="F1F5F9"/>
          </a:solidFill>
          <a:ln/>
        </p:spPr>
        <p:txBody>
          <a:bodyPr/>
          <a:p/>
        </p:txBody>
      </p:sp>
      <p:sp>
        <p:nvSpPr>
          <p:cNvPr id="17" name="Text 14"/>
          <p:cNvSpPr txBox="1"/>
          <p:nvPr/>
        </p:nvSpPr>
        <p:spPr>
          <a:xfrm>
            <a:off x="7543800" y="3154680"/>
            <a:ext cx="384048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What the tests actually verify</a:t>
            </a:r>
            <a:endParaRPr lang="en-US" sz="1300" dirty="0"/>
          </a:p>
        </p:txBody>
      </p:sp>
      <p:sp>
        <p:nvSpPr>
          <p:cNvPr id="18" name="Shape 15"/>
          <p:cNvSpPr/>
          <p:nvPr/>
        </p:nvSpPr>
        <p:spPr>
          <a:xfrm>
            <a:off x="7543800" y="3630168"/>
            <a:ext cx="82296" cy="82296"/>
          </a:xfrm>
          <a:prstGeom prst="ellipse">
            <a:avLst/>
          </a:prstGeom>
          <a:solidFill>
            <a:srgbClr val="16A34A"/>
          </a:solidFill>
          <a:ln/>
        </p:spPr>
        <p:txBody>
          <a:bodyPr/>
          <a:p/>
        </p:txBody>
      </p:sp>
      <p:sp>
        <p:nvSpPr>
          <p:cNvPr id="19" name="Text 16"/>
          <p:cNvSpPr txBox="1"/>
          <p:nvPr/>
        </p:nvSpPr>
        <p:spPr>
          <a:xfrm>
            <a:off x="7772400" y="3493008"/>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Real HTTP requests through Flask’s test client — not isolated function calls</a:t>
            </a:r>
            <a:endParaRPr lang="en-US" sz="1050" dirty="0"/>
          </a:p>
        </p:txBody>
      </p:sp>
      <p:sp>
        <p:nvSpPr>
          <p:cNvPr id="20" name="Shape 17"/>
          <p:cNvSpPr/>
          <p:nvPr/>
        </p:nvSpPr>
        <p:spPr>
          <a:xfrm>
            <a:off x="7543800" y="4197096"/>
            <a:ext cx="82296" cy="82296"/>
          </a:xfrm>
          <a:prstGeom prst="ellipse">
            <a:avLst/>
          </a:prstGeom>
          <a:solidFill>
            <a:srgbClr val="16A34A"/>
          </a:solidFill>
          <a:ln/>
        </p:spPr>
        <p:txBody>
          <a:bodyPr/>
          <a:p/>
        </p:txBody>
      </p:sp>
      <p:sp>
        <p:nvSpPr>
          <p:cNvPr id="21" name="Text 18"/>
          <p:cNvSpPr txBox="1"/>
          <p:nvPr/>
        </p:nvSpPr>
        <p:spPr>
          <a:xfrm>
            <a:off x="7772400" y="4059936"/>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RBAC across all 5 roles × every management route</a:t>
            </a:r>
            <a:endParaRPr lang="en-US" sz="1050" dirty="0"/>
          </a:p>
        </p:txBody>
      </p:sp>
      <p:sp>
        <p:nvSpPr>
          <p:cNvPr id="22" name="Shape 19"/>
          <p:cNvSpPr/>
          <p:nvPr/>
        </p:nvSpPr>
        <p:spPr>
          <a:xfrm>
            <a:off x="7543800" y="4764024"/>
            <a:ext cx="82296" cy="82296"/>
          </a:xfrm>
          <a:prstGeom prst="ellipse">
            <a:avLst/>
          </a:prstGeom>
          <a:solidFill>
            <a:srgbClr val="16A34A"/>
          </a:solidFill>
          <a:ln/>
        </p:spPr>
        <p:txBody>
          <a:bodyPr/>
          <a:p/>
        </p:txBody>
      </p:sp>
      <p:sp>
        <p:nvSpPr>
          <p:cNvPr id="23" name="Text 20"/>
          <p:cNvSpPr txBox="1"/>
          <p:nvPr/>
        </p:nvSpPr>
        <p:spPr>
          <a:xfrm>
            <a:off x="7772400" y="4626864"/>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IDOR: a second Owner cannot view the first Owner’s property</a:t>
            </a:r>
            <a:endParaRPr lang="en-US" sz="1050" dirty="0"/>
          </a:p>
        </p:txBody>
      </p:sp>
      <p:sp>
        <p:nvSpPr>
          <p:cNvPr id="24" name="Shape 21"/>
          <p:cNvSpPr/>
          <p:nvPr/>
        </p:nvSpPr>
        <p:spPr>
          <a:xfrm>
            <a:off x="7543800" y="5330952"/>
            <a:ext cx="82296" cy="82296"/>
          </a:xfrm>
          <a:prstGeom prst="ellipse">
            <a:avLst/>
          </a:prstGeom>
          <a:solidFill>
            <a:srgbClr val="16A34A"/>
          </a:solidFill>
          <a:ln/>
        </p:spPr>
        <p:txBody>
          <a:bodyPr/>
          <a:p/>
        </p:txBody>
      </p:sp>
      <p:sp>
        <p:nvSpPr>
          <p:cNvPr id="25" name="Text 22"/>
          <p:cNvSpPr txBox="1"/>
          <p:nvPr/>
        </p:nvSpPr>
        <p:spPr>
          <a:xfrm>
            <a:off x="7772400" y="5193792"/>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Calendar edge cases: mid-month leases, day-31-in-February</a:t>
            </a:r>
            <a:endParaRPr lang="en-US" sz="1050" dirty="0"/>
          </a:p>
        </p:txBody>
      </p:sp>
      <p:sp>
        <p:nvSpPr>
          <p:cNvPr id="26" name="Shape 23"/>
          <p:cNvSpPr/>
          <p:nvPr/>
        </p:nvSpPr>
        <p:spPr>
          <a:xfrm>
            <a:off x="7543800" y="5897880"/>
            <a:ext cx="82296" cy="82296"/>
          </a:xfrm>
          <a:prstGeom prst="ellipse">
            <a:avLst/>
          </a:prstGeom>
          <a:solidFill>
            <a:srgbClr val="16A34A"/>
          </a:solidFill>
          <a:ln/>
        </p:spPr>
        <p:txBody>
          <a:bodyPr/>
          <a:p/>
        </p:txBody>
      </p:sp>
      <p:sp>
        <p:nvSpPr>
          <p:cNvPr id="27" name="Text 24"/>
          <p:cNvSpPr txBox="1"/>
          <p:nvPr/>
        </p:nvSpPr>
        <p:spPr>
          <a:xfrm>
            <a:off x="7772400" y="5760720"/>
            <a:ext cx="3611880" cy="50292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Stripe HMAC signature verification — valid, tampered, expired</a:t>
            </a:r>
            <a:endParaRPr lang="en-US" sz="1050" dirty="0"/>
          </a:p>
        </p:txBody>
      </p:sp>
      <p:sp>
        <p:nvSpPr>
          <p:cNvPr id="28" name="Text 25"/>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Testing &amp; Quality</a:t>
            </a:r>
            <a:endParaRPr lang="en-US" sz="1000" dirty="0"/>
          </a:p>
        </p:txBody>
      </p:sp>
      <p:sp>
        <p:nvSpPr>
          <p:cNvPr id="29" name="Text 26"/>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13 / 19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4206240"/>
            <a:ext cx="4572000" cy="4572000"/>
          </a:xfrm>
          <a:prstGeom prst="ellipse">
            <a:avLst/>
          </a:prstGeom>
          <a:solidFill>
            <a:srgbClr val="1E293B"/>
          </a:solidFill>
          <a:ln/>
        </p:spPr>
        <p:txBody>
          <a:bodyPr/>
          <a:p/>
        </p:txBody>
      </p:sp>
      <p:sp>
        <p:nvSpPr>
          <p:cNvPr id="3" name="Text 1"/>
          <p:cNvSpPr txBox="1"/>
          <p:nvPr/>
        </p:nvSpPr>
        <p:spPr>
          <a:xfrm>
            <a:off x="822960" y="128016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Application Demo</a:t>
            </a:r>
            <a:endParaRPr lang="en-US" sz="4800" dirty="0"/>
          </a:p>
        </p:txBody>
      </p:sp>
      <p:sp>
        <p:nvSpPr>
          <p:cNvPr id="4" name="Text 2"/>
          <p:cNvSpPr txBox="1"/>
          <p:nvPr/>
        </p:nvSpPr>
        <p:spPr>
          <a:xfrm>
            <a:off x="868680" y="2240280"/>
            <a:ext cx="82296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 recorded walkthrough of the running application</a:t>
            </a:r>
            <a:endParaRPr lang="en-US" sz="1600" dirty="0"/>
          </a:p>
        </p:txBody>
      </p:sp>
      <p:sp>
        <p:nvSpPr>
          <p:cNvPr id="5" name="Shape 3"/>
          <p:cNvSpPr/>
          <p:nvPr/>
        </p:nvSpPr>
        <p:spPr>
          <a:xfrm>
            <a:off x="868680" y="3063240"/>
            <a:ext cx="365760" cy="365760"/>
          </a:xfrm>
          <a:prstGeom prst="ellipse">
            <a:avLst/>
          </a:prstGeom>
          <a:solidFill>
            <a:srgbClr val="2563EB"/>
          </a:solidFill>
          <a:ln/>
        </p:spPr>
        <p:txBody>
          <a:bodyPr/>
          <a:p/>
        </p:txBody>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17320" y="3044952"/>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Admin: the Harare dashboard, properties and the portfolio map</a:t>
            </a:r>
            <a:endParaRPr lang="en-US" sz="1350" dirty="0"/>
          </a:p>
        </p:txBody>
      </p:sp>
      <p:sp>
        <p:nvSpPr>
          <p:cNvPr id="8" name="Shape 6"/>
          <p:cNvSpPr/>
          <p:nvPr/>
        </p:nvSpPr>
        <p:spPr>
          <a:xfrm>
            <a:off x="868680" y="3593592"/>
            <a:ext cx="365760" cy="365760"/>
          </a:xfrm>
          <a:prstGeom prst="ellipse">
            <a:avLst/>
          </a:prstGeom>
          <a:solidFill>
            <a:srgbClr val="2563EB"/>
          </a:solidFill>
          <a:ln/>
        </p:spPr>
        <p:txBody>
          <a:bodyPr/>
          <a:p/>
        </p:txBody>
      </p:sp>
      <p:sp>
        <p:nvSpPr>
          <p:cNvPr id="9" name="Text 7"/>
          <p:cNvSpPr txBox="1"/>
          <p:nvPr/>
        </p:nvSpPr>
        <p:spPr>
          <a:xfrm>
            <a:off x="868680" y="359359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17320" y="3575304"/>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Rent tracker: a cash payment clears a tenant’s arrears</a:t>
            </a:r>
            <a:endParaRPr lang="en-US" sz="1350" dirty="0"/>
          </a:p>
        </p:txBody>
      </p:sp>
      <p:sp>
        <p:nvSpPr>
          <p:cNvPr id="11" name="Shape 9"/>
          <p:cNvSpPr/>
          <p:nvPr/>
        </p:nvSpPr>
        <p:spPr>
          <a:xfrm>
            <a:off x="868680" y="4123944"/>
            <a:ext cx="365760" cy="365760"/>
          </a:xfrm>
          <a:prstGeom prst="ellipse">
            <a:avLst/>
          </a:prstGeom>
          <a:solidFill>
            <a:srgbClr val="2563EB"/>
          </a:solidFill>
          <a:ln/>
        </p:spPr>
        <p:txBody>
          <a:bodyPr/>
          <a:p/>
        </p:txBody>
      </p:sp>
      <p:sp>
        <p:nvSpPr>
          <p:cNvPr id="12" name="Text 10"/>
          <p:cNvSpPr txBox="1"/>
          <p:nvPr/>
        </p:nvSpPr>
        <p:spPr>
          <a:xfrm>
            <a:off x="868680" y="41239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txBox="1"/>
          <p:nvPr/>
        </p:nvSpPr>
        <p:spPr>
          <a:xfrm>
            <a:off x="1417320" y="4105656"/>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maintenance ticket, and net income for each property</a:t>
            </a:r>
            <a:endParaRPr lang="en-US" sz="1350" dirty="0"/>
          </a:p>
        </p:txBody>
      </p:sp>
      <p:sp>
        <p:nvSpPr>
          <p:cNvPr id="14" name="Shape 12"/>
          <p:cNvSpPr/>
          <p:nvPr/>
        </p:nvSpPr>
        <p:spPr>
          <a:xfrm>
            <a:off x="868680" y="4654296"/>
            <a:ext cx="365760" cy="365760"/>
          </a:xfrm>
          <a:prstGeom prst="ellipse">
            <a:avLst/>
          </a:prstGeom>
          <a:solidFill>
            <a:srgbClr val="2563EB"/>
          </a:solidFill>
          <a:ln/>
        </p:spPr>
        <p:txBody>
          <a:bodyPr/>
          <a:p/>
        </p:txBody>
      </p:sp>
      <p:sp>
        <p:nvSpPr>
          <p:cNvPr id="15" name="Text 13"/>
          <p:cNvSpPr txBox="1"/>
          <p:nvPr/>
        </p:nvSpPr>
        <p:spPr>
          <a:xfrm>
            <a:off x="868680" y="465429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6" name="Text 14"/>
          <p:cNvSpPr txBox="1"/>
          <p:nvPr/>
        </p:nvSpPr>
        <p:spPr>
          <a:xfrm>
            <a:off x="1417320" y="4636008"/>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English → Shona → Arabic, right to left, and remembered</a:t>
            </a:r>
            <a:endParaRPr lang="en-US" sz="1350" dirty="0"/>
          </a:p>
        </p:txBody>
      </p:sp>
      <p:sp>
        <p:nvSpPr>
          <p:cNvPr id="17" name="Shape 15"/>
          <p:cNvSpPr/>
          <p:nvPr/>
        </p:nvSpPr>
        <p:spPr>
          <a:xfrm>
            <a:off x="868680" y="5184648"/>
            <a:ext cx="365760" cy="365760"/>
          </a:xfrm>
          <a:prstGeom prst="ellipse">
            <a:avLst/>
          </a:prstGeom>
          <a:solidFill>
            <a:srgbClr val="2563EB"/>
          </a:solidFill>
          <a:ln/>
        </p:spPr>
        <p:txBody>
          <a:bodyPr/>
          <a:p/>
        </p:txBody>
      </p:sp>
      <p:sp>
        <p:nvSpPr>
          <p:cNvPr id="18" name="Text 16"/>
          <p:cNvSpPr txBox="1"/>
          <p:nvPr/>
        </p:nvSpPr>
        <p:spPr>
          <a:xfrm>
            <a:off x="868680" y="51846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9" name="Text 17"/>
          <p:cNvSpPr txBox="1"/>
          <p:nvPr/>
        </p:nvSpPr>
        <p:spPr>
          <a:xfrm>
            <a:off x="1417320" y="5166360"/>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Tenant portal in Shona; unit history and maintenance summary</a:t>
            </a:r>
            <a:endParaRPr lang="en-US" sz="1350" dirty="0"/>
          </a:p>
        </p:txBody>
      </p:sp>
      <p:sp>
        <p:nvSpPr>
          <p:cNvPr id="20" name="Shape 18"/>
          <p:cNvSpPr/>
          <p:nvPr/>
        </p:nvSpPr>
        <p:spPr>
          <a:xfrm>
            <a:off x="868680" y="5715000"/>
            <a:ext cx="365760" cy="365760"/>
          </a:xfrm>
          <a:prstGeom prst="ellipse">
            <a:avLst/>
          </a:prstGeom>
          <a:solidFill>
            <a:srgbClr val="2563EB"/>
          </a:solidFill>
          <a:ln/>
        </p:spPr>
        <p:txBody>
          <a:bodyPr/>
          <a:p/>
        </p:txBody>
      </p:sp>
      <p:sp>
        <p:nvSpPr>
          <p:cNvPr id="21" name="Text 19"/>
          <p:cNvSpPr txBox="1"/>
          <p:nvPr/>
        </p:nvSpPr>
        <p:spPr>
          <a:xfrm>
            <a:off x="868680" y="5715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2" name="Text 20"/>
          <p:cNvSpPr txBox="1"/>
          <p:nvPr/>
        </p:nvSpPr>
        <p:spPr>
          <a:xfrm>
            <a:off x="1417320" y="5696712"/>
            <a:ext cx="9418320" cy="4114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Manager in Arabic: profile, statement, messages and PDF</a:t>
            </a:r>
            <a:endParaRPr lang="en-US" sz="1350" dirty="0"/>
          </a:p>
        </p:txBody>
      </p:sp>
      <p:sp>
        <p:nvSpPr>
          <p:cNvPr id="23" name="Text 2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Application Demo</a:t>
            </a:r>
            <a:endParaRPr lang="en-US" sz="1000" dirty="0"/>
          </a:p>
        </p:txBody>
      </p:sp>
      <p:sp>
        <p:nvSpPr>
          <p:cNvPr id="24" name="Text 2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14 / 19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Challenges &amp; Solutions</a:t>
            </a:r>
            <a:endParaRPr lang="en-US" sz="3200" dirty="0"/>
          </a:p>
        </p:txBody>
      </p:sp>
      <p:sp>
        <p:nvSpPr>
          <p:cNvPr id="3" name="Shape 1"/>
          <p:cNvSpPr/>
          <p:nvPr/>
        </p:nvSpPr>
        <p:spPr>
          <a:xfrm>
            <a:off x="548640" y="1417320"/>
            <a:ext cx="5349240" cy="1371600"/>
          </a:xfrm>
          <a:prstGeom prst="roundRect">
            <a:avLst>
              <a:gd name="adj" fmla="val 5333"/>
            </a:avLst>
          </a:prstGeom>
          <a:solidFill>
            <a:srgbClr val="FEF2F2"/>
          </a:solidFill>
          <a:ln/>
        </p:spPr>
        <p:txBody>
          <a:bodyPr/>
          <a:p/>
        </p:txBody>
      </p:sp>
      <p:sp>
        <p:nvSpPr>
          <p:cNvPr id="4" name="Text 2"/>
          <p:cNvSpPr txBox="1"/>
          <p:nvPr/>
        </p:nvSpPr>
        <p:spPr>
          <a:xfrm>
            <a:off x="777240" y="1554480"/>
            <a:ext cx="4846320" cy="27432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CHALLENGE</a:t>
            </a:r>
            <a:endParaRPr lang="en-US" sz="1000" dirty="0"/>
          </a:p>
        </p:txBody>
      </p:sp>
      <p:sp>
        <p:nvSpPr>
          <p:cNvPr id="5" name="Text 3"/>
          <p:cNvSpPr txBox="1"/>
          <p:nvPr/>
        </p:nvSpPr>
        <p:spPr>
          <a:xfrm>
            <a:off x="777240" y="182880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Reconciling ambitious design docs with what one developer could actually build and verify</a:t>
            </a:r>
            <a:endParaRPr lang="en-US" sz="1200" dirty="0"/>
          </a:p>
        </p:txBody>
      </p:sp>
      <p:sp>
        <p:nvSpPr>
          <p:cNvPr id="6" name="Shape 4"/>
          <p:cNvSpPr/>
          <p:nvPr/>
        </p:nvSpPr>
        <p:spPr>
          <a:xfrm>
            <a:off x="6080760" y="1417320"/>
            <a:ext cx="5349240" cy="1371600"/>
          </a:xfrm>
          <a:prstGeom prst="roundRect">
            <a:avLst>
              <a:gd name="adj" fmla="val 5333"/>
            </a:avLst>
          </a:prstGeom>
          <a:solidFill>
            <a:srgbClr val="F0FDF4"/>
          </a:solidFill>
          <a:ln/>
        </p:spPr>
        <p:txBody>
          <a:bodyPr/>
          <a:p/>
        </p:txBody>
      </p:sp>
      <p:sp>
        <p:nvSpPr>
          <p:cNvPr id="7" name="Text 5"/>
          <p:cNvSpPr txBox="1"/>
          <p:nvPr/>
        </p:nvSpPr>
        <p:spPr>
          <a:xfrm>
            <a:off x="6309360" y="1554480"/>
            <a:ext cx="4846320" cy="27432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SOLUTION</a:t>
            </a:r>
            <a:endParaRPr lang="en-US" sz="1000" dirty="0"/>
          </a:p>
        </p:txBody>
      </p:sp>
      <p:sp>
        <p:nvSpPr>
          <p:cNvPr id="8" name="Text 6"/>
          <p:cNvSpPr txBox="1"/>
          <p:nvPr/>
        </p:nvSpPr>
        <p:spPr>
          <a:xfrm>
            <a:off x="6309360" y="182880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Simplified IT401 Deliverable 2’s microservice sketch to a layered monolith; corrected IT401 Deliverable 3’s overstated early numbers to the real, verified ones</a:t>
            </a:r>
            <a:endParaRPr lang="en-US" sz="1200" dirty="0"/>
          </a:p>
        </p:txBody>
      </p:sp>
      <p:sp>
        <p:nvSpPr>
          <p:cNvPr id="9" name="Shape 7"/>
          <p:cNvSpPr/>
          <p:nvPr/>
        </p:nvSpPr>
        <p:spPr>
          <a:xfrm>
            <a:off x="548640" y="2971800"/>
            <a:ext cx="5349240" cy="1371600"/>
          </a:xfrm>
          <a:prstGeom prst="roundRect">
            <a:avLst>
              <a:gd name="adj" fmla="val 5333"/>
            </a:avLst>
          </a:prstGeom>
          <a:solidFill>
            <a:srgbClr val="FEF2F2"/>
          </a:solidFill>
          <a:ln/>
        </p:spPr>
        <p:txBody>
          <a:bodyPr/>
          <a:p/>
        </p:txBody>
      </p:sp>
      <p:sp>
        <p:nvSpPr>
          <p:cNvPr id="10" name="Text 8"/>
          <p:cNvSpPr txBox="1"/>
          <p:nvPr/>
        </p:nvSpPr>
        <p:spPr>
          <a:xfrm>
            <a:off x="777240" y="3108960"/>
            <a:ext cx="4846320" cy="27432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CHALLENGE</a:t>
            </a:r>
            <a:endParaRPr lang="en-US" sz="1000" dirty="0"/>
          </a:p>
        </p:txBody>
      </p:sp>
      <p:sp>
        <p:nvSpPr>
          <p:cNvPr id="11" name="Text 9"/>
          <p:cNvSpPr txBox="1"/>
          <p:nvPr/>
        </p:nvSpPr>
        <p:spPr>
          <a:xfrm>
            <a:off x="777240" y="338328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Calendar-accurate billing — a lease starting on the 31st, or a due day that doesn’t exist in February</a:t>
            </a:r>
            <a:endParaRPr lang="en-US" sz="1200" dirty="0"/>
          </a:p>
        </p:txBody>
      </p:sp>
      <p:sp>
        <p:nvSpPr>
          <p:cNvPr id="12" name="Shape 10"/>
          <p:cNvSpPr/>
          <p:nvPr/>
        </p:nvSpPr>
        <p:spPr>
          <a:xfrm>
            <a:off x="6080760" y="2971800"/>
            <a:ext cx="5349240" cy="1371600"/>
          </a:xfrm>
          <a:prstGeom prst="roundRect">
            <a:avLst>
              <a:gd name="adj" fmla="val 5333"/>
            </a:avLst>
          </a:prstGeom>
          <a:solidFill>
            <a:srgbClr val="F0FDF4"/>
          </a:solidFill>
          <a:ln/>
        </p:spPr>
        <p:txBody>
          <a:bodyPr/>
          <a:p/>
        </p:txBody>
      </p:sp>
      <p:sp>
        <p:nvSpPr>
          <p:cNvPr id="13" name="Text 11"/>
          <p:cNvSpPr txBox="1"/>
          <p:nvPr/>
        </p:nvSpPr>
        <p:spPr>
          <a:xfrm>
            <a:off x="6309360" y="3108960"/>
            <a:ext cx="4846320" cy="27432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SOLUTION</a:t>
            </a:r>
            <a:endParaRPr lang="en-US" sz="1000" dirty="0"/>
          </a:p>
        </p:txBody>
      </p:sp>
      <p:sp>
        <p:nvSpPr>
          <p:cNvPr id="14" name="Text 12"/>
          <p:cNvSpPr txBox="1"/>
          <p:nvPr/>
        </p:nvSpPr>
        <p:spPr>
          <a:xfrm>
            <a:off x="6309360" y="338328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Wrote the edge-case tests first (mid-month start, day-31-in-February clipping) before trusting the due-date calculation</a:t>
            </a:r>
            <a:endParaRPr lang="en-US" sz="1200" dirty="0"/>
          </a:p>
        </p:txBody>
      </p:sp>
      <p:sp>
        <p:nvSpPr>
          <p:cNvPr id="15" name="Shape 13"/>
          <p:cNvSpPr/>
          <p:nvPr/>
        </p:nvSpPr>
        <p:spPr>
          <a:xfrm>
            <a:off x="548640" y="4526280"/>
            <a:ext cx="5349240" cy="1371600"/>
          </a:xfrm>
          <a:prstGeom prst="roundRect">
            <a:avLst>
              <a:gd name="adj" fmla="val 5333"/>
            </a:avLst>
          </a:prstGeom>
          <a:solidFill>
            <a:srgbClr val="FEF2F2"/>
          </a:solidFill>
          <a:ln/>
        </p:spPr>
        <p:txBody>
          <a:bodyPr/>
          <a:p/>
        </p:txBody>
      </p:sp>
      <p:sp>
        <p:nvSpPr>
          <p:cNvPr id="16" name="Text 14"/>
          <p:cNvSpPr txBox="1"/>
          <p:nvPr/>
        </p:nvSpPr>
        <p:spPr>
          <a:xfrm>
            <a:off x="777240" y="4663440"/>
            <a:ext cx="4846320" cy="27432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CHALLENGE</a:t>
            </a:r>
            <a:endParaRPr lang="en-US" sz="1000" dirty="0"/>
          </a:p>
        </p:txBody>
      </p:sp>
      <p:sp>
        <p:nvSpPr>
          <p:cNvPr id="17" name="Text 15"/>
          <p:cNvSpPr txBox="1"/>
          <p:nvPr/>
        </p:nvSpPr>
        <p:spPr>
          <a:xfrm>
            <a:off x="777240" y="493776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Testing payments, email, and SMS without any live paid account</a:t>
            </a:r>
            <a:endParaRPr lang="en-US" sz="1200" dirty="0"/>
          </a:p>
        </p:txBody>
      </p:sp>
      <p:sp>
        <p:nvSpPr>
          <p:cNvPr id="18" name="Shape 16"/>
          <p:cNvSpPr/>
          <p:nvPr/>
        </p:nvSpPr>
        <p:spPr>
          <a:xfrm>
            <a:off x="6080760" y="4526280"/>
            <a:ext cx="5349240" cy="1371600"/>
          </a:xfrm>
          <a:prstGeom prst="roundRect">
            <a:avLst>
              <a:gd name="adj" fmla="val 5333"/>
            </a:avLst>
          </a:prstGeom>
          <a:solidFill>
            <a:srgbClr val="F0FDF4"/>
          </a:solidFill>
          <a:ln/>
        </p:spPr>
        <p:txBody>
          <a:bodyPr/>
          <a:p/>
        </p:txBody>
      </p:sp>
      <p:sp>
        <p:nvSpPr>
          <p:cNvPr id="19" name="Text 17"/>
          <p:cNvSpPr txBox="1"/>
          <p:nvPr/>
        </p:nvSpPr>
        <p:spPr>
          <a:xfrm>
            <a:off x="6309360" y="4663440"/>
            <a:ext cx="4846320" cy="274320"/>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SOLUTION</a:t>
            </a:r>
            <a:endParaRPr lang="en-US" sz="1000" dirty="0"/>
          </a:p>
        </p:txBody>
      </p:sp>
      <p:sp>
        <p:nvSpPr>
          <p:cNvPr id="20" name="Text 18"/>
          <p:cNvSpPr txBox="1"/>
          <p:nvPr/>
        </p:nvSpPr>
        <p:spPr>
          <a:xfrm>
            <a:off x="6309360" y="4937760"/>
            <a:ext cx="4846320" cy="9601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Built a dev-mode fallback pattern into every external service — the whole app runs and tests fully offline</a:t>
            </a:r>
            <a:endParaRPr lang="en-US" sz="1200" dirty="0"/>
          </a:p>
        </p:txBody>
      </p:sp>
      <p:sp>
        <p:nvSpPr>
          <p:cNvPr id="21" name="Text 19"/>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Challenges &amp; Solutions</a:t>
            </a:r>
            <a:endParaRPr lang="en-US" sz="1000" dirty="0"/>
          </a:p>
        </p:txBody>
      </p:sp>
      <p:sp>
        <p:nvSpPr>
          <p:cNvPr id="22" name="Text 20"/>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15 / 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Security Controls</a:t>
            </a:r>
            <a:endParaRPr lang="en-US" sz="3200" dirty="0"/>
          </a:p>
        </p:txBody>
      </p:sp>
      <p:sp>
        <p:nvSpPr>
          <p:cNvPr id="3" name="Shape 1"/>
          <p:cNvSpPr/>
          <p:nvPr/>
        </p:nvSpPr>
        <p:spPr>
          <a:xfrm>
            <a:off x="548640" y="1371600"/>
            <a:ext cx="5394960" cy="1170432"/>
          </a:xfrm>
          <a:prstGeom prst="roundRect">
            <a:avLst>
              <a:gd name="adj" fmla="val 6250"/>
            </a:avLst>
          </a:prstGeom>
          <a:solidFill>
            <a:srgbClr val="F1F5F9"/>
          </a:solidFill>
          <a:ln/>
        </p:spPr>
        <p:txBody>
          <a:bodyPr/>
          <a:p/>
        </p:txBody>
      </p:sp>
      <p:sp>
        <p:nvSpPr>
          <p:cNvPr id="4" name="Shape 2"/>
          <p:cNvSpPr/>
          <p:nvPr/>
        </p:nvSpPr>
        <p:spPr>
          <a:xfrm>
            <a:off x="713232" y="1764792"/>
            <a:ext cx="384048" cy="384048"/>
          </a:xfrm>
          <a:prstGeom prst="ellipse">
            <a:avLst/>
          </a:prstGeom>
          <a:solidFill>
            <a:srgbClr val="0F172A"/>
          </a:solidFill>
          <a:ln/>
        </p:spPr>
        <p:txBody>
          <a:bodyPr/>
          <a:p/>
        </p:txBody>
      </p:sp>
      <p:sp>
        <p:nvSpPr>
          <p:cNvPr id="5" name="Text 3"/>
          <p:cNvSpPr txBox="1"/>
          <p:nvPr/>
        </p:nvSpPr>
        <p:spPr>
          <a:xfrm>
            <a:off x="713232" y="1764792"/>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6" name="Text 4"/>
          <p:cNvSpPr txBox="1"/>
          <p:nvPr/>
        </p:nvSpPr>
        <p:spPr>
          <a:xfrm>
            <a:off x="1261872" y="1499616"/>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Passwords &amp; secret key</a:t>
            </a:r>
            <a:endParaRPr lang="en-US" sz="1300" dirty="0"/>
          </a:p>
        </p:txBody>
      </p:sp>
      <p:sp>
        <p:nvSpPr>
          <p:cNvPr id="7" name="Text 5"/>
          <p:cNvSpPr txBox="1"/>
          <p:nvPr/>
        </p:nvSpPr>
        <p:spPr>
          <a:xfrm>
            <a:off x="1261872" y="1828800"/>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pbkdf2:sha256, 600,000 iterations; no start without a real SECRET_KEY</a:t>
            </a:r>
            <a:endParaRPr lang="en-US" sz="1050" dirty="0"/>
          </a:p>
        </p:txBody>
      </p:sp>
      <p:sp>
        <p:nvSpPr>
          <p:cNvPr id="8" name="Shape 6"/>
          <p:cNvSpPr/>
          <p:nvPr/>
        </p:nvSpPr>
        <p:spPr>
          <a:xfrm>
            <a:off x="6217920" y="1371600"/>
            <a:ext cx="5394960" cy="1170432"/>
          </a:xfrm>
          <a:prstGeom prst="roundRect">
            <a:avLst>
              <a:gd name="adj" fmla="val 6250"/>
            </a:avLst>
          </a:prstGeom>
          <a:solidFill>
            <a:srgbClr val="F1F5F9"/>
          </a:solidFill>
          <a:ln/>
        </p:spPr>
        <p:txBody>
          <a:bodyPr/>
          <a:p/>
        </p:txBody>
      </p:sp>
      <p:sp>
        <p:nvSpPr>
          <p:cNvPr id="9" name="Shape 7"/>
          <p:cNvSpPr/>
          <p:nvPr/>
        </p:nvSpPr>
        <p:spPr>
          <a:xfrm>
            <a:off x="6382512" y="1764792"/>
            <a:ext cx="384048" cy="384048"/>
          </a:xfrm>
          <a:prstGeom prst="ellipse">
            <a:avLst/>
          </a:prstGeom>
          <a:solidFill>
            <a:srgbClr val="0F172A"/>
          </a:solidFill>
          <a:ln/>
        </p:spPr>
        <p:txBody>
          <a:bodyPr/>
          <a:p/>
        </p:txBody>
      </p:sp>
      <p:sp>
        <p:nvSpPr>
          <p:cNvPr id="10" name="Text 8"/>
          <p:cNvSpPr txBox="1"/>
          <p:nvPr/>
        </p:nvSpPr>
        <p:spPr>
          <a:xfrm>
            <a:off x="6382512" y="1764792"/>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1" name="Text 9"/>
          <p:cNvSpPr txBox="1"/>
          <p:nvPr/>
        </p:nvSpPr>
        <p:spPr>
          <a:xfrm>
            <a:off x="6931152" y="1499616"/>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RBAC</a:t>
            </a:r>
            <a:endParaRPr lang="en-US" sz="1300" dirty="0"/>
          </a:p>
        </p:txBody>
      </p:sp>
      <p:sp>
        <p:nvSpPr>
          <p:cNvPr id="12" name="Text 10"/>
          <p:cNvSpPr txBox="1"/>
          <p:nvPr/>
        </p:nvSpPr>
        <p:spPr>
          <a:xfrm>
            <a:off x="6931152" y="1828800"/>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role_required() on every protected route, 5 roles</a:t>
            </a:r>
            <a:endParaRPr lang="en-US" sz="1050" dirty="0"/>
          </a:p>
        </p:txBody>
      </p:sp>
      <p:sp>
        <p:nvSpPr>
          <p:cNvPr id="13" name="Shape 11"/>
          <p:cNvSpPr/>
          <p:nvPr/>
        </p:nvSpPr>
        <p:spPr>
          <a:xfrm>
            <a:off x="548640" y="2679192"/>
            <a:ext cx="5394960" cy="1170432"/>
          </a:xfrm>
          <a:prstGeom prst="roundRect">
            <a:avLst>
              <a:gd name="adj" fmla="val 6250"/>
            </a:avLst>
          </a:prstGeom>
          <a:solidFill>
            <a:srgbClr val="F1F5F9"/>
          </a:solidFill>
          <a:ln/>
        </p:spPr>
        <p:txBody>
          <a:bodyPr/>
          <a:p/>
        </p:txBody>
      </p:sp>
      <p:sp>
        <p:nvSpPr>
          <p:cNvPr id="14" name="Shape 12"/>
          <p:cNvSpPr/>
          <p:nvPr/>
        </p:nvSpPr>
        <p:spPr>
          <a:xfrm>
            <a:off x="713232" y="3072384"/>
            <a:ext cx="384048" cy="384048"/>
          </a:xfrm>
          <a:prstGeom prst="ellipse">
            <a:avLst/>
          </a:prstGeom>
          <a:solidFill>
            <a:srgbClr val="0F172A"/>
          </a:solidFill>
          <a:ln/>
        </p:spPr>
        <p:txBody>
          <a:bodyPr/>
          <a:p/>
        </p:txBody>
      </p:sp>
      <p:sp>
        <p:nvSpPr>
          <p:cNvPr id="15" name="Text 13"/>
          <p:cNvSpPr txBox="1"/>
          <p:nvPr/>
        </p:nvSpPr>
        <p:spPr>
          <a:xfrm>
            <a:off x="713232" y="3072384"/>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6" name="Text 14"/>
          <p:cNvSpPr txBox="1"/>
          <p:nvPr/>
        </p:nvSpPr>
        <p:spPr>
          <a:xfrm>
            <a:off x="1261872" y="2807208"/>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IDOR protection</a:t>
            </a:r>
            <a:endParaRPr lang="en-US" sz="1300" dirty="0"/>
          </a:p>
        </p:txBody>
      </p:sp>
      <p:sp>
        <p:nvSpPr>
          <p:cNvPr id="17" name="Text 15"/>
          <p:cNvSpPr txBox="1"/>
          <p:nvPr/>
        </p:nvSpPr>
        <p:spPr>
          <a:xfrm>
            <a:off x="1261872" y="3136392"/>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assert_owner() / assert_tenant_self() — resource-level, not just route-level</a:t>
            </a:r>
            <a:endParaRPr lang="en-US" sz="1050" dirty="0"/>
          </a:p>
        </p:txBody>
      </p:sp>
      <p:sp>
        <p:nvSpPr>
          <p:cNvPr id="18" name="Shape 16"/>
          <p:cNvSpPr/>
          <p:nvPr/>
        </p:nvSpPr>
        <p:spPr>
          <a:xfrm>
            <a:off x="6217920" y="2679192"/>
            <a:ext cx="5394960" cy="1170432"/>
          </a:xfrm>
          <a:prstGeom prst="roundRect">
            <a:avLst>
              <a:gd name="adj" fmla="val 6250"/>
            </a:avLst>
          </a:prstGeom>
          <a:solidFill>
            <a:srgbClr val="F1F5F9"/>
          </a:solidFill>
          <a:ln/>
        </p:spPr>
        <p:txBody>
          <a:bodyPr/>
          <a:p/>
        </p:txBody>
      </p:sp>
      <p:sp>
        <p:nvSpPr>
          <p:cNvPr id="19" name="Shape 17"/>
          <p:cNvSpPr/>
          <p:nvPr/>
        </p:nvSpPr>
        <p:spPr>
          <a:xfrm>
            <a:off x="6382512" y="3072384"/>
            <a:ext cx="384048" cy="384048"/>
          </a:xfrm>
          <a:prstGeom prst="ellipse">
            <a:avLst/>
          </a:prstGeom>
          <a:solidFill>
            <a:srgbClr val="0F172A"/>
          </a:solidFill>
          <a:ln/>
        </p:spPr>
        <p:txBody>
          <a:bodyPr/>
          <a:p/>
        </p:txBody>
      </p:sp>
      <p:sp>
        <p:nvSpPr>
          <p:cNvPr id="20" name="Text 18"/>
          <p:cNvSpPr txBox="1"/>
          <p:nvPr/>
        </p:nvSpPr>
        <p:spPr>
          <a:xfrm>
            <a:off x="6382512" y="3072384"/>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1" name="Text 19"/>
          <p:cNvSpPr txBox="1"/>
          <p:nvPr/>
        </p:nvSpPr>
        <p:spPr>
          <a:xfrm>
            <a:off x="6931152" y="2807208"/>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CSRF &amp; cookies</a:t>
            </a:r>
            <a:endParaRPr lang="en-US" sz="1300" dirty="0"/>
          </a:p>
        </p:txBody>
      </p:sp>
      <p:sp>
        <p:nvSpPr>
          <p:cNvPr id="22" name="Text 20"/>
          <p:cNvSpPr txBox="1"/>
          <p:nvPr/>
        </p:nvSpPr>
        <p:spPr>
          <a:xfrm>
            <a:off x="6931152" y="3136392"/>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Flask-WTF on every form (signed Stripe webhook exempt); HttpOnly, SameSite session cookie</a:t>
            </a:r>
            <a:endParaRPr lang="en-US" sz="1050" dirty="0"/>
          </a:p>
        </p:txBody>
      </p:sp>
      <p:sp>
        <p:nvSpPr>
          <p:cNvPr id="23" name="Shape 21"/>
          <p:cNvSpPr/>
          <p:nvPr/>
        </p:nvSpPr>
        <p:spPr>
          <a:xfrm>
            <a:off x="548640" y="3986784"/>
            <a:ext cx="5394960" cy="1170432"/>
          </a:xfrm>
          <a:prstGeom prst="roundRect">
            <a:avLst>
              <a:gd name="adj" fmla="val 6250"/>
            </a:avLst>
          </a:prstGeom>
          <a:solidFill>
            <a:srgbClr val="F1F5F9"/>
          </a:solidFill>
          <a:ln/>
        </p:spPr>
        <p:txBody>
          <a:bodyPr/>
          <a:p/>
        </p:txBody>
      </p:sp>
      <p:sp>
        <p:nvSpPr>
          <p:cNvPr id="24" name="Shape 22"/>
          <p:cNvSpPr/>
          <p:nvPr/>
        </p:nvSpPr>
        <p:spPr>
          <a:xfrm>
            <a:off x="713232" y="4379976"/>
            <a:ext cx="384048" cy="384048"/>
          </a:xfrm>
          <a:prstGeom prst="ellipse">
            <a:avLst/>
          </a:prstGeom>
          <a:solidFill>
            <a:srgbClr val="0F172A"/>
          </a:solidFill>
          <a:ln/>
        </p:spPr>
        <p:txBody>
          <a:bodyPr/>
          <a:p/>
        </p:txBody>
      </p:sp>
      <p:sp>
        <p:nvSpPr>
          <p:cNvPr id="25" name="Text 23"/>
          <p:cNvSpPr txBox="1"/>
          <p:nvPr/>
        </p:nvSpPr>
        <p:spPr>
          <a:xfrm>
            <a:off x="713232" y="4379976"/>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6" name="Text 24"/>
          <p:cNvSpPr txBox="1"/>
          <p:nvPr/>
        </p:nvSpPr>
        <p:spPr>
          <a:xfrm>
            <a:off x="1261872" y="411480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Headers &amp; lockout</a:t>
            </a:r>
            <a:endParaRPr lang="en-US" sz="1300" dirty="0"/>
          </a:p>
        </p:txBody>
      </p:sp>
      <p:sp>
        <p:nvSpPr>
          <p:cNvPr id="27" name="Text 25"/>
          <p:cNvSpPr txBox="1"/>
          <p:nvPr/>
        </p:nvSpPr>
        <p:spPr>
          <a:xfrm>
            <a:off x="1261872" y="4443984"/>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Strict Content-Security-Policy, no framing, HSTS; 5 failed logins lock an account</a:t>
            </a:r>
            <a:endParaRPr lang="en-US" sz="1050" dirty="0"/>
          </a:p>
        </p:txBody>
      </p:sp>
      <p:sp>
        <p:nvSpPr>
          <p:cNvPr id="28" name="Shape 26"/>
          <p:cNvSpPr/>
          <p:nvPr/>
        </p:nvSpPr>
        <p:spPr>
          <a:xfrm>
            <a:off x="6217920" y="3986784"/>
            <a:ext cx="5394960" cy="1170432"/>
          </a:xfrm>
          <a:prstGeom prst="roundRect">
            <a:avLst>
              <a:gd name="adj" fmla="val 6250"/>
            </a:avLst>
          </a:prstGeom>
          <a:solidFill>
            <a:srgbClr val="F1F5F9"/>
          </a:solidFill>
          <a:ln/>
        </p:spPr>
        <p:txBody>
          <a:bodyPr/>
          <a:p/>
        </p:txBody>
      </p:sp>
      <p:sp>
        <p:nvSpPr>
          <p:cNvPr id="29" name="Shape 27"/>
          <p:cNvSpPr/>
          <p:nvPr/>
        </p:nvSpPr>
        <p:spPr>
          <a:xfrm>
            <a:off x="6382512" y="4379976"/>
            <a:ext cx="384048" cy="384048"/>
          </a:xfrm>
          <a:prstGeom prst="ellipse">
            <a:avLst/>
          </a:prstGeom>
          <a:solidFill>
            <a:srgbClr val="0F172A"/>
          </a:solidFill>
          <a:ln/>
        </p:spPr>
        <p:txBody>
          <a:bodyPr/>
          <a:p/>
        </p:txBody>
      </p:sp>
      <p:sp>
        <p:nvSpPr>
          <p:cNvPr id="30" name="Text 28"/>
          <p:cNvSpPr txBox="1"/>
          <p:nvPr/>
        </p:nvSpPr>
        <p:spPr>
          <a:xfrm>
            <a:off x="6382512" y="4379976"/>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31" name="Text 29"/>
          <p:cNvSpPr txBox="1"/>
          <p:nvPr/>
        </p:nvSpPr>
        <p:spPr>
          <a:xfrm>
            <a:off x="6931152" y="411480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Upload validation</a:t>
            </a:r>
            <a:endParaRPr lang="en-US" sz="1300" dirty="0"/>
          </a:p>
        </p:txBody>
      </p:sp>
      <p:sp>
        <p:nvSpPr>
          <p:cNvPr id="32" name="Text 30"/>
          <p:cNvSpPr txBox="1"/>
          <p:nvPr/>
        </p:nvSpPr>
        <p:spPr>
          <a:xfrm>
            <a:off x="6931152" y="4443984"/>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Magic-byte checks — PDF, JPEG, PNG — regardless of file extension</a:t>
            </a:r>
            <a:endParaRPr lang="en-US" sz="1050" dirty="0"/>
          </a:p>
        </p:txBody>
      </p:sp>
      <p:sp>
        <p:nvSpPr>
          <p:cNvPr id="33" name="Shape 31"/>
          <p:cNvSpPr/>
          <p:nvPr/>
        </p:nvSpPr>
        <p:spPr>
          <a:xfrm>
            <a:off x="548640" y="5294376"/>
            <a:ext cx="5394960" cy="1170432"/>
          </a:xfrm>
          <a:prstGeom prst="roundRect">
            <a:avLst>
              <a:gd name="adj" fmla="val 6250"/>
            </a:avLst>
          </a:prstGeom>
          <a:solidFill>
            <a:srgbClr val="F1F5F9"/>
          </a:solidFill>
          <a:ln/>
        </p:spPr>
        <p:txBody>
          <a:bodyPr/>
          <a:p/>
        </p:txBody>
      </p:sp>
      <p:sp>
        <p:nvSpPr>
          <p:cNvPr id="34" name="Shape 32"/>
          <p:cNvSpPr/>
          <p:nvPr/>
        </p:nvSpPr>
        <p:spPr>
          <a:xfrm>
            <a:off x="713232" y="5687568"/>
            <a:ext cx="384048" cy="384048"/>
          </a:xfrm>
          <a:prstGeom prst="ellipse">
            <a:avLst/>
          </a:prstGeom>
          <a:solidFill>
            <a:srgbClr val="0F172A"/>
          </a:solidFill>
          <a:ln/>
        </p:spPr>
        <p:txBody>
          <a:bodyPr/>
          <a:p/>
        </p:txBody>
      </p:sp>
      <p:sp>
        <p:nvSpPr>
          <p:cNvPr id="35" name="Text 33"/>
          <p:cNvSpPr txBox="1"/>
          <p:nvPr/>
        </p:nvSpPr>
        <p:spPr>
          <a:xfrm>
            <a:off x="713232" y="5687568"/>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36" name="Text 34"/>
          <p:cNvSpPr txBox="1"/>
          <p:nvPr/>
        </p:nvSpPr>
        <p:spPr>
          <a:xfrm>
            <a:off x="1261872" y="5422392"/>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Audit log</a:t>
            </a:r>
            <a:endParaRPr lang="en-US" sz="1300" dirty="0"/>
          </a:p>
        </p:txBody>
      </p:sp>
      <p:sp>
        <p:nvSpPr>
          <p:cNvPr id="37" name="Text 35"/>
          <p:cNvSpPr txBox="1"/>
          <p:nvPr/>
        </p:nvSpPr>
        <p:spPr>
          <a:xfrm>
            <a:off x="1261872" y="5751576"/>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Immutable, append-only record of every state-changing action</a:t>
            </a:r>
            <a:endParaRPr lang="en-US" sz="1050" dirty="0"/>
          </a:p>
        </p:txBody>
      </p:sp>
      <p:sp>
        <p:nvSpPr>
          <p:cNvPr id="38" name="Shape 36"/>
          <p:cNvSpPr/>
          <p:nvPr/>
        </p:nvSpPr>
        <p:spPr>
          <a:xfrm>
            <a:off x="6217920" y="5294376"/>
            <a:ext cx="5394960" cy="1170432"/>
          </a:xfrm>
          <a:prstGeom prst="roundRect">
            <a:avLst>
              <a:gd name="adj" fmla="val 6250"/>
            </a:avLst>
          </a:prstGeom>
          <a:solidFill>
            <a:srgbClr val="F1F5F9"/>
          </a:solidFill>
          <a:ln/>
        </p:spPr>
        <p:txBody>
          <a:bodyPr/>
          <a:p/>
        </p:txBody>
      </p:sp>
      <p:sp>
        <p:nvSpPr>
          <p:cNvPr id="39" name="Shape 37"/>
          <p:cNvSpPr/>
          <p:nvPr/>
        </p:nvSpPr>
        <p:spPr>
          <a:xfrm>
            <a:off x="6382512" y="5687568"/>
            <a:ext cx="384048" cy="384048"/>
          </a:xfrm>
          <a:prstGeom prst="ellipse">
            <a:avLst/>
          </a:prstGeom>
          <a:solidFill>
            <a:srgbClr val="0F172A"/>
          </a:solidFill>
          <a:ln/>
        </p:spPr>
        <p:txBody>
          <a:bodyPr/>
          <a:p/>
        </p:txBody>
      </p:sp>
      <p:sp>
        <p:nvSpPr>
          <p:cNvPr id="40" name="Text 38"/>
          <p:cNvSpPr txBox="1"/>
          <p:nvPr/>
        </p:nvSpPr>
        <p:spPr>
          <a:xfrm>
            <a:off x="6382512" y="5687568"/>
            <a:ext cx="384048"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41" name="Text 39"/>
          <p:cNvSpPr txBox="1"/>
          <p:nvPr/>
        </p:nvSpPr>
        <p:spPr>
          <a:xfrm>
            <a:off x="6931152" y="5422392"/>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Webhook verification</a:t>
            </a:r>
            <a:endParaRPr lang="en-US" sz="1300" dirty="0"/>
          </a:p>
        </p:txBody>
      </p:sp>
      <p:sp>
        <p:nvSpPr>
          <p:cNvPr id="42" name="Text 40"/>
          <p:cNvSpPr txBox="1"/>
          <p:nvPr/>
        </p:nvSpPr>
        <p:spPr>
          <a:xfrm>
            <a:off x="6931152" y="5751576"/>
            <a:ext cx="448056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Manual HMAC check, 300-second replay window, independent of the SDK</a:t>
            </a:r>
            <a:endParaRPr lang="en-US" sz="1050" dirty="0"/>
          </a:p>
        </p:txBody>
      </p:sp>
      <p:sp>
        <p:nvSpPr>
          <p:cNvPr id="43" name="Text 41"/>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Security</a:t>
            </a:r>
            <a:endParaRPr lang="en-US" sz="1000" dirty="0"/>
          </a:p>
        </p:txBody>
      </p:sp>
      <p:sp>
        <p:nvSpPr>
          <p:cNvPr id="44" name="Text 42"/>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16 / 19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548640" y="1143000"/>
            <a:ext cx="1069848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RentalPro was carried from requirements through design, a working prototype, a full project report, 100% feature completion, a billing engine, and a fully Arabic, production-hardened Harare interface — every claim backed by a running, tested system.</a:t>
            </a:r>
            <a:endParaRPr lang="en-US" sz="1400" dirty="0"/>
          </a:p>
        </p:txBody>
      </p:sp>
      <p:sp>
        <p:nvSpPr>
          <p:cNvPr id="4" name="Shape 2"/>
          <p:cNvSpPr/>
          <p:nvPr/>
        </p:nvSpPr>
        <p:spPr>
          <a:xfrm>
            <a:off x="548640" y="2057400"/>
            <a:ext cx="329184" cy="329184"/>
          </a:xfrm>
          <a:prstGeom prst="ellipse">
            <a:avLst/>
          </a:prstGeom>
          <a:solidFill>
            <a:srgbClr val="16A34A"/>
          </a:solidFill>
          <a:ln/>
        </p:spPr>
        <p:txBody>
          <a:bodyPr/>
          <a:p/>
        </p:txBody>
      </p:sp>
      <p:sp>
        <p:nvSpPr>
          <p:cNvPr id="5" name="Text 3"/>
          <p:cNvSpPr txBox="1"/>
          <p:nvPr/>
        </p:nvSpPr>
        <p:spPr>
          <a:xfrm>
            <a:off x="548640" y="205740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6" name="Text 4"/>
          <p:cNvSpPr txBox="1"/>
          <p:nvPr/>
        </p:nvSpPr>
        <p:spPr>
          <a:xfrm>
            <a:off x="1051560" y="202996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25 / 25 use cases implemented, each with a route and a covering test</a:t>
            </a:r>
            <a:endParaRPr lang="en-US" sz="1400" dirty="0"/>
          </a:p>
        </p:txBody>
      </p:sp>
      <p:sp>
        <p:nvSpPr>
          <p:cNvPr id="7" name="Shape 5"/>
          <p:cNvSpPr/>
          <p:nvPr/>
        </p:nvSpPr>
        <p:spPr>
          <a:xfrm>
            <a:off x="548640" y="2651760"/>
            <a:ext cx="329184" cy="329184"/>
          </a:xfrm>
          <a:prstGeom prst="ellipse">
            <a:avLst/>
          </a:prstGeom>
          <a:solidFill>
            <a:srgbClr val="16A34A"/>
          </a:solidFill>
          <a:ln/>
        </p:spPr>
        <p:txBody>
          <a:bodyPr/>
          <a:p/>
        </p:txBody>
      </p:sp>
      <p:sp>
        <p:nvSpPr>
          <p:cNvPr id="8" name="Text 6"/>
          <p:cNvSpPr txBox="1"/>
          <p:nvPr/>
        </p:nvSpPr>
        <p:spPr>
          <a:xfrm>
            <a:off x="548640" y="265176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9" name="Text 7"/>
          <p:cNvSpPr txBox="1"/>
          <p:nvPr/>
        </p:nvSpPr>
        <p:spPr>
          <a:xfrm>
            <a:off x="1051560" y="262432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13-table database design implemented exactly as specified</a:t>
            </a:r>
            <a:endParaRPr lang="en-US" sz="1400" dirty="0"/>
          </a:p>
        </p:txBody>
      </p:sp>
      <p:sp>
        <p:nvSpPr>
          <p:cNvPr id="10" name="Shape 8"/>
          <p:cNvSpPr/>
          <p:nvPr/>
        </p:nvSpPr>
        <p:spPr>
          <a:xfrm>
            <a:off x="548640" y="3246120"/>
            <a:ext cx="329184" cy="329184"/>
          </a:xfrm>
          <a:prstGeom prst="ellipse">
            <a:avLst/>
          </a:prstGeom>
          <a:solidFill>
            <a:srgbClr val="16A34A"/>
          </a:solidFill>
          <a:ln/>
        </p:spPr>
        <p:txBody>
          <a:bodyPr/>
          <a:p/>
        </p:txBody>
      </p:sp>
      <p:sp>
        <p:nvSpPr>
          <p:cNvPr id="11" name="Text 9"/>
          <p:cNvSpPr txBox="1"/>
          <p:nvPr/>
        </p:nvSpPr>
        <p:spPr>
          <a:xfrm>
            <a:off x="548640" y="32461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2" name="Text 10"/>
          <p:cNvSpPr txBox="1"/>
          <p:nvPr/>
        </p:nvSpPr>
        <p:spPr>
          <a:xfrm>
            <a:off x="1051560" y="321868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305 automated tests, 0 failures, 86% statement coverage</a:t>
            </a:r>
            <a:endParaRPr lang="en-US" sz="1400" dirty="0"/>
          </a:p>
        </p:txBody>
      </p:sp>
      <p:sp>
        <p:nvSpPr>
          <p:cNvPr id="13" name="Shape 11"/>
          <p:cNvSpPr/>
          <p:nvPr/>
        </p:nvSpPr>
        <p:spPr>
          <a:xfrm>
            <a:off x="548640" y="3840480"/>
            <a:ext cx="329184" cy="329184"/>
          </a:xfrm>
          <a:prstGeom prst="ellipse">
            <a:avLst/>
          </a:prstGeom>
          <a:solidFill>
            <a:srgbClr val="16A34A"/>
          </a:solidFill>
          <a:ln/>
        </p:spPr>
        <p:txBody>
          <a:bodyPr/>
          <a:p/>
        </p:txBody>
      </p:sp>
      <p:sp>
        <p:nvSpPr>
          <p:cNvPr id="14" name="Text 12"/>
          <p:cNvSpPr txBox="1"/>
          <p:nvPr/>
        </p:nvSpPr>
        <p:spPr>
          <a:xfrm>
            <a:off x="548640" y="38404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5" name="Text 13"/>
          <p:cNvSpPr txBox="1"/>
          <p:nvPr/>
        </p:nvSpPr>
        <p:spPr>
          <a:xfrm>
            <a:off x="1051560" y="381304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11 feature gaps closed in IT402 Deliverable 2, a billing engine, and English/Shona/Arabic across every screen and document</a:t>
            </a:r>
            <a:endParaRPr lang="en-US" sz="1400" dirty="0"/>
          </a:p>
        </p:txBody>
      </p:sp>
      <p:sp>
        <p:nvSpPr>
          <p:cNvPr id="16" name="Shape 14"/>
          <p:cNvSpPr/>
          <p:nvPr/>
        </p:nvSpPr>
        <p:spPr>
          <a:xfrm>
            <a:off x="548640" y="4434840"/>
            <a:ext cx="329184" cy="329184"/>
          </a:xfrm>
          <a:prstGeom prst="ellipse">
            <a:avLst/>
          </a:prstGeom>
          <a:solidFill>
            <a:srgbClr val="16A34A"/>
          </a:solidFill>
          <a:ln/>
        </p:spPr>
        <p:txBody>
          <a:bodyPr/>
          <a:p/>
        </p:txBody>
      </p:sp>
      <p:sp>
        <p:nvSpPr>
          <p:cNvPr id="17" name="Text 15"/>
          <p:cNvSpPr txBox="1"/>
          <p:nvPr/>
        </p:nvSpPr>
        <p:spPr>
          <a:xfrm>
            <a:off x="548640" y="443484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8" name="Text 16"/>
          <p:cNvSpPr txBox="1"/>
          <p:nvPr/>
        </p:nvSpPr>
        <p:spPr>
          <a:xfrm>
            <a:off x="1051560" y="4407408"/>
            <a:ext cx="100584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Runs fully offline — zero paid external accounts required to build or test</a:t>
            </a:r>
            <a:endParaRPr lang="en-US" sz="1400" dirty="0"/>
          </a:p>
        </p:txBody>
      </p:sp>
      <p:sp>
        <p:nvSpPr>
          <p:cNvPr id="19" name="Shape 17"/>
          <p:cNvSpPr/>
          <p:nvPr/>
        </p:nvSpPr>
        <p:spPr>
          <a:xfrm>
            <a:off x="548640" y="5074920"/>
            <a:ext cx="11064240" cy="1143000"/>
          </a:xfrm>
          <a:prstGeom prst="roundRect">
            <a:avLst>
              <a:gd name="adj" fmla="val 8000"/>
            </a:avLst>
          </a:prstGeom>
          <a:solidFill>
            <a:srgbClr val="1E293B"/>
          </a:solidFill>
          <a:ln/>
        </p:spPr>
        <p:txBody>
          <a:bodyPr/>
          <a:p/>
        </p:txBody>
      </p:sp>
      <p:sp>
        <p:nvSpPr>
          <p:cNvPr id="20" name="Text 18"/>
          <p:cNvSpPr txBox="1"/>
          <p:nvPr/>
        </p:nvSpPr>
        <p:spPr>
          <a:xfrm>
            <a:off x="868680" y="5257800"/>
            <a:ext cx="10424160" cy="822960"/>
          </a:xfrm>
          <a:prstGeom prst="rect">
            <a:avLst/>
          </a:prstGeom>
          <a:noFill/>
          <a:ln/>
        </p:spPr>
        <p:txBody>
          <a:bodyPr wrap="square" lIns="0" tIns="0" rIns="0" bIns="0" rtlCol="0" anchor="ctr"/>
          <a:lstStyle/>
          <a:p>
            <a:pPr algn="ctr" indent="0" marL="0">
              <a:buNone/>
            </a:pPr>
            <a:r>
              <a:rPr lang="en-US" sz="1500" i="1" dirty="0">
                <a:solidFill>
                  <a:srgbClr val="CADCFC"/>
                </a:solidFill>
                <a:latin typeface="Cambria" pitchFamily="34" charset="0"/>
                <a:ea typeface="Cambria" pitchFamily="34" charset="-122"/>
                <a:cs typeface="Cambria" pitchFamily="34" charset="-120"/>
              </a:rPr>
              <a:t>“A claim in this project should be a fact about the running system, not a target for it.”</a:t>
            </a:r>
            <a:endParaRPr lang="en-US" sz="1500" dirty="0"/>
          </a:p>
        </p:txBody>
      </p:sp>
      <p:sp>
        <p:nvSpPr>
          <p:cNvPr id="21" name="Text 19"/>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Conclusion</a:t>
            </a:r>
            <a:endParaRPr lang="en-US" sz="1000" dirty="0"/>
          </a:p>
        </p:txBody>
      </p:sp>
      <p:sp>
        <p:nvSpPr>
          <p:cNvPr id="22" name="Text 20"/>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17 / 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Future Work</a:t>
            </a:r>
            <a:endParaRPr lang="en-US" sz="3200" dirty="0"/>
          </a:p>
        </p:txBody>
      </p:sp>
      <p:sp>
        <p:nvSpPr>
          <p:cNvPr id="3" name="Text 1"/>
          <p:cNvSpPr txBox="1"/>
          <p:nvPr/>
        </p:nvSpPr>
        <p:spPr>
          <a:xfrm>
            <a:off x="548640" y="1097280"/>
            <a:ext cx="8229600" cy="36576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Beyond IT402:</a:t>
            </a:r>
            <a:endParaRPr lang="en-US" sz="1400" dirty="0"/>
          </a:p>
        </p:txBody>
      </p:sp>
      <p:sp>
        <p:nvSpPr>
          <p:cNvPr id="4" name="Shape 2"/>
          <p:cNvSpPr/>
          <p:nvPr/>
        </p:nvSpPr>
        <p:spPr>
          <a:xfrm>
            <a:off x="548640" y="1600200"/>
            <a:ext cx="11064240" cy="850392"/>
          </a:xfrm>
          <a:prstGeom prst="roundRect">
            <a:avLst>
              <a:gd name="adj" fmla="val 7619"/>
            </a:avLst>
          </a:prstGeom>
          <a:solidFill>
            <a:srgbClr val="F1F5F9"/>
          </a:solidFill>
          <a:ln/>
        </p:spPr>
        <p:txBody>
          <a:bodyPr/>
          <a:p/>
        </p:txBody>
      </p:sp>
      <p:sp>
        <p:nvSpPr>
          <p:cNvPr id="5" name="Shape 3"/>
          <p:cNvSpPr/>
          <p:nvPr/>
        </p:nvSpPr>
        <p:spPr>
          <a:xfrm>
            <a:off x="777240" y="1773936"/>
            <a:ext cx="502920" cy="502920"/>
          </a:xfrm>
          <a:prstGeom prst="ellipse">
            <a:avLst/>
          </a:prstGeom>
          <a:solidFill>
            <a:srgbClr val="2563EB"/>
          </a:solidFill>
          <a:ln/>
        </p:spPr>
        <p:txBody>
          <a:bodyPr/>
          <a:p/>
        </p:txBody>
      </p:sp>
      <p:sp>
        <p:nvSpPr>
          <p:cNvPr id="6" name="Text 4"/>
          <p:cNvSpPr txBox="1"/>
          <p:nvPr/>
        </p:nvSpPr>
        <p:spPr>
          <a:xfrm>
            <a:off x="777240" y="177393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1554480" y="169164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Native-speaker review</a:t>
            </a:r>
            <a:endParaRPr lang="en-US" sz="1450" dirty="0"/>
          </a:p>
        </p:txBody>
      </p:sp>
      <p:sp>
        <p:nvSpPr>
          <p:cNvPr id="8" name="Text 6"/>
          <p:cNvSpPr txBox="1"/>
          <p:nvPr/>
        </p:nvSpPr>
        <p:spPr>
          <a:xfrm>
            <a:off x="5577840" y="169164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Have Arabic and Shona speakers check the wording, and extend Shona beyond the main screens</a:t>
            </a:r>
            <a:endParaRPr lang="en-US" sz="1200" dirty="0"/>
          </a:p>
        </p:txBody>
      </p:sp>
      <p:sp>
        <p:nvSpPr>
          <p:cNvPr id="9" name="Shape 7"/>
          <p:cNvSpPr/>
          <p:nvPr/>
        </p:nvSpPr>
        <p:spPr>
          <a:xfrm>
            <a:off x="548640" y="2560320"/>
            <a:ext cx="11064240" cy="850392"/>
          </a:xfrm>
          <a:prstGeom prst="roundRect">
            <a:avLst>
              <a:gd name="adj" fmla="val 7619"/>
            </a:avLst>
          </a:prstGeom>
          <a:solidFill>
            <a:srgbClr val="FFFFFF"/>
          </a:solidFill>
          <a:ln w="12700">
            <a:solidFill>
              <a:srgbClr val="CBD5E1"/>
            </a:solidFill>
            <a:prstDash val="solid"/>
          </a:ln>
        </p:spPr>
        <p:txBody>
          <a:bodyPr/>
          <a:p/>
        </p:txBody>
      </p:sp>
      <p:sp>
        <p:nvSpPr>
          <p:cNvPr id="10" name="Shape 8"/>
          <p:cNvSpPr/>
          <p:nvPr/>
        </p:nvSpPr>
        <p:spPr>
          <a:xfrm>
            <a:off x="777240" y="2734056"/>
            <a:ext cx="502920" cy="502920"/>
          </a:xfrm>
          <a:prstGeom prst="ellipse">
            <a:avLst/>
          </a:prstGeom>
          <a:solidFill>
            <a:srgbClr val="2563EB"/>
          </a:solidFill>
          <a:ln/>
        </p:spPr>
        <p:txBody>
          <a:bodyPr/>
          <a:p/>
        </p:txBody>
      </p:sp>
      <p:sp>
        <p:nvSpPr>
          <p:cNvPr id="11" name="Text 9"/>
          <p:cNvSpPr txBox="1"/>
          <p:nvPr/>
        </p:nvSpPr>
        <p:spPr>
          <a:xfrm>
            <a:off x="777240" y="273405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1554480" y="265176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Mobile-optimized tenant portal</a:t>
            </a:r>
            <a:endParaRPr lang="en-US" sz="1450" dirty="0"/>
          </a:p>
        </p:txBody>
      </p:sp>
      <p:sp>
        <p:nvSpPr>
          <p:cNvPr id="13" name="Text 11"/>
          <p:cNvSpPr txBox="1"/>
          <p:nvPr/>
        </p:nvSpPr>
        <p:spPr>
          <a:xfrm>
            <a:off x="5577840" y="265176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Tenants are the role most likely to use the system from a phone</a:t>
            </a:r>
            <a:endParaRPr lang="en-US" sz="1200" dirty="0"/>
          </a:p>
        </p:txBody>
      </p:sp>
      <p:sp>
        <p:nvSpPr>
          <p:cNvPr id="14" name="Shape 12"/>
          <p:cNvSpPr/>
          <p:nvPr/>
        </p:nvSpPr>
        <p:spPr>
          <a:xfrm>
            <a:off x="548640" y="3520440"/>
            <a:ext cx="11064240" cy="850392"/>
          </a:xfrm>
          <a:prstGeom prst="roundRect">
            <a:avLst>
              <a:gd name="adj" fmla="val 7619"/>
            </a:avLst>
          </a:prstGeom>
          <a:solidFill>
            <a:srgbClr val="F1F5F9"/>
          </a:solidFill>
          <a:ln/>
        </p:spPr>
        <p:txBody>
          <a:bodyPr/>
          <a:p/>
        </p:txBody>
      </p:sp>
      <p:sp>
        <p:nvSpPr>
          <p:cNvPr id="15" name="Shape 13"/>
          <p:cNvSpPr/>
          <p:nvPr/>
        </p:nvSpPr>
        <p:spPr>
          <a:xfrm>
            <a:off x="777240" y="3694176"/>
            <a:ext cx="502920" cy="502920"/>
          </a:xfrm>
          <a:prstGeom prst="ellipse">
            <a:avLst/>
          </a:prstGeom>
          <a:solidFill>
            <a:srgbClr val="2563EB"/>
          </a:solidFill>
          <a:ln/>
        </p:spPr>
        <p:txBody>
          <a:bodyPr/>
          <a:p/>
        </p:txBody>
      </p:sp>
      <p:sp>
        <p:nvSpPr>
          <p:cNvPr id="16" name="Text 14"/>
          <p:cNvSpPr txBox="1"/>
          <p:nvPr/>
        </p:nvSpPr>
        <p:spPr>
          <a:xfrm>
            <a:off x="777240" y="369417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7" name="Text 15"/>
          <p:cNvSpPr txBox="1"/>
          <p:nvPr/>
        </p:nvSpPr>
        <p:spPr>
          <a:xfrm>
            <a:off x="1554480" y="361188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Live production use</a:t>
            </a:r>
            <a:endParaRPr lang="en-US" sz="1450" dirty="0"/>
          </a:p>
        </p:txBody>
      </p:sp>
      <p:sp>
        <p:nvSpPr>
          <p:cNvPr id="18" name="Text 16"/>
          <p:cNvSpPr txBox="1"/>
          <p:nvPr/>
        </p:nvSpPr>
        <p:spPr>
          <a:xfrm>
            <a:off x="5577840" y="361188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render.yaml deploys to Render; real tenants still need S3 uploads and a long-term database plan</a:t>
            </a:r>
            <a:endParaRPr lang="en-US" sz="1200" dirty="0"/>
          </a:p>
        </p:txBody>
      </p:sp>
      <p:sp>
        <p:nvSpPr>
          <p:cNvPr id="19" name="Shape 17"/>
          <p:cNvSpPr/>
          <p:nvPr/>
        </p:nvSpPr>
        <p:spPr>
          <a:xfrm>
            <a:off x="548640" y="4480560"/>
            <a:ext cx="11064240" cy="850392"/>
          </a:xfrm>
          <a:prstGeom prst="roundRect">
            <a:avLst>
              <a:gd name="adj" fmla="val 7619"/>
            </a:avLst>
          </a:prstGeom>
          <a:solidFill>
            <a:srgbClr val="FFFFFF"/>
          </a:solidFill>
          <a:ln w="12700">
            <a:solidFill>
              <a:srgbClr val="CBD5E1"/>
            </a:solidFill>
            <a:prstDash val="solid"/>
          </a:ln>
        </p:spPr>
        <p:txBody>
          <a:bodyPr/>
          <a:p/>
        </p:txBody>
      </p:sp>
      <p:sp>
        <p:nvSpPr>
          <p:cNvPr id="20" name="Shape 18"/>
          <p:cNvSpPr/>
          <p:nvPr/>
        </p:nvSpPr>
        <p:spPr>
          <a:xfrm>
            <a:off x="777240" y="4654296"/>
            <a:ext cx="502920" cy="502920"/>
          </a:xfrm>
          <a:prstGeom prst="ellipse">
            <a:avLst/>
          </a:prstGeom>
          <a:solidFill>
            <a:srgbClr val="2563EB"/>
          </a:solidFill>
          <a:ln/>
        </p:spPr>
        <p:txBody>
          <a:bodyPr/>
          <a:p/>
        </p:txBody>
      </p:sp>
      <p:sp>
        <p:nvSpPr>
          <p:cNvPr id="21" name="Text 19"/>
          <p:cNvSpPr txBox="1"/>
          <p:nvPr/>
        </p:nvSpPr>
        <p:spPr>
          <a:xfrm>
            <a:off x="777240" y="465429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2" name="Text 20"/>
          <p:cNvSpPr txBox="1"/>
          <p:nvPr/>
        </p:nvSpPr>
        <p:spPr>
          <a:xfrm>
            <a:off x="1554480" y="457200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Live third-party verification</a:t>
            </a:r>
            <a:endParaRPr lang="en-US" sz="1450" dirty="0"/>
          </a:p>
        </p:txBody>
      </p:sp>
      <p:sp>
        <p:nvSpPr>
          <p:cNvPr id="23" name="Text 21"/>
          <p:cNvSpPr txBox="1"/>
          <p:nvPr/>
        </p:nvSpPr>
        <p:spPr>
          <a:xfrm>
            <a:off x="5577840" y="457200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End-to-end tests against real Stripe, SendGrid, and Twilio sandbox accounts</a:t>
            </a:r>
            <a:endParaRPr lang="en-US" sz="1200" dirty="0"/>
          </a:p>
        </p:txBody>
      </p:sp>
      <p:sp>
        <p:nvSpPr>
          <p:cNvPr id="26" name="Shape 17 (5)"/>
          <p:cNvSpPr/>
          <p:nvPr/>
        </p:nvSpPr>
        <p:spPr>
          <a:xfrm>
            <a:off x="548640" y="5440680"/>
            <a:ext cx="11064240" cy="850392"/>
          </a:xfrm>
          <a:prstGeom prst="roundRect">
            <a:avLst>
              <a:gd name="adj" fmla="val 7619"/>
            </a:avLst>
          </a:prstGeom>
          <a:solidFill>
            <a:srgbClr val="F1F5F9"/>
          </a:solidFill>
          <a:ln/>
        </p:spPr>
        <p:txBody>
          <a:bodyPr/>
          <a:p/>
        </p:txBody>
      </p:sp>
      <p:sp>
        <p:nvSpPr>
          <p:cNvPr id="27" name="Shape 18 (5)"/>
          <p:cNvSpPr/>
          <p:nvPr/>
        </p:nvSpPr>
        <p:spPr>
          <a:xfrm>
            <a:off x="777240" y="5614416"/>
            <a:ext cx="502920" cy="502920"/>
          </a:xfrm>
          <a:prstGeom prst="ellipse">
            <a:avLst/>
          </a:prstGeom>
          <a:solidFill>
            <a:srgbClr val="2563EB"/>
          </a:solidFill>
          <a:ln/>
        </p:spPr>
        <p:txBody>
          <a:bodyPr/>
          <a:p/>
        </p:txBody>
      </p:sp>
      <p:sp>
        <p:nvSpPr>
          <p:cNvPr id="28" name="Text 19 (5)"/>
          <p:cNvSpPr txBox="1"/>
          <p:nvPr/>
        </p:nvSpPr>
        <p:spPr>
          <a:xfrm>
            <a:off x="777240" y="5614416"/>
            <a:ext cx="502920" cy="50292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29" name="Text 20 (5)"/>
          <p:cNvSpPr txBox="1"/>
          <p:nvPr/>
        </p:nvSpPr>
        <p:spPr>
          <a:xfrm>
            <a:off x="1554480" y="5532120"/>
            <a:ext cx="3931920"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Two-factor sign-in</a:t>
            </a:r>
            <a:endParaRPr lang="en-US" sz="1450" dirty="0"/>
          </a:p>
        </p:txBody>
      </p:sp>
      <p:sp>
        <p:nvSpPr>
          <p:cNvPr id="30" name="Text 21 (5)"/>
          <p:cNvSpPr txBox="1"/>
          <p:nvPr/>
        </p:nvSpPr>
        <p:spPr>
          <a:xfrm>
            <a:off x="5577840" y="5532120"/>
            <a:ext cx="5852160" cy="66751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 second factor for Owner, Manager and Admin accounts</a:t>
            </a:r>
            <a:endParaRPr lang="en-US" sz="1200" dirty="0"/>
          </a:p>
        </p:txBody>
      </p:sp>
      <p:sp>
        <p:nvSpPr>
          <p:cNvPr id="24" name="Text 22"/>
          <p:cNvSpPr txBox="1"/>
          <p:nvPr/>
        </p:nvSpPr>
        <p:spPr>
          <a:xfrm>
            <a:off x="457200" y="6528816"/>
            <a:ext cx="7315200" cy="2743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Future Work</a:t>
            </a:r>
            <a:endParaRPr lang="en-US" sz="1000" dirty="0"/>
          </a:p>
        </p:txBody>
      </p:sp>
      <p:sp>
        <p:nvSpPr>
          <p:cNvPr id="25" name="Text 23"/>
          <p:cNvSpPr txBox="1"/>
          <p:nvPr/>
        </p:nvSpPr>
        <p:spPr>
          <a:xfrm>
            <a:off x="11247120" y="6528816"/>
            <a:ext cx="54864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18 / 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E293B"/>
          </a:solidFill>
          <a:ln/>
        </p:spPr>
        <p:txBody>
          <a:bodyPr/>
          <a:p/>
        </p:txBody>
      </p:sp>
      <p:sp>
        <p:nvSpPr>
          <p:cNvPr id="3" name="Shape 1"/>
          <p:cNvSpPr/>
          <p:nvPr/>
        </p:nvSpPr>
        <p:spPr>
          <a:xfrm>
            <a:off x="10058400" y="5029200"/>
            <a:ext cx="4114800" cy="4114800"/>
          </a:xfrm>
          <a:prstGeom prst="ellipse">
            <a:avLst/>
          </a:prstGeom>
          <a:solidFill>
            <a:srgbClr val="1E293B"/>
          </a:solidFill>
          <a:ln/>
        </p:spPr>
        <p:txBody>
          <a:bodyPr/>
          <a:p/>
        </p:txBody>
      </p:sp>
      <p:sp>
        <p:nvSpPr>
          <p:cNvPr id="4" name="Text 2"/>
          <p:cNvSpPr txBox="1"/>
          <p:nvPr/>
        </p:nvSpPr>
        <p:spPr>
          <a:xfrm>
            <a:off x="822960" y="2377440"/>
            <a:ext cx="91440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txBox="1"/>
          <p:nvPr/>
        </p:nvSpPr>
        <p:spPr>
          <a:xfrm>
            <a:off x="868680" y="3337560"/>
            <a:ext cx="91440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Questions?</a:t>
            </a:r>
            <a:endParaRPr lang="en-US" sz="2200" dirty="0"/>
          </a:p>
        </p:txBody>
      </p:sp>
      <p:sp>
        <p:nvSpPr>
          <p:cNvPr id="6" name="Text 4"/>
          <p:cNvSpPr txBox="1"/>
          <p:nvPr/>
        </p:nvSpPr>
        <p:spPr>
          <a:xfrm>
            <a:off x="868680" y="5943600"/>
            <a:ext cx="91440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RentalPro — Digital Rental Management System  ·  IT402 Capstone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RentalPro — IT402 Deliverable 3 — Presentation</dc:title>
  <dc:subject>IT402 — IT Capstone II</dc:subject>
  <dc:creator>Abdur-Rahmaan Muhammad Ali</dc:creator>
  <cp:lastModifiedBy>Abdur-Rahmaan Muhammad Ali</cp:lastModifiedBy>
  <cp:revision>1</cp:revision>
  <dcterms:created xsi:type="dcterms:W3CDTF">2026-09-22T20:22:33Z</dcterms:created>
  <dcterms:modified xsi:type="dcterms:W3CDTF">2026-10-09T20:40:52Z</dcterms:modified>
</cp:coreProperties>
</file>